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A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91440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Pôle 1 — Application &amp; Collaboration</a:t>
            </a:r>
          </a:p>
          <a:p>
            <a:r>
              <a:rPr sz="2200" b="0">
                <a:solidFill>
                  <a:srgbClr val="3D6DFD"/>
                </a:solidFill>
                <a:latin typeface="Calibri"/>
              </a:rPr>
              <a:t>View (Front React / Vite) · Poulpium — revue vidéo collaborative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00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Hackathon ESTIAM — Groupe 7</a:t>
            </a:r>
          </a:p>
          <a:p>
            <a:r>
              <a:rPr sz="1400" b="0">
                <a:solidFill>
                  <a:srgbClr val="C8D2DE"/>
                </a:solidFill>
                <a:latin typeface="Calibri"/>
              </a:rPr>
              <a:t>Sujet A : Lecteur de Revue augmenté   ·   Sujet B : Watch Together</a:t>
            </a:r>
          </a:p>
          <a:p>
            <a:r>
              <a:rPr sz="1300" b="0">
                <a:solidFill>
                  <a:srgbClr val="C8D2DE"/>
                </a:solidFill>
                <a:latin typeface="Calibri"/>
              </a:rPr>
              <a:t>Équipe P1 : Alex (lead) · Matthieu · Amos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Équipe &amp; répartition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Qui a fait quoi (d'après l'historique git)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566160" cy="822960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3619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Alex</a:t>
            </a:r>
          </a:p>
          <a:p>
            <a:r>
              <a:rPr sz="1100" b="0">
                <a:solidFill>
                  <a:srgbClr val="E6F0F5"/>
                </a:solidFill>
                <a:latin typeface="Calibri"/>
              </a:rPr>
              <a:t>Lead · architecture &amp; temps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14600"/>
            <a:ext cx="3474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Refonte UI + composant VideoReview autonome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Watch Together + gateway socket.io (ReviewGateway)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Login Poulpium interactif + marque (poulpe)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Intégration P2 : flux HLS chiffré + invités temporaires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Back-office admin + catalogue par organisation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463040"/>
            <a:ext cx="3566160" cy="822960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3619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Matthieu</a:t>
            </a:r>
          </a:p>
          <a:p>
            <a:r>
              <a:rPr sz="1100" b="0">
                <a:solidFill>
                  <a:srgbClr val="E6F0F5"/>
                </a:solidFill>
                <a:latin typeface="Calibri"/>
              </a:rPr>
              <a:t>Lecteur &amp; UX du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2514600"/>
            <a:ext cx="3474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Vitesses de lecture (0.5× à 2×)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Login : bulles interactives + compteur de score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Intégration d'outils UX (merge)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1463040"/>
            <a:ext cx="3566160" cy="82296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53619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Amos</a:t>
            </a:r>
          </a:p>
          <a:p>
            <a:r>
              <a:rPr sz="1100" b="0">
                <a:solidFill>
                  <a:srgbClr val="E6F0F5"/>
                </a:solidFill>
                <a:latin typeface="Calibri"/>
              </a:rPr>
              <a:t>Annotation &amp; commentaires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514600"/>
            <a:ext cx="3474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Outil texte (saisie flottante sur l'image)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Présence : avatars topbar + plein écran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Commentaires : like / répondre / timeago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Upload modal + catégories + tri + dashboard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D6DFD"/>
                </a:solidFill>
                <a:latin typeface="Calibri"/>
              </a:rPr>
              <a:t>▸  </a:t>
            </a:r>
            <a:r>
              <a:rPr sz="1300" b="0">
                <a:solidFill>
                  <a:srgbClr val="17202A"/>
                </a:solidFill>
                <a:latin typeface="Calibri"/>
              </a:rPr>
              <a:t>1re gateway WebSocket (puis consolidée par Alex)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Contexte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La View — où l'utilisateur regarde, annote et commente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Problème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retours par e-mail (« à 1:32 le logo est trop petit ») : imprécis, fastidieux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Poulpium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dessiner sur l'image + commenter au timecode, à plusieurs, en direct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Brique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View = frontend/ (React + Vite), s'appuie sur l'auth JWT du Core (P2)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Choix fort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on traite LES DEUX sujets du pôle (A annotation + B Watch Together)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Langage visuel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dark studio (type Frame.io), 100 % offline-friendly, zéro dépendance réseau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Marque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le poulpe = plusieurs bras = plusieurs relecteurs sur une même vidéo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View / Core / Engine — une seule identité (JWT)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291840" cy="1463040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View — React / Vite</a:t>
            </a:r>
          </a:p>
          <a:p>
            <a:r>
              <a:rPr sz="1200" b="0">
                <a:solidFill>
                  <a:srgbClr val="E6F0F5"/>
                </a:solidFill>
                <a:latin typeface="Calibri"/>
              </a:rPr>
              <a:t>lecteur + annotation (P1)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291840" cy="1463040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Core — NestJS :3000</a:t>
            </a:r>
          </a:p>
          <a:p>
            <a:r>
              <a:rPr sz="1200" b="0">
                <a:solidFill>
                  <a:srgbClr val="E6F0F5"/>
                </a:solidFill>
                <a:latin typeface="Calibri"/>
              </a:rPr>
              <a:t>auth · clé AES · sécurité (P2)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011680"/>
            <a:ext cx="3291840" cy="146304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Engine — Python</a:t>
            </a:r>
          </a:p>
          <a:p>
            <a:r>
              <a:rPr sz="1200" b="0">
                <a:solidFill>
                  <a:srgbClr val="E6F0F5"/>
                </a:solidFill>
                <a:latin typeface="Calibri"/>
              </a:rPr>
              <a:t>IA / data (P3)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Transport abstrait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l'UI ne dépend jamais d'un socket concret (post / subscribe / close)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JWT unique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même identité pour P1 (collab), P2 (clé / flux) et P3 (métadonnées)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Flux démo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login → catalogue → flux chiffré → annotation live → export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Règles visuelles verrouillées (styles/tokens.css)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Thème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sombre uniquement, un seul accent (bleu #3d6dfd), identique partout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Timecodes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police mono + tabular-nums (chiffres alignés, lecture stable)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CSS natif + variables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zéro Tailwind, zéro dépendance réseau (offline-friendly)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Icônes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@phosphor-icons/react uniquement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Mouvement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toute animation derrière prefers-reduced-motion (accessibilité)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Marque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PoulpiumMark (poulpe SVG), yeux qui suivent le curseur au 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Sujet A — Lecteur de Revue augmenté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Composant &lt;VideoReview&gt; autonome et réutilisable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 défi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annoter et commenter un instant précis, à plusieurs, en temps réel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Composant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VideoReview (props source / session / user), état encapsulé dans useReview()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Lecteur custom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play/pause, vitesses, plein écran, timeline à marqueurs de commentaires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Barre d'outils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7 outils de dessin + 6 couleurs, rattachés au timecode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Autonome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aucune dépendance au DOM parent, testable isolément (réutilisable ailleurs)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Annotation — dessiner sur l'image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Coordonnées normalisées 0..1 — indépendantes de la résolution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41732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52606D"/>
                </a:solidFill>
                <a:latin typeface="Calibri"/>
              </a:rPr>
              <a:t>Ambre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417320"/>
            <a:ext cx="384048" cy="384048"/>
          </a:xfrm>
          <a:prstGeom prst="rect">
            <a:avLst/>
          </a:prstGeom>
          <a:solidFill>
            <a:srgbClr val="FF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41732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52606D"/>
                </a:solidFill>
                <a:latin typeface="Calibri"/>
              </a:rPr>
              <a:t>Rouge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417320"/>
            <a:ext cx="384048" cy="384048"/>
          </a:xfrm>
          <a:prstGeom prst="rect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41732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52606D"/>
                </a:solidFill>
                <a:latin typeface="Calibri"/>
              </a:rPr>
              <a:t>Vert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84048" cy="384048"/>
          </a:xfrm>
          <a:prstGeom prst="rect">
            <a:avLst/>
          </a:prstGeom>
          <a:solidFill>
            <a:srgbClr val="29C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41732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52606D"/>
                </a:solidFill>
                <a:latin typeface="Calibri"/>
              </a:rPr>
              <a:t>Cyan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417320"/>
            <a:ext cx="384048" cy="384048"/>
          </a:xfrm>
          <a:prstGeom prst="rect">
            <a:avLst/>
          </a:prstGeom>
          <a:solidFill>
            <a:srgbClr val="B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141732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52606D"/>
                </a:solidFill>
                <a:latin typeface="Calibri"/>
              </a:rPr>
              <a:t>Violet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417320"/>
            <a:ext cx="384048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141732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52606D"/>
                </a:solidFill>
                <a:latin typeface="Calibri"/>
              </a:rPr>
              <a:t>Blanc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7 outils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curseur · trait libre · gomme · flèche · rectangle · ellipse · texte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Coordonnées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normalisées 0..1 → se mappent entre fenêtres, à toute taille d'affichage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Fidélité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canevas DPR-aware (écran Retina) + ResizeObserver (redraw au redimensionnement)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Timecode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la 1re forme épingle l'instant courant et met la vidéo en pause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Gomme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non destructive sur le brouillon, seuil de proximité sur les notes finales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Commentaires au timecode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Fil de revue trié par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Tri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notes triées par temps (croissant), saut à l'instant au clic (note ou marqueur)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Fils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réponses par note, statut résolu / non résolu, likes, horodatage relatif (timeago)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Édition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rouvrir une note, modifier texte + dessins ; suppression (auteur ou admin)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Filtres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par auteur · par état (ouvert / résolu) · « mes commentaires »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Compositeur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texte + annotations, validation Cmd/Ctrl + Entrée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Lecteur &amp; navigation clavier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Piloter la revue sans quitter le clavier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Vitesses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0.5× · 1× · 1.5× · 2× (playbackRate)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Plein écran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bascule + barre d'outils flottante dédiée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Raccourcis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Space = play/pause · ← → = ±5 s · Home / End = début / fin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Navigation notes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Shift + ← → = commentaire précédent / suivant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Timeline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marqueurs de commentaires + rôle ARIA slider (aria-valuenow/min/max)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États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« Chargement… » (aria-live) et « Source vidéo illisible » (role alert)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Temps réel — transport abstrait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L'UI ne dépend jamais d'un transport concret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Contrat unique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post(msg) · subscribe(fn) · close() via createTransport(session)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2 adaptateurs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BroadcastChannel (multi-fenêtres, 100 % offline) ⇄ socket.io (LAN)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Bascule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VITE_COLLAB_MODE = broadcast | socket — zéro ligne d'UI à changer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Anti-écho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chaque message porte un champ `from` → on ignore ses propres messages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Présence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ping toutes les 3 s, purge après 9 s ; curseurs distants (throttle 55 ms)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Couleur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une couleur stable par utilisateur (colorForUser)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Protocole de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Un seul canal, des messages typés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435608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nouveau pair, se présente (id, nom, rôle, couleur)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97964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6252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016252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heartbeat de présence (toutes les 3 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78608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96896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cursor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596896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position du curseur, normalisée 0..1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159252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77540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note:add | remove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77540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création-MAJ / suppression d'une 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39896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58183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note:reply | resolve | like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758183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fil de réponses, statut résolu, likes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20540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38827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sync:state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338827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envoi en bloc de l'état (réponse au join, réimport)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01183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1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wt:claim |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919471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prise / remise de la présentation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481827"/>
            <a:ext cx="4206240" cy="475488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00115"/>
            <a:ext cx="4069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wt:playback | heartbeat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500115"/>
            <a:ext cx="6492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Calibri"/>
              </a:rPr>
              <a:t>play / pause / seek + anti-dérive (2 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Sujet B — Watch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Un présentateur, des invités synchronisés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Présentation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claimPresenter() prend la main ; releasePresenter() la rend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Diffusion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play / pause / seek du présentateur répercutés chez les invités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Contrôles invités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verrouillés (play / pause / seek locaux refusés)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Retardataire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resynchronisé à l'arrivée (wt:state) + compensation du temps écoulé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Anti-dérive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heartbeat 2 s + recalage si écart &gt; 0,4 s (seek automatique)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Anti-écho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drapeau applyingRemote (250 ms) : ne pas renvoyer une commande reçue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Gateway WebSocket (Core)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backend/src/review/ — relais par room, auth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Gateway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@WebSocketGateway (socket.io), une room par session : review:&lt;session&gt;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Relais pur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client.to(room).emit → diffuse à tous SAUF l'émetteur (anti-écho serveur)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Auth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JWT vérifié au handshake ; échec → déconnexion (refus par défaut)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Scope invité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role = guest accepté seulement si session du token = session demandée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Sans état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aucun stockage serveur des notes/curseurs (last-write-wins par id, côté client)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Intégration P2 — flux protégé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La source du lecteur devient un flux HLS chiffré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SecureVideo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lecture HLS via hls.js, fallback natif Safari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Clé à la demande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xhrSetup ajoute le Bearer token sur les requêtes /keys/ uniquement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Refus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401 (session expirée) · 403 (pas d'accès) · 404 (introuvable) → messages clairs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Watermark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GET /security/watermark → incrusté dans le lecteur (dissuasif, traçable)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Récupération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erreurs MEDIA rejouées (max 3 tentatives), erreurs réseau gérées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Catalogue &amp;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Contenus par organisation + import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Catalogue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GET /contents (multi-tenant) ; badge lisible / protégé / révoqué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Import local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glisser-déposer un .mp4 ou « charger une vidéo locale »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Upload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/admin/contents/upload (multipart) + barre de progression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Catégorie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Présentation · Marketing · Conférence · Tutoriel · Produit · Autre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Collaborateurs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typeahead /auth/users → accès auto-octroyé après upload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Chiffrement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statut « processing » → polling jusqu'à « ready » (HLS en tâche de fond)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Back-office admin (React)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AppShell + AdminPanel (lazy) — onglets selon le rôle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Entreprises (superadmin)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créer, inviter un admin (lien + mdp temporaire), supprimer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Utilisateurs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créer, changer le rôle (superadmin), supprimer (jamais soi-même)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Contenus &amp; droits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donner / retirer l'accès par utilisateur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Révocation EN DIRECT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couper la clé d'un contenu → /keys passe à 403 ; restaurer d'un clic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Multi-tenant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un admin ne voit que sa propre entreprise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Dashboard sécu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4 compteurs + alertes catégorisées (comptes / réseau / fichiers), polling 2 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Onboarding &amp; invités temporaires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Entrer vite, sans compromettre la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Invitation admin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lien + mot de passe temporaire affichés (copiables)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Mot de passe forcé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mustChangePassword → écran ChangePassword bloquant (min 8, ≠ temporaire)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Invité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lien partageable ?guest=&lt;jwt&gt;, entrée sans login (juste un nom d'affichage)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Token invité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signé, expirant (15 min / 1 h / 24 h), scopé à un contenu + une session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Périmètre invité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revue + annotation seulement (ni catalogue, ni admin)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Export /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Un format JSON propre, versionné, réimportable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Export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{ version, session, exportedAt, notes[] } → fichier revue-&lt;session&gt;.json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Note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id · time · author · text · color · shapes[] · replies[] · resolved · createdAt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Coordonnées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normalisées 0..1 → indépendantes de la résolution d'affichage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Réimport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accepte un tableau ou { notes } → diffusé via sync:state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6DFD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Réutilisable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archivage, reprise dans un autre outil, base d'intégration P3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Choix &amp; limites assumées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D6DFD"/>
                </a:solidFill>
                <a:latin typeface="Calibri"/>
              </a:rPr>
              <a:t>L'honnêteté technique est notée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94960" cy="548640"/>
          </a:xfrm>
          <a:prstGeom prst="rect">
            <a:avLst/>
          </a:prstGeom>
          <a:solidFill>
            <a:srgbClr val="2E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✓  Livré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Annotation au timecode (7 outils, 6 couleurs)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Commentaires : fils, résolu, filtres, likes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Temps réel : présence, curseurs, notes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Watch Together (sync + recalage de dérive)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Flux HLS chiffré (clé sur token) + watermark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Back-office multi-tenant + invités expirants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212080" cy="54864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36192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⚠  Assumé (documenté)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74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BroadcastChannel ne traverse pas les machines (LAN = socket.io)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Pas de react-router (navigation par état)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Pas d'avance image par image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Présentateur : reprise manuelle (pas d'élection auto)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Édition concurrente : last-write-wins par id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D6DFD"/>
                </a:solidFill>
                <a:latin typeface="Calibri"/>
              </a:rPr>
              <a:t>▸  </a:t>
            </a:r>
            <a:r>
              <a:rPr sz="1400" b="1">
                <a:solidFill>
                  <a:srgbClr val="17202A"/>
                </a:solidFill>
                <a:latin typeface="Calibri"/>
              </a:rPr>
              <a:t>JWT décodé côté front pour l'affichage seul (contrôle réel = Core)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A0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3D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Bilan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3D6DFD"/>
                </a:solidFill>
                <a:latin typeface="Calibri"/>
              </a:rPr>
              <a:t>P1 livré : lecteur de revue + collaboration temps réel + back-office.</a:t>
            </a:r>
          </a:p>
          <a:p>
            <a:r>
              <a:rPr sz="800" b="0">
                <a:solidFill>
                  <a:srgbClr val="FFFFFF"/>
                </a:solidFill>
                <a:latin typeface="Calibri"/>
              </a:rPr>
              <a:t> 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✓  Sujet A (annotation au timecode) et Sujet B (Watch Together) fonctionnels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✓  Composant VideoReview autonome + export / import JSON versionné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✓  Temps réel à 2 transports (offline multi-fenêtres + LAN socket.io)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✓  Intégration P2 : lecture d'un flux HLS chiffré (clé sur token) + watermark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✓  Back-office multi-tenant : entreprises, comptes, droits, révocation en direct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✓  Onboarding par invitation + invités temporaires (lien expirant)</a:t>
            </a:r>
          </a:p>
          <a:p>
            <a:r>
              <a:rPr sz="1000" b="0">
                <a:solidFill>
                  <a:srgbClr val="FFFFFF"/>
                </a:solidFill>
                <a:latin typeface="Calibri"/>
              </a:rPr>
              <a:t> </a:t>
            </a:r>
          </a:p>
          <a:p>
            <a:r>
              <a:rPr sz="1600" b="1">
                <a:solidFill>
                  <a:srgbClr val="3D6DFD"/>
                </a:solidFill>
                <a:latin typeface="Calibri"/>
              </a:rPr>
              <a:t>Prochaines étapes :</a:t>
            </a:r>
          </a:p>
          <a:p>
            <a:r>
              <a:rPr sz="1500" b="0">
                <a:solidFill>
                  <a:srgbClr val="C8D2DE"/>
                </a:solidFill>
                <a:latin typeface="Calibri"/>
              </a:rPr>
              <a:t>•  Promotion auto du présentateur à la déconnexion (aujourd'hui reprise manuelle)</a:t>
            </a:r>
          </a:p>
          <a:p>
            <a:r>
              <a:rPr sz="1500" b="0">
                <a:solidFill>
                  <a:srgbClr val="C8D2DE"/>
                </a:solidFill>
                <a:latin typeface="Calibri"/>
              </a:rPr>
              <a:t>•  Conflits d'édition explicites (aujourd'hui last-write-wins par id)</a:t>
            </a:r>
          </a:p>
          <a:p>
            <a:r>
              <a:rPr sz="1500" b="0">
                <a:solidFill>
                  <a:srgbClr val="C8D2DE"/>
                </a:solidFill>
                <a:latin typeface="Calibri"/>
              </a:rPr>
              <a:t>•  Avance image par image + mini-aperçu au survol de la timeline</a:t>
            </a:r>
          </a:p>
          <a:p>
            <a:r>
              <a:rPr sz="1500" b="0">
                <a:solidFill>
                  <a:srgbClr val="C8D2DE"/>
                </a:solidFill>
                <a:latin typeface="Calibri"/>
              </a:rPr>
              <a:t>•  Afficher transcription / hotspots de rétention (P3) sous la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