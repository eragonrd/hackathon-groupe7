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9144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Pôle 2 — Infrastructure, Sécurité &amp; Cloud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2EC4B6"/>
                </a:solidFill>
                <a:latin typeface="Calibri"/>
              </a:rPr>
              <a:t>Backend (Core NestJS) · Plateforme vidéo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8006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Hackathon ESTIAM — Groupe 7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C8D2DE"/>
                </a:solidFill>
                <a:latin typeface="Calibri"/>
              </a:rPr>
              <a:t>Sujet A : Diffusion « Zero-Trust »   ·   Sujet B : Détection &amp; Anti-Scraping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C8D2DE"/>
                </a:solidFill>
                <a:latin typeface="Calibri"/>
              </a:rPr>
              <a:t>Équipe P2 : Enzo (lead) · William · Ryan · Gabriel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Contexte &amp; 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8638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EC4B6"/>
                </a:solidFill>
                <a:latin typeface="Calibri"/>
              </a:rPr>
              <a:t>Le Core — API &amp; règles métier de la plateforme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Objet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protéger la diffusion des contenus vidéo et détecter les abus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Brique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Core = backend/ (NestJS), s'appuie sur l'auth JWT déjà fournie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Choix fort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on traite LES DEUX sujets du pôle (A + B), dans un même Core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A — Zero-Trust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empêcher le pillage : flux chiffré + clé éphémère sur token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B — Anti-Scraping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détecter et bloquer les abus en temps réel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Déploiement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100 % local accepté — reproductible en une commande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8638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EC4B6"/>
                </a:solidFill>
                <a:latin typeface="Calibri"/>
              </a:rPr>
              <a:t>View / Core / Engine — une seule identité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3291840" cy="1463040"/>
          </a:xfrm>
          <a:prstGeom prst="rect">
            <a:avLst/>
          </a:prstGeom>
          <a:solidFill>
            <a:srgbClr val="155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View — React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E6F0F5"/>
                </a:solidFill>
                <a:latin typeface="Calibri"/>
              </a:rPr>
              <a:t>lecteur vidéo (P1)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011680"/>
            <a:ext cx="3291840" cy="1463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2194560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Core — NestJS :3000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E6F0F5"/>
                </a:solidFill>
                <a:latin typeface="Calibri"/>
              </a:rPr>
              <a:t>auth · clé AES · sécurité (P2)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3879" y="2011680"/>
            <a:ext cx="3291840" cy="1463040"/>
          </a:xfrm>
          <a:prstGeom prst="rect">
            <a:avLst/>
          </a:prstGeom>
          <a:solidFill>
            <a:srgbClr val="5260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194560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Engine — Python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E6F0F5"/>
                </a:solidFill>
                <a:latin typeface="Calibri"/>
              </a:rPr>
              <a:t>IA / data (P3)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404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nginx :8080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sert la playlist HLS + segments chiffrés (jamais la clé)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JWT unique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même identité pour P1 (collab), P2-A (clé) et P2-B (détection)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Flux démo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login → lecture vidéo chiffrée → la sécu surveille → métadonnées 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Sujet A — Diffusion « Zero-Trust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8638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EC4B6"/>
                </a:solidFill>
                <a:latin typeface="Calibri"/>
              </a:rPr>
              <a:t>« Ne faire confiance à personne par défaut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Le défi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diffuser une vidéo que personne ne peut piller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HLS chiffré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playlist .m3u8 + segments .ts chiffrés en AES-128 (ffmpeg)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Clé éphémère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délivrée UNIQUEMENT à un utilisateur authentifié, via le Core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Refus par défaut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sans token / token expiré → la clé est refusée (401/403)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Le cœur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un vrai serveur de clés = « une porte fermée 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Sujet A — Mise en œuvre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8638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EC4B6"/>
                </a:solidFill>
                <a:latin typeface="Calibri"/>
              </a:rPr>
              <a:t>Serveur de clés éphémères (NestJS)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scripts/encrypt-hls.sh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ffmpeg chiffre la vidéo → HLS AES-128 + clé 16 octets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GET /keys/:contentId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protégé par AuthGuard ; renvoie la clé brute si autorisé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ACL par contenu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droits par utilisateur ; refus 403 sinon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Validation stricte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anti path-traversal sur contentId (regex + ACL avant lecture)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Journalisation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chaque accès clé tracé (qui · quand · contenu · accordé/refusé)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nginx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sert la vidéo chiffrée mais bloque /keys/ (404)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Sujet A — Preuve de sécurité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8638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EC4B6"/>
                </a:solidFill>
                <a:latin typeface="Calibri"/>
              </a:rPr>
              <a:t>Testé en conditions réelles (script automatisé)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669280" cy="56692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109728" cy="566928"/>
          </a:xfrm>
          <a:prstGeom prst="rect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27632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7202A"/>
                </a:solidFill>
                <a:latin typeface="Calibri"/>
              </a:rPr>
              <a:t>Avec token valide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554480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E9E57"/>
                </a:solidFill>
                <a:latin typeface="Calibri"/>
              </a:rPr>
              <a:t>200 · clé 16 octets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231136"/>
            <a:ext cx="5669280" cy="56692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231136"/>
            <a:ext cx="109728" cy="566928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304288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7202A"/>
                </a:solidFill>
                <a:latin typeface="Calibri"/>
              </a:rPr>
              <a:t>Sans token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231136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B42318"/>
                </a:solidFill>
                <a:latin typeface="Calibri"/>
              </a:rPr>
              <a:t>401 refusé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907791"/>
            <a:ext cx="5669280" cy="56692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2907791"/>
            <a:ext cx="109728" cy="566928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980944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7202A"/>
                </a:solidFill>
                <a:latin typeface="Calibri"/>
              </a:rPr>
              <a:t>Token bidon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907791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B42318"/>
                </a:solidFill>
                <a:latin typeface="Calibri"/>
              </a:rPr>
              <a:t>401 refusé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584448"/>
            <a:ext cx="5669280" cy="56692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584448"/>
            <a:ext cx="109728" cy="566928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65760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7202A"/>
                </a:solidFill>
                <a:latin typeface="Calibri"/>
              </a:rPr>
              <a:t>Token expiré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584448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B42318"/>
                </a:solidFill>
                <a:latin typeface="Calibri"/>
              </a:rPr>
              <a:t>401 refusé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261104"/>
            <a:ext cx="5669280" cy="56692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261104"/>
            <a:ext cx="109728" cy="566928"/>
          </a:xfrm>
          <a:prstGeom prst="rect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334256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7202A"/>
                </a:solidFill>
                <a:latin typeface="Calibri"/>
              </a:rPr>
              <a:t>Clé via nginx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261104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E9E57"/>
                </a:solidFill>
                <a:latin typeface="Calibri"/>
              </a:rPr>
              <a:t>404 — jamais servie hors du 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0292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2606D"/>
                </a:solidFill>
                <a:latin typeface="Calibri"/>
              </a:rPr>
              <a:t>+ Modèle de menace documenté (quoi protéger, contre quoi, limites assumées).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Sujet B — Détection &amp; Anti-Scraping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8638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EC4B6"/>
                </a:solidFill>
                <a:latin typeface="Calibri"/>
              </a:rPr>
              <a:t>Observer le trafic et réagir en temps réel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Le défi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détecter et bloquer les abus pendant qu'ils se produisent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Rattachement compte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chaque requête liée à un compte via le JWT existant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Rate-limit global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100 req / 60s / IP (@nestjs/throttler)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Réaction visible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logs structurés + dashboard temps réel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Honnêteté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capture d'écran ≈ indétectable → watermark dissuasif assumé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Sujet B — Les 3 détections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8638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EC4B6"/>
                </a:solidFill>
                <a:latin typeface="Calibri"/>
              </a:rPr>
              <a:t>Fenêtre glissante en mémoire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Sessions simultanées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&gt; 3 IP distinctes pour un même compte sur 5 min</a:t>
            </a:r>
          </a:p>
          <a:p>
            <a:pPr algn="l">
              <a:spcAft>
                <a:spcPts val="11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IP proxy / VPN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liste de réputation hors-ligne (CIDR) — alerte au match</a:t>
            </a:r>
          </a:p>
          <a:p>
            <a:pPr algn="l">
              <a:spcAft>
                <a:spcPts val="11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Scraping de segments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&gt; 8 requêtes .ts/min = alerte ; &gt; 20 = blocage</a:t>
            </a:r>
          </a:p>
          <a:p>
            <a:pPr algn="l">
              <a:spcAft>
                <a:spcPts val="11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Watermark de session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pseudo + horodatage, traçable, lié à l'utilisateur</a:t>
            </a:r>
          </a:p>
          <a:p>
            <a:pPr algn="l">
              <a:spcAft>
                <a:spcPts val="11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Dashboard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/security/dashboard (admin) + page HTML temps réel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Sujet B — Blocage RÉEL (pas qu'une alerte)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8638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EC4B6"/>
                </a:solidFill>
                <a:latin typeface="Calibri"/>
              </a:rPr>
              <a:t>nginx auth_request → le Core peut refuser le segment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nginx auth_request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interroge le Core AVANT de servir chaque segment .ts</a:t>
            </a:r>
          </a:p>
          <a:p>
            <a:pPr algn="l">
              <a:spcAft>
                <a:spcPts val="11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Décision du Core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au-delà du seuil dur → 403 → nginx refuse le segment</a:t>
            </a:r>
          </a:p>
          <a:p>
            <a:pPr algn="l">
              <a:spcAft>
                <a:spcPts val="11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Démo avant/après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segments 1-20 servis (200), puis 21+ refusés (403)</a:t>
            </a:r>
          </a:p>
          <a:p>
            <a:pPr algn="l">
              <a:spcAft>
                <a:spcPts val="11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Scripts d'attaque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multi-session · proxy-ip · scrape-segments · flood</a:t>
            </a:r>
          </a:p>
          <a:p>
            <a:pPr algn="l">
              <a:spcAft>
                <a:spcPts val="11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Anti-usurpation IP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X-Forwarded-For honoré seulement via proxy de confiance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Audit de sécurité — failles corrigées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8638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EC4B6"/>
                </a:solidFill>
                <a:latin typeface="Calibri"/>
              </a:rPr>
              <a:t>Durcissement adversarial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Secret JWT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refus de démarrer en prod si secret faible/par défaut</a:t>
            </a:r>
          </a:p>
          <a:p>
            <a:pPr algn="l">
              <a:spcAft>
                <a:spcPts val="9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Algo épinglé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HS256 forcé → bloque la confusion d'algorithme (alg=none)</a:t>
            </a:r>
          </a:p>
          <a:p>
            <a:pPr algn="l">
              <a:spcAft>
                <a:spcPts val="9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Path traversal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contentId validé + ACL avant toute lecture fichier</a:t>
            </a:r>
          </a:p>
          <a:p>
            <a:pPr algn="l">
              <a:spcAft>
                <a:spcPts val="9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Brute-force login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rate-limit 10/min/IP + verrouillage compte (5 échecs)</a:t>
            </a:r>
          </a:p>
          <a:p>
            <a:pPr algn="l">
              <a:spcAft>
                <a:spcPts val="9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Énumération users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vérification Argon2 à temps constant</a:t>
            </a:r>
          </a:p>
          <a:p>
            <a:pPr algn="l">
              <a:spcAft>
                <a:spcPts val="9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Endpoint interne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/security/ingest réservé au reverse-proxy / loopback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Modèle de menace — couvert vs assumé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8638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EC4B6"/>
                </a:solidFill>
                <a:latin typeface="Calibri"/>
              </a:rPr>
              <a:t>L'honnêteté technique est notée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5394960" cy="548640"/>
          </a:xfrm>
          <a:prstGeom prst="rect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36192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✓ Couvert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5212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2EC4B6"/>
                </a:solidFill>
                <a:latin typeface="Calibri"/>
              </a:rPr>
              <a:t>▸  </a:t>
            </a:r>
            <a:r>
              <a:rPr sz="1400" b="0">
                <a:solidFill>
                  <a:srgbClr val="17202A"/>
                </a:solidFill>
                <a:latin typeface="Calibri"/>
              </a:rPr>
              <a:t>Clé sans token · ACL par contenu</a:t>
            </a:r>
          </a:p>
          <a:p>
            <a:pPr algn="l">
              <a:spcAft>
                <a:spcPts val="700"/>
              </a:spcAft>
            </a:pPr>
            <a:r>
              <a:rPr sz="1400" b="1">
                <a:solidFill>
                  <a:srgbClr val="2EC4B6"/>
                </a:solidFill>
                <a:latin typeface="Calibri"/>
              </a:rPr>
              <a:t>▸  </a:t>
            </a:r>
            <a:r>
              <a:rPr sz="1400" b="0">
                <a:solidFill>
                  <a:srgbClr val="17202A"/>
                </a:solidFill>
                <a:latin typeface="Calibri"/>
              </a:rPr>
              <a:t>Path traversal · usurpation IP</a:t>
            </a:r>
          </a:p>
          <a:p>
            <a:pPr algn="l">
              <a:spcAft>
                <a:spcPts val="700"/>
              </a:spcAft>
            </a:pPr>
            <a:r>
              <a:rPr sz="1400" b="1">
                <a:solidFill>
                  <a:srgbClr val="2EC4B6"/>
                </a:solidFill>
                <a:latin typeface="Calibri"/>
              </a:rPr>
              <a:t>▸  </a:t>
            </a:r>
            <a:r>
              <a:rPr sz="1400" b="0">
                <a:solidFill>
                  <a:srgbClr val="17202A"/>
                </a:solidFill>
                <a:latin typeface="Calibri"/>
              </a:rPr>
              <a:t>Brute-force · énumération</a:t>
            </a:r>
          </a:p>
          <a:p>
            <a:pPr algn="l">
              <a:spcAft>
                <a:spcPts val="700"/>
              </a:spcAft>
            </a:pPr>
            <a:r>
              <a:rPr sz="1400" b="1">
                <a:solidFill>
                  <a:srgbClr val="2EC4B6"/>
                </a:solidFill>
                <a:latin typeface="Calibri"/>
              </a:rPr>
              <a:t>▸  </a:t>
            </a:r>
            <a:r>
              <a:rPr sz="1400" b="0">
                <a:solidFill>
                  <a:srgbClr val="17202A"/>
                </a:solidFill>
                <a:latin typeface="Calibri"/>
              </a:rPr>
              <a:t>Scraping (avec blocage réel)</a:t>
            </a:r>
          </a:p>
          <a:p>
            <a:pPr algn="l">
              <a:spcAft>
                <a:spcPts val="700"/>
              </a:spcAft>
            </a:pPr>
            <a:r>
              <a:rPr sz="1400" b="1">
                <a:solidFill>
                  <a:srgbClr val="2EC4B6"/>
                </a:solidFill>
                <a:latin typeface="Calibri"/>
              </a:rPr>
              <a:t>▸  </a:t>
            </a:r>
            <a:r>
              <a:rPr sz="1400" b="0">
                <a:solidFill>
                  <a:srgbClr val="17202A"/>
                </a:solidFill>
                <a:latin typeface="Calibri"/>
              </a:rPr>
              <a:t>Dashboard admin-only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463040"/>
            <a:ext cx="5212080" cy="548640"/>
          </a:xfrm>
          <a:prstGeom prst="rect">
            <a:avLst/>
          </a:prstGeom>
          <a:solidFill>
            <a:srgbClr val="5260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536192"/>
            <a:ext cx="4937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⚠ Assumé (documenté)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488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2EC4B6"/>
                </a:solidFill>
                <a:latin typeface="Calibri"/>
              </a:rPr>
              <a:t>▸  </a:t>
            </a:r>
            <a:r>
              <a:rPr sz="1400" b="0">
                <a:solidFill>
                  <a:srgbClr val="17202A"/>
                </a:solidFill>
                <a:latin typeface="Calibri"/>
              </a:rPr>
              <a:t>Pas de TLS en local (→ HTTPS prod)</a:t>
            </a:r>
          </a:p>
          <a:p>
            <a:pPr algn="l">
              <a:spcAft>
                <a:spcPts val="700"/>
              </a:spcAft>
            </a:pPr>
            <a:r>
              <a:rPr sz="1400" b="1">
                <a:solidFill>
                  <a:srgbClr val="2EC4B6"/>
                </a:solidFill>
                <a:latin typeface="Calibri"/>
              </a:rPr>
              <a:t>▸  </a:t>
            </a:r>
            <a:r>
              <a:rPr sz="1400" b="0">
                <a:solidFill>
                  <a:srgbClr val="17202A"/>
                </a:solidFill>
                <a:latin typeface="Calibri"/>
              </a:rPr>
              <a:t>JWT non révocable (TTL court)</a:t>
            </a:r>
          </a:p>
          <a:p>
            <a:pPr algn="l">
              <a:spcAft>
                <a:spcPts val="700"/>
              </a:spcAft>
            </a:pPr>
            <a:r>
              <a:rPr sz="1400" b="1">
                <a:solidFill>
                  <a:srgbClr val="2EC4B6"/>
                </a:solidFill>
                <a:latin typeface="Calibri"/>
              </a:rPr>
              <a:t>▸  </a:t>
            </a:r>
            <a:r>
              <a:rPr sz="1400" b="0">
                <a:solidFill>
                  <a:srgbClr val="17202A"/>
                </a:solidFill>
                <a:latin typeface="Calibri"/>
              </a:rPr>
              <a:t>Clé unique (pas par session)</a:t>
            </a:r>
          </a:p>
          <a:p>
            <a:pPr algn="l">
              <a:spcAft>
                <a:spcPts val="700"/>
              </a:spcAft>
            </a:pPr>
            <a:r>
              <a:rPr sz="1400" b="1">
                <a:solidFill>
                  <a:srgbClr val="2EC4B6"/>
                </a:solidFill>
                <a:latin typeface="Calibri"/>
              </a:rPr>
              <a:t>▸  </a:t>
            </a:r>
            <a:r>
              <a:rPr sz="1400" b="0">
                <a:solidFill>
                  <a:srgbClr val="17202A"/>
                </a:solidFill>
                <a:latin typeface="Calibri"/>
              </a:rPr>
              <a:t>Scraping distribué (botnet)</a:t>
            </a:r>
          </a:p>
          <a:p>
            <a:pPr algn="l">
              <a:spcAft>
                <a:spcPts val="700"/>
              </a:spcAft>
            </a:pPr>
            <a:r>
              <a:rPr sz="1400" b="1">
                <a:solidFill>
                  <a:srgbClr val="2EC4B6"/>
                </a:solidFill>
                <a:latin typeface="Calibri"/>
              </a:rPr>
              <a:t>▸  </a:t>
            </a:r>
            <a:r>
              <a:rPr sz="1400" b="0">
                <a:solidFill>
                  <a:srgbClr val="17202A"/>
                </a:solidFill>
                <a:latin typeface="Calibri"/>
              </a:rPr>
              <a:t>Capture d'écran / HDMI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Infra &amp; reproductibilité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8638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EC4B6"/>
                </a:solidFill>
                <a:latin typeface="Calibri"/>
              </a:rPr>
              <a:t>Aucune étape manuelle obscure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docker-compose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Core + nginx en une commande (JWT_SECRET fort obligatoire)</a:t>
            </a:r>
          </a:p>
          <a:p>
            <a:pPr algn="l">
              <a:spcAft>
                <a:spcPts val="11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scripts/demo-local.sh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démo complète SANS Docker (encrypt → Core → nginx → attaques)</a:t>
            </a:r>
          </a:p>
          <a:p>
            <a:pPr algn="l">
              <a:spcAft>
                <a:spcPts val="11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CI GitHub Actions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build &amp; push de l'image backend vers GHCR</a:t>
            </a:r>
          </a:p>
          <a:p>
            <a:pPr algn="l">
              <a:spcAft>
                <a:spcPts val="11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Secrets gitignorés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clé AES jamais commitée, jamais servie en statique</a:t>
            </a:r>
          </a:p>
          <a:p>
            <a:pPr algn="l">
              <a:spcAft>
                <a:spcPts val="11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Qualité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build OK · lint 0 erreur · toutes les preuves vertes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Intégration (Bloc 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8638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EC4B6"/>
                </a:solidFill>
                <a:latin typeface="Calibri"/>
              </a:rPr>
              <a:t>La couture avec les autres pôles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Identité unique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même JWT pour P1, P2-A et P2-B</a:t>
            </a:r>
          </a:p>
          <a:p>
            <a:pPr algn="l">
              <a:spcAft>
                <a:spcPts val="11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Lecture chiffrée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hls.js + xhrSetup → token envoyé sur la requête de clé</a:t>
            </a:r>
          </a:p>
          <a:p>
            <a:pPr algn="l">
              <a:spcAft>
                <a:spcPts val="11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Watermark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incrusté dans le lecteur (dissuasif, traçable)</a:t>
            </a:r>
          </a:p>
          <a:p>
            <a:pPr algn="l">
              <a:spcAft>
                <a:spcPts val="11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Dashboard sécurité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consommable par un back-office admin</a:t>
            </a:r>
          </a:p>
          <a:p>
            <a:pPr algn="l">
              <a:spcAft>
                <a:spcPts val="11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Doc fournie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docs/FRONTEND-INTEGRATION.md (endpoints + composant prêt)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Back-office &amp; gestion 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8638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EC4B6"/>
                </a:solidFill>
                <a:latin typeface="Calibri"/>
              </a:rPr>
              <a:t>Endpoints /admin protégés (AuthGuard + AdminGuard)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ACL dynamique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droits par contenu en mémoire (fini l'ACL codée en dur)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Utilisateurs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GET /admin/users — liste des comptes et rôles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Contenus &amp; droits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GET /admin/contents + donner/retirer l'accès d'un user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Révocation de clé EN DIRECT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POST /admin/contents/:id/revoke -&gt; /keys passe à 403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Restauration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POST .../restore -&gt; la lecture repart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Démo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couper l'accès d'un spectateur devant le jury, en live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Multi-tenant — 3 niveaux d'accès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8638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EC4B6"/>
                </a:solidFill>
                <a:latin typeface="Calibri"/>
              </a:rPr>
              <a:t>Isolation stricte par entreprise (tenant)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3383280" cy="13716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SUPER-ADMIN</a:t>
            </a:r>
          </a:p>
          <a:p>
            <a:pPr algn="ctr">
              <a:spcAft>
                <a:spcPts val="600"/>
              </a:spcAft>
            </a:pPr>
            <a:r>
              <a:rPr sz="1100" b="0">
                <a:solidFill>
                  <a:srgbClr val="E6F0F5"/>
                </a:solidFill>
                <a:latin typeface="Calibri"/>
              </a:rPr>
              <a:t>crée les entreprises + invite leurs admins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828800"/>
            <a:ext cx="3383280" cy="1371600"/>
          </a:xfrm>
          <a:prstGeom prst="rect">
            <a:avLst/>
          </a:prstGeom>
          <a:solidFill>
            <a:srgbClr val="155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2011680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ADMIN d'entreprise</a:t>
            </a:r>
          </a:p>
          <a:p>
            <a:pPr algn="ctr">
              <a:spcAft>
                <a:spcPts val="600"/>
              </a:spcAft>
            </a:pPr>
            <a:r>
              <a:rPr sz="1100" b="0">
                <a:solidFill>
                  <a:srgbClr val="E6F0F5"/>
                </a:solidFill>
                <a:latin typeface="Calibri"/>
              </a:rPr>
              <a:t>crée ses users · gère contenus &amp; droits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3879" y="1828800"/>
            <a:ext cx="3383280" cy="1371600"/>
          </a:xfrm>
          <a:prstGeom prst="rect">
            <a:avLst/>
          </a:prstGeom>
          <a:solidFill>
            <a:srgbClr val="5260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011680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USER</a:t>
            </a:r>
          </a:p>
          <a:p>
            <a:pPr algn="ctr">
              <a:spcAft>
                <a:spcPts val="600"/>
              </a:spcAft>
            </a:pPr>
            <a:r>
              <a:rPr sz="1100" b="0">
                <a:solidFill>
                  <a:srgbClr val="E6F0F5"/>
                </a:solidFill>
                <a:latin typeface="Calibri"/>
              </a:rPr>
              <a:t>accède aux contenus autorisés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66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JWT enrichi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role + companyId portés dans le token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Isolation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un admin/user ne voit que SA companyId (cross-tenant → 404)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Révocation de clé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couper l'accès à un contenu en direct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Onboarding par invitation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8638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EC4B6"/>
                </a:solidFill>
                <a:latin typeface="Calibri"/>
              </a:rPr>
              <a:t>Mot de passe temporaire 24 h + changement forcé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1. Super-admin invite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POST /admin/companies/:id/invite-admin { email }</a:t>
            </a:r>
          </a:p>
          <a:p>
            <a:pPr algn="l">
              <a:spcAft>
                <a:spcPts val="9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Mot de passe temporaire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aléatoire, valable 24 h, envoyé au mail du représentant</a:t>
            </a:r>
          </a:p>
          <a:p>
            <a:pPr algn="l">
              <a:spcAft>
                <a:spcPts val="9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2. Admin se connecte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token avec mustChangePassword = true</a:t>
            </a:r>
          </a:p>
          <a:p>
            <a:pPr algn="l">
              <a:spcAft>
                <a:spcPts val="9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Panel bloqué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403 tant que le mot de passe n'est pas changé</a:t>
            </a:r>
          </a:p>
          <a:p>
            <a:pPr algn="l">
              <a:spcAft>
                <a:spcPts val="9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3. Changement de mdp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POST /auth/change-password → nouveau token, panel ouvert</a:t>
            </a:r>
          </a:p>
          <a:p>
            <a:pPr algn="l">
              <a:spcAft>
                <a:spcPts val="9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Sécurité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ancien mdp invalidé · mdp temporaire expiré refusé au login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Récap des routes 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8638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EC4B6"/>
                </a:solidFill>
                <a:latin typeface="Calibri"/>
              </a:rPr>
              <a:t>Surface d'API exposée par le Core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1554480" cy="420624"/>
          </a:xfrm>
          <a:prstGeom prst="rect">
            <a:avLst/>
          </a:prstGeom>
          <a:solidFill>
            <a:srgbClr val="155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26464"/>
            <a:ext cx="151790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417320"/>
            <a:ext cx="5577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7202A"/>
                </a:solidFill>
                <a:latin typeface="Calibri"/>
              </a:rPr>
              <a:t>/auth/login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426464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2606D"/>
                </a:solidFill>
                <a:latin typeface="Calibri"/>
              </a:rPr>
              <a:t>public (10/min + lockout)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874519"/>
            <a:ext cx="1554480" cy="420624"/>
          </a:xfrm>
          <a:prstGeom prst="rect">
            <a:avLst/>
          </a:prstGeom>
          <a:solidFill>
            <a:srgbClr val="155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929384"/>
            <a:ext cx="151790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1920239"/>
            <a:ext cx="5577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7202A"/>
                </a:solidFill>
                <a:latin typeface="Calibri"/>
              </a:rPr>
              <a:t>/auth/change-password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1929384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2606D"/>
                </a:solidFill>
                <a:latin typeface="Calibri"/>
              </a:rPr>
              <a:t>Bearer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377439"/>
            <a:ext cx="1554480" cy="420624"/>
          </a:xfrm>
          <a:prstGeom prst="rect">
            <a:avLst/>
          </a:prstGeom>
          <a:solidFill>
            <a:srgbClr val="155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432303"/>
            <a:ext cx="151790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2423159"/>
            <a:ext cx="5577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7202A"/>
                </a:solidFill>
                <a:latin typeface="Calibri"/>
              </a:rPr>
              <a:t>/keys/:contentId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2432303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2606D"/>
                </a:solidFill>
                <a:latin typeface="Calibri"/>
              </a:rPr>
              <a:t>Bearer + droits + tenant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880359"/>
            <a:ext cx="1554480" cy="420624"/>
          </a:xfrm>
          <a:prstGeom prst="rect">
            <a:avLst/>
          </a:prstGeom>
          <a:solidFill>
            <a:srgbClr val="155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2935223"/>
            <a:ext cx="151790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2926079"/>
            <a:ext cx="5577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7202A"/>
                </a:solidFill>
                <a:latin typeface="Calibri"/>
              </a:rPr>
              <a:t>/security/dashboard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2935223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2606D"/>
                </a:solidFill>
                <a:latin typeface="Calibri"/>
              </a:rPr>
              <a:t>Bearer admin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383279"/>
            <a:ext cx="1554480" cy="420624"/>
          </a:xfrm>
          <a:prstGeom prst="rect">
            <a:avLst/>
          </a:prstGeom>
          <a:solidFill>
            <a:srgbClr val="155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438143"/>
            <a:ext cx="151790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ALL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3428999"/>
            <a:ext cx="5577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7202A"/>
                </a:solidFill>
                <a:latin typeface="Calibri"/>
              </a:rPr>
              <a:t>/security/ingest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3438143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2606D"/>
                </a:solidFill>
                <a:latin typeface="Calibri"/>
              </a:rPr>
              <a:t>interne (nginx/loopback)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886199"/>
            <a:ext cx="1554480" cy="420624"/>
          </a:xfrm>
          <a:prstGeom prst="rect">
            <a:avLst/>
          </a:prstGeom>
          <a:solidFill>
            <a:srgbClr val="155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3941063"/>
            <a:ext cx="151790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GET/POST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20" y="3931919"/>
            <a:ext cx="5577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7202A"/>
                </a:solidFill>
                <a:latin typeface="Calibri"/>
              </a:rPr>
              <a:t>/admin/companies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3941063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2606D"/>
                </a:solidFill>
                <a:latin typeface="Calibri"/>
              </a:rPr>
              <a:t>superadmin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389119"/>
            <a:ext cx="1554480" cy="420624"/>
          </a:xfrm>
          <a:prstGeom prst="rect">
            <a:avLst/>
          </a:prstGeom>
          <a:solidFill>
            <a:srgbClr val="155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4443983"/>
            <a:ext cx="151790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31720" y="4434839"/>
            <a:ext cx="5577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7202A"/>
                </a:solidFill>
                <a:latin typeface="Calibri"/>
              </a:rPr>
              <a:t>/admin/companies/:id/invite-admin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4443983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2606D"/>
                </a:solidFill>
                <a:latin typeface="Calibri"/>
              </a:rPr>
              <a:t>superadmin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892039"/>
            <a:ext cx="1554480" cy="420624"/>
          </a:xfrm>
          <a:prstGeom prst="rect">
            <a:avLst/>
          </a:prstGeom>
          <a:solidFill>
            <a:srgbClr val="155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4946903"/>
            <a:ext cx="151790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GET/POST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31720" y="4937759"/>
            <a:ext cx="5577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7202A"/>
                </a:solidFill>
                <a:latin typeface="Calibri"/>
              </a:rPr>
              <a:t>/admin/users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92440" y="4946903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2606D"/>
                </a:solidFill>
                <a:latin typeface="Calibri"/>
              </a:rPr>
              <a:t>admin (son entreprise)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5394959"/>
            <a:ext cx="1554480" cy="420624"/>
          </a:xfrm>
          <a:prstGeom prst="rect">
            <a:avLst/>
          </a:prstGeom>
          <a:solidFill>
            <a:srgbClr val="155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5449823"/>
            <a:ext cx="151790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GET/POST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31720" y="5440679"/>
            <a:ext cx="5577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7202A"/>
                </a:solidFill>
                <a:latin typeface="Calibri"/>
              </a:rPr>
              <a:t>/admin/contents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92440" y="5449823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2606D"/>
                </a:solidFill>
                <a:latin typeface="Calibri"/>
              </a:rPr>
              <a:t>admin (son entreprise)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5897879"/>
            <a:ext cx="1554480" cy="420624"/>
          </a:xfrm>
          <a:prstGeom prst="rect">
            <a:avLst/>
          </a:prstGeom>
          <a:solidFill>
            <a:srgbClr val="155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" y="5952743"/>
            <a:ext cx="151790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31720" y="5943599"/>
            <a:ext cx="5577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7202A"/>
                </a:solidFill>
                <a:latin typeface="Calibri"/>
              </a:rPr>
              <a:t>/admin/contents/:id/revoke | restore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92440" y="5952743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2606D"/>
                </a:solidFill>
                <a:latin typeface="Calibri"/>
              </a:rPr>
              <a:t>admin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Bilan &amp; prochaines étapes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EC4B6"/>
                </a:solidFill>
                <a:latin typeface="Calibri"/>
              </a:rPr>
              <a:t>P2 terminé : code + sécurité + infra + démo reproductible.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✓  Sujet A (Zero-Trust) et Sujet B (Anti-Scraping) fonctionnels et prouvés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✓  Audit de sécurité passé — aucune faille exploitable connue sur le périmètre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✓  Démo en une commande (Docker ou natif) + CI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✓  Back-office multi-tenant : 3 rôles, ACL dynamique, révocation de clé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✓  Onboarding par invitation (mdp temporaire 24 h + changement forcé)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✓  Plan d'intégration livré au front (P1)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Prochaines features (bonus) :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C8D2DE"/>
                </a:solidFill>
                <a:latin typeface="Calibri"/>
              </a:rPr>
              <a:t>•  Back-office React (UI) branché sur les endpoints /admin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C8D2DE"/>
                </a:solidFill>
                <a:latin typeface="Calibri"/>
              </a:rPr>
              <a:t>•  Envoi d'email réel (SMTP/API) au lieu de la simulation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C8D2DE"/>
                </a:solidFill>
                <a:latin typeface="Calibri"/>
              </a:rPr>
              <a:t>•  Watermark visible + branchement complet du lecteur (avec P1)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