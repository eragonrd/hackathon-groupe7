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256" r:id="rId5"/>
    <p:sldId id="257" r:id="rId6"/>
    <p:sldId id="258" r:id="rId7"/>
    <p:sldId id="259" r:id="rId8"/>
    <p:sldId id="260" r:id="rId9"/>
    <p:sldId id="261" r:id="rId10"/>
    <p:sldId id="262" r:id="rId11"/>
    <p:sldId id="264" r:id="rId12"/>
    <p:sldId id="263" r:id="rId13"/>
    <p:sldId id="265" r:id="rId14"/>
    <p:sldId id="266" r:id="rId15"/>
    <p:sldId id="267" r:id="rId16"/>
    <p:sldId id="268" r:id="rId17"/>
  </p:sldIdLst>
  <p:sldSz cx="9144000" cy="5143500" type="screen16x9"/>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2880">
          <p15:clr>
            <a:srgbClr val="A4A3A4"/>
          </p15:clr>
        </p15:guide>
        <p15:guide id="2"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5D826F-74C8-4F99-8139-DD765B292DF9}" v="2" dt="2026-06-30T08:49:56.694"/>
    <p1510:client id="{CF481017-07DD-A99C-AFF8-56B3E28614C7}" v="1" dt="2026-06-30T08:53:36.4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2880"/>
        <p:guide orient="horz" pos="162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fried Edwin KUITE MAFFO" userId="S::wilfried.kuite-maffo@estiam.com::6efe85fc-a4fb-4b25-b752-7ed36d3386e7" providerId="AD" clId="Web-{CF481017-07DD-A99C-AFF8-56B3E28614C7}"/>
    <pc:docChg chg="sldOrd">
      <pc:chgData name="Wilfried Edwin KUITE MAFFO" userId="S::wilfried.kuite-maffo@estiam.com::6efe85fc-a4fb-4b25-b752-7ed36d3386e7" providerId="AD" clId="Web-{CF481017-07DD-A99C-AFF8-56B3E28614C7}" dt="2026-06-30T08:53:36.415" v="0"/>
      <pc:docMkLst>
        <pc:docMk/>
      </pc:docMkLst>
      <pc:sldChg chg="ord">
        <pc:chgData name="Wilfried Edwin KUITE MAFFO" userId="S::wilfried.kuite-maffo@estiam.com::6efe85fc-a4fb-4b25-b752-7ed36d3386e7" providerId="AD" clId="Web-{CF481017-07DD-A99C-AFF8-56B3E28614C7}" dt="2026-06-30T08:53:36.415" v="0"/>
        <pc:sldMkLst>
          <pc:docMk/>
          <pc:sldMk cId="0" sldId="264"/>
        </pc:sldMkLst>
      </pc:sldChg>
    </pc:docChg>
  </pc:docChgLst>
  <pc:docChgLst>
    <pc:chgData name="Clement GIBERT" userId="S::clement.gibert@estiam.com::bf07d0d6-8d07-41f9-8bd0-4f3c6d1caea9" providerId="AD" clId="Web-{955D826F-74C8-4F99-8139-DD765B292DF9}"/>
    <pc:docChg chg="sldOrd">
      <pc:chgData name="Clement GIBERT" userId="S::clement.gibert@estiam.com::bf07d0d6-8d07-41f9-8bd0-4f3c6d1caea9" providerId="AD" clId="Web-{955D826F-74C8-4F99-8139-DD765B292DF9}" dt="2026-06-30T08:49:56.694" v="1"/>
      <pc:docMkLst>
        <pc:docMk/>
      </pc:docMkLst>
      <pc:sldChg chg="ord">
        <pc:chgData name="Clement GIBERT" userId="S::clement.gibert@estiam.com::bf07d0d6-8d07-41f9-8bd0-4f3c6d1caea9" providerId="AD" clId="Web-{955D826F-74C8-4F99-8139-DD765B292DF9}" dt="2026-06-30T08:49:56.694" v="1"/>
        <pc:sldMkLst>
          <pc:docMk/>
          <pc:sldMk cId="0" sldId="25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92375752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859166342"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6/30/2026</a:t>
            </a:fld>
            <a:endParaRPr lang="en-US"/>
          </a:p>
        </p:txBody>
      </p:sp>
      <p:sp>
        <p:nvSpPr>
          <p:cNvPr id="1823173861"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251154044"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63092789"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992533077"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34938634" name="Slide Image Placeholder 1"/>
          <p:cNvSpPr>
            <a:spLocks noGrp="1" noRot="1" noChangeAspect="1"/>
          </p:cNvSpPr>
          <p:nvPr>
            <p:ph type="sldImg"/>
          </p:nvPr>
        </p:nvSpPr>
        <p:spPr bwMode="auto"/>
      </p:sp>
      <p:sp>
        <p:nvSpPr>
          <p:cNvPr id="856851134" name="Notes Placeholder 2"/>
          <p:cNvSpPr>
            <a:spLocks noGrp="1"/>
          </p:cNvSpPr>
          <p:nvPr>
            <p:ph type="body" idx="1"/>
          </p:nvPr>
        </p:nvSpPr>
        <p:spPr bwMode="auto"/>
        <p:txBody>
          <a:bodyPr/>
          <a:lstStyle/>
          <a:p>
            <a:pPr>
              <a:defRPr/>
            </a:pPr>
            <a:r>
              <a:rPr lang="en-US"/>
              <a:t>Slide d'ouverture.</a:t>
            </a:r>
          </a:p>
        </p:txBody>
      </p:sp>
      <p:sp>
        <p:nvSpPr>
          <p:cNvPr id="1949345742"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93793579" name="Slide Image Placeholder 1"/>
          <p:cNvSpPr>
            <a:spLocks noGrp="1" noRot="1" noChangeAspect="1"/>
          </p:cNvSpPr>
          <p:nvPr>
            <p:ph type="sldImg"/>
          </p:nvPr>
        </p:nvSpPr>
        <p:spPr bwMode="auto"/>
      </p:sp>
      <p:sp>
        <p:nvSpPr>
          <p:cNvPr id="126632595" name="Notes Placeholder 2"/>
          <p:cNvSpPr>
            <a:spLocks noGrp="1"/>
          </p:cNvSpPr>
          <p:nvPr>
            <p:ph type="body" idx="1"/>
          </p:nvPr>
        </p:nvSpPr>
        <p:spPr bwMode="auto"/>
        <p:txBody>
          <a:bodyPr/>
          <a:lstStyle/>
          <a:p>
            <a:pPr>
              <a:defRPr/>
            </a:pPr>
            <a:r>
              <a:rPr lang="en-US"/>
              <a:t>Qui est 42c – logo, valeurs et chiffres clés.</a:t>
            </a:r>
          </a:p>
        </p:txBody>
      </p:sp>
      <p:sp>
        <p:nvSpPr>
          <p:cNvPr id="674319283"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44636460" name="Slide Image Placeholder 1"/>
          <p:cNvSpPr>
            <a:spLocks noGrp="1" noRot="1" noChangeAspect="1"/>
          </p:cNvSpPr>
          <p:nvPr>
            <p:ph type="sldImg"/>
          </p:nvPr>
        </p:nvSpPr>
        <p:spPr bwMode="auto"/>
      </p:sp>
      <p:sp>
        <p:nvSpPr>
          <p:cNvPr id="653398570" name="Notes Placeholder 2"/>
          <p:cNvSpPr>
            <a:spLocks noGrp="1"/>
          </p:cNvSpPr>
          <p:nvPr>
            <p:ph type="body" idx="1"/>
          </p:nvPr>
        </p:nvSpPr>
        <p:spPr bwMode="auto"/>
        <p:txBody>
          <a:bodyPr/>
          <a:lstStyle/>
          <a:p>
            <a:pPr>
              <a:defRPr/>
            </a:pPr>
            <a:r>
              <a:rPr lang="en-US"/>
              <a:t>Les 3 grands défis du hackathon.</a:t>
            </a:r>
          </a:p>
        </p:txBody>
      </p:sp>
      <p:sp>
        <p:nvSpPr>
          <p:cNvPr id="1965534929"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09051584" name="Slide Image Placeholder 1"/>
          <p:cNvSpPr>
            <a:spLocks noGrp="1" noRot="1" noChangeAspect="1"/>
          </p:cNvSpPr>
          <p:nvPr>
            <p:ph type="sldImg"/>
          </p:nvPr>
        </p:nvSpPr>
        <p:spPr bwMode="auto"/>
      </p:sp>
      <p:sp>
        <p:nvSpPr>
          <p:cNvPr id="1722825228" name="Notes Placeholder 2"/>
          <p:cNvSpPr>
            <a:spLocks noGrp="1"/>
          </p:cNvSpPr>
          <p:nvPr>
            <p:ph type="body" idx="1"/>
          </p:nvPr>
        </p:nvSpPr>
        <p:spPr bwMode="auto"/>
        <p:txBody>
          <a:bodyPr/>
          <a:lstStyle/>
          <a:p>
            <a:pPr>
              <a:defRPr/>
            </a:pPr>
            <a:r>
              <a:rPr lang="en-US"/>
              <a:t>Structure : 3 pôles, 2 sujets chacun.</a:t>
            </a:r>
          </a:p>
        </p:txBody>
      </p:sp>
      <p:sp>
        <p:nvSpPr>
          <p:cNvPr id="1486503135"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57086973" name="Slide Image Placeholder 1"/>
          <p:cNvSpPr>
            <a:spLocks noGrp="1" noRot="1" noChangeAspect="1"/>
          </p:cNvSpPr>
          <p:nvPr>
            <p:ph type="sldImg"/>
          </p:nvPr>
        </p:nvSpPr>
        <p:spPr bwMode="auto"/>
      </p:sp>
      <p:sp>
        <p:nvSpPr>
          <p:cNvPr id="1843997576" name="Notes Placeholder 2"/>
          <p:cNvSpPr>
            <a:spLocks noGrp="1"/>
          </p:cNvSpPr>
          <p:nvPr>
            <p:ph type="body" idx="1"/>
          </p:nvPr>
        </p:nvSpPr>
        <p:spPr bwMode="auto"/>
        <p:txBody>
          <a:bodyPr/>
          <a:lstStyle/>
          <a:p>
            <a:pPr>
              <a:defRPr/>
            </a:pPr>
            <a:r>
              <a:rPr lang="en-US"/>
              <a:t>Pôle 1 – Application &amp; Collaboration</a:t>
            </a:r>
          </a:p>
        </p:txBody>
      </p:sp>
      <p:sp>
        <p:nvSpPr>
          <p:cNvPr id="466688001"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643122" name="Slide Image Placeholder 1"/>
          <p:cNvSpPr>
            <a:spLocks noGrp="1" noRot="1" noChangeAspect="1"/>
          </p:cNvSpPr>
          <p:nvPr>
            <p:ph type="sldImg"/>
          </p:nvPr>
        </p:nvSpPr>
        <p:spPr bwMode="auto"/>
      </p:sp>
      <p:sp>
        <p:nvSpPr>
          <p:cNvPr id="421029972" name="Notes Placeholder 2"/>
          <p:cNvSpPr>
            <a:spLocks noGrp="1"/>
          </p:cNvSpPr>
          <p:nvPr>
            <p:ph type="body" idx="1"/>
          </p:nvPr>
        </p:nvSpPr>
        <p:spPr bwMode="auto"/>
        <p:txBody>
          <a:bodyPr/>
          <a:lstStyle/>
          <a:p>
            <a:pPr>
              <a:defRPr/>
            </a:pPr>
            <a:r>
              <a:rPr lang="en-US"/>
              <a:t>Pôle 2 – Infrastructure, Sécurité &amp; Cloud</a:t>
            </a:r>
          </a:p>
        </p:txBody>
      </p:sp>
      <p:sp>
        <p:nvSpPr>
          <p:cNvPr id="903656010"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83625473" name="Slide Image Placeholder 1"/>
          <p:cNvSpPr>
            <a:spLocks noGrp="1" noRot="1" noChangeAspect="1"/>
          </p:cNvSpPr>
          <p:nvPr>
            <p:ph type="sldImg"/>
          </p:nvPr>
        </p:nvSpPr>
        <p:spPr bwMode="auto"/>
      </p:sp>
      <p:sp>
        <p:nvSpPr>
          <p:cNvPr id="330497391" name="Notes Placeholder 2"/>
          <p:cNvSpPr>
            <a:spLocks noGrp="1"/>
          </p:cNvSpPr>
          <p:nvPr>
            <p:ph type="body" idx="1"/>
          </p:nvPr>
        </p:nvSpPr>
        <p:spPr bwMode="auto"/>
        <p:txBody>
          <a:bodyPr/>
          <a:lstStyle/>
          <a:p>
            <a:pPr>
              <a:defRPr/>
            </a:pPr>
            <a:r>
              <a:rPr lang="en-US"/>
              <a:t>Pôle 3 – Intelligence Artificielle &amp; Data</a:t>
            </a:r>
          </a:p>
        </p:txBody>
      </p:sp>
      <p:sp>
        <p:nvSpPr>
          <p:cNvPr id="68794678"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91428503" name="Slide Image Placeholder 1"/>
          <p:cNvSpPr>
            <a:spLocks noGrp="1" noRot="1" noChangeAspect="1"/>
          </p:cNvSpPr>
          <p:nvPr>
            <p:ph type="sldImg"/>
          </p:nvPr>
        </p:nvSpPr>
        <p:spPr bwMode="auto"/>
      </p:sp>
      <p:sp>
        <p:nvSpPr>
          <p:cNvPr id="1135322989" name="Notes Placeholder 2"/>
          <p:cNvSpPr>
            <a:spLocks noGrp="1"/>
          </p:cNvSpPr>
          <p:nvPr>
            <p:ph type="body" idx="1"/>
          </p:nvPr>
        </p:nvSpPr>
        <p:spPr bwMode="auto"/>
        <p:txBody>
          <a:bodyPr/>
          <a:lstStyle/>
          <a:p>
            <a:pPr>
              <a:defRPr/>
            </a:pPr>
            <a:r>
              <a:rPr lang="en-US"/>
              <a:t>Slide 9a – Blocs A (45 pts) + B/C/D (35 pts). Version définitive.</a:t>
            </a:r>
          </a:p>
        </p:txBody>
      </p:sp>
      <p:sp>
        <p:nvSpPr>
          <p:cNvPr id="304026513"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86906438" name="Slide Image Placeholder 1"/>
          <p:cNvSpPr>
            <a:spLocks noGrp="1" noRot="1" noChangeAspect="1"/>
          </p:cNvSpPr>
          <p:nvPr>
            <p:ph type="sldImg"/>
          </p:nvPr>
        </p:nvSpPr>
        <p:spPr bwMode="auto"/>
      </p:sp>
      <p:sp>
        <p:nvSpPr>
          <p:cNvPr id="1071164943" name="Notes Placeholder 2"/>
          <p:cNvSpPr>
            <a:spLocks noGrp="1"/>
          </p:cNvSpPr>
          <p:nvPr>
            <p:ph type="body" idx="1"/>
          </p:nvPr>
        </p:nvSpPr>
        <p:spPr bwMode="auto"/>
        <p:txBody>
          <a:bodyPr/>
          <a:lstStyle/>
          <a:p>
            <a:pPr>
              <a:defRPr/>
            </a:pPr>
            <a:r>
              <a:rPr lang="en-US"/>
              <a:t>Récapitulatif des 6 sujets.</a:t>
            </a:r>
          </a:p>
        </p:txBody>
      </p:sp>
      <p:sp>
        <p:nvSpPr>
          <p:cNvPr id="61679285"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40541194" name="Slide Image Placeholder 1"/>
          <p:cNvSpPr>
            <a:spLocks noGrp="1" noRot="1" noChangeAspect="1"/>
          </p:cNvSpPr>
          <p:nvPr>
            <p:ph type="sldImg"/>
          </p:nvPr>
        </p:nvSpPr>
        <p:spPr bwMode="auto"/>
      </p:sp>
      <p:sp>
        <p:nvSpPr>
          <p:cNvPr id="664183647" name="Notes Placeholder 2"/>
          <p:cNvSpPr>
            <a:spLocks noGrp="1"/>
          </p:cNvSpPr>
          <p:nvPr>
            <p:ph type="body" idx="1"/>
          </p:nvPr>
        </p:nvSpPr>
        <p:spPr bwMode="auto"/>
        <p:txBody>
          <a:bodyPr/>
          <a:lstStyle/>
          <a:p>
            <a:pPr>
              <a:defRPr/>
            </a:pPr>
            <a:r>
              <a:rPr lang="en-US"/>
              <a:t>Slide 9b – Blocs E/F (20 pts) + G jokers sans malus (départage) + H bonus autonomie (0 à +2) + exemple 14,8/20. Version définitive.</a:t>
            </a:r>
          </a:p>
        </p:txBody>
      </p:sp>
      <p:sp>
        <p:nvSpPr>
          <p:cNvPr id="1332279826"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91019254" name="Slide Image Placeholder 1"/>
          <p:cNvSpPr>
            <a:spLocks noGrp="1" noRot="1" noChangeAspect="1"/>
          </p:cNvSpPr>
          <p:nvPr>
            <p:ph type="sldImg"/>
          </p:nvPr>
        </p:nvSpPr>
        <p:spPr bwMode="auto"/>
      </p:sp>
      <p:sp>
        <p:nvSpPr>
          <p:cNvPr id="259984676" name="Notes Placeholder 2"/>
          <p:cNvSpPr>
            <a:spLocks noGrp="1"/>
          </p:cNvSpPr>
          <p:nvPr>
            <p:ph type="body" idx="1"/>
          </p:nvPr>
        </p:nvSpPr>
        <p:spPr bwMode="auto"/>
        <p:txBody>
          <a:bodyPr/>
          <a:lstStyle/>
          <a:p>
            <a:pPr>
              <a:defRPr/>
            </a:pPr>
            <a:r>
              <a:rPr lang="en-US"/>
              <a:t>Programme du hackathon – 2 jours et demi, du 30 juillet au 1er août 2026. Soutenances à 14h le jeudi.</a:t>
            </a:r>
          </a:p>
        </p:txBody>
      </p:sp>
      <p:sp>
        <p:nvSpPr>
          <p:cNvPr id="887039739"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63185860" name="Slide Image Placeholder 1"/>
          <p:cNvSpPr>
            <a:spLocks noGrp="1" noRot="1" noChangeAspect="1"/>
          </p:cNvSpPr>
          <p:nvPr>
            <p:ph type="sldImg"/>
          </p:nvPr>
        </p:nvSpPr>
        <p:spPr bwMode="auto"/>
      </p:sp>
      <p:sp>
        <p:nvSpPr>
          <p:cNvPr id="2000125793" name="Notes Placeholder 2"/>
          <p:cNvSpPr>
            <a:spLocks noGrp="1"/>
          </p:cNvSpPr>
          <p:nvPr>
            <p:ph type="body" idx="1"/>
          </p:nvPr>
        </p:nvSpPr>
        <p:spPr bwMode="auto"/>
        <p:txBody>
          <a:bodyPr/>
          <a:lstStyle/>
          <a:p>
            <a:pPr>
              <a:defRPr/>
            </a:pPr>
            <a:r>
              <a:rPr lang="en-US"/>
              <a:t>Slide contacts – à compléter avec les noms et emails des référents avant la présentation.</a:t>
            </a:r>
          </a:p>
        </p:txBody>
      </p:sp>
      <p:sp>
        <p:nvSpPr>
          <p:cNvPr id="1731304011"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75418419" name="Slide Image Placeholder 1"/>
          <p:cNvSpPr>
            <a:spLocks noGrp="1" noRot="1" noChangeAspect="1"/>
          </p:cNvSpPr>
          <p:nvPr>
            <p:ph type="sldImg"/>
          </p:nvPr>
        </p:nvSpPr>
        <p:spPr bwMode="auto"/>
      </p:sp>
      <p:sp>
        <p:nvSpPr>
          <p:cNvPr id="1192811819" name="Notes Placeholder 2"/>
          <p:cNvSpPr>
            <a:spLocks noGrp="1"/>
          </p:cNvSpPr>
          <p:nvPr>
            <p:ph type="body" idx="1"/>
          </p:nvPr>
        </p:nvSpPr>
        <p:spPr bwMode="auto"/>
        <p:txBody>
          <a:bodyPr/>
          <a:lstStyle/>
          <a:p>
            <a:pPr>
              <a:defRPr/>
            </a:pPr>
            <a:r>
              <a:rPr lang="en-US"/>
              <a:t>Slide de clôture.</a:t>
            </a:r>
          </a:p>
        </p:txBody>
      </p:sp>
      <p:sp>
        <p:nvSpPr>
          <p:cNvPr id="1852048947"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0.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3.pn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name="Slide 1">
    <p:spTree>
      <p:nvGrpSpPr>
        <p:cNvPr id="1" name=""/>
        <p:cNvGrpSpPr/>
        <p:nvPr/>
      </p:nvGrpSpPr>
      <p:grpSpPr bwMode="auto">
        <a:xfrm>
          <a:off x="0" y="0"/>
          <a:ext cx="0" cy="0"/>
          <a:chOff x="0" y="0"/>
          <a:chExt cx="0" cy="0"/>
        </a:xfrm>
      </p:grpSpPr>
      <p:pic>
        <p:nvPicPr>
          <p:cNvPr id="999695368" name="Image 0" descr="preencoded.png"/>
          <p:cNvPicPr>
            <a:picLocks noChangeAspect="1"/>
          </p:cNvPicPr>
          <p:nvPr/>
        </p:nvPicPr>
        <p:blipFill rotWithShape="1">
          <a:blip r:embed="rId3"/>
          <a:stretch/>
        </p:blipFill>
        <p:spPr bwMode="auto">
          <a:xfrm>
            <a:off x="0" y="0"/>
            <a:ext cx="9144000" cy="5143500"/>
          </a:xfrm>
          <a:prstGeom prst="rect">
            <a:avLst/>
          </a:prstGeom>
        </p:spPr>
      </p:pic>
      <p:sp>
        <p:nvSpPr>
          <p:cNvPr id="195726858" name="Text 0"/>
          <p:cNvSpPr/>
          <p:nvPr/>
        </p:nvSpPr>
        <p:spPr bwMode="auto">
          <a:xfrm>
            <a:off x="502920" y="384048"/>
            <a:ext cx="457200" cy="274320"/>
          </a:xfrm>
          <a:prstGeom prst="rect">
            <a:avLst/>
          </a:prstGeom>
          <a:noFill/>
          <a:ln/>
        </p:spPr>
        <p:txBody>
          <a:bodyPr wrap="square" lIns="0" tIns="0" rIns="0" bIns="0" rtlCol="0" anchor="ctr"/>
          <a:lstStyle/>
          <a:p>
            <a:pPr marL="0" indent="0">
              <a:buNone/>
              <a:defRPr/>
            </a:pPr>
            <a:r>
              <a:rPr lang="en-US" sz="1400" b="1">
                <a:solidFill>
                  <a:srgbClr val="FFFFFF"/>
                </a:solidFill>
                <a:latin typeface="Calibri"/>
                <a:ea typeface="Calibri"/>
                <a:cs typeface="Calibri"/>
              </a:rPr>
              <a:t>42c</a:t>
            </a:r>
            <a:endParaRPr lang="en-US" sz="1400"/>
          </a:p>
        </p:txBody>
      </p:sp>
      <p:sp>
        <p:nvSpPr>
          <p:cNvPr id="244477282" name="Text 1"/>
          <p:cNvSpPr/>
          <p:nvPr/>
        </p:nvSpPr>
        <p:spPr bwMode="auto">
          <a:xfrm>
            <a:off x="932688" y="384048"/>
            <a:ext cx="457200" cy="274320"/>
          </a:xfrm>
          <a:prstGeom prst="rect">
            <a:avLst/>
          </a:prstGeom>
          <a:noFill/>
          <a:ln/>
        </p:spPr>
        <p:txBody>
          <a:bodyPr wrap="square" lIns="0" tIns="0" rIns="0" bIns="0" rtlCol="0" anchor="ctr"/>
          <a:lstStyle/>
          <a:p>
            <a:pPr marL="0" indent="0">
              <a:buNone/>
              <a:defRPr/>
            </a:pPr>
            <a:r>
              <a:rPr lang="en-US" sz="1400">
                <a:solidFill>
                  <a:srgbClr val="A7A2B6"/>
                </a:solidFill>
                <a:latin typeface="Calibri"/>
                <a:ea typeface="Calibri"/>
                <a:cs typeface="Calibri"/>
              </a:rPr>
              <a:t>  ×  </a:t>
            </a:r>
            <a:endParaRPr lang="en-US" sz="1400"/>
          </a:p>
        </p:txBody>
      </p:sp>
      <p:sp>
        <p:nvSpPr>
          <p:cNvPr id="1016588696" name="Text 2"/>
          <p:cNvSpPr/>
          <p:nvPr/>
        </p:nvSpPr>
        <p:spPr bwMode="auto">
          <a:xfrm>
            <a:off x="1325880" y="384048"/>
            <a:ext cx="1097280" cy="274320"/>
          </a:xfrm>
          <a:prstGeom prst="rect">
            <a:avLst/>
          </a:prstGeom>
          <a:noFill/>
          <a:ln/>
        </p:spPr>
        <p:txBody>
          <a:bodyPr wrap="square" lIns="0" tIns="0" rIns="0" bIns="0" rtlCol="0" anchor="ctr"/>
          <a:lstStyle/>
          <a:p>
            <a:pPr marL="0" indent="0">
              <a:buNone/>
              <a:defRPr/>
            </a:pPr>
            <a:r>
              <a:rPr lang="en-US" sz="1400" b="1">
                <a:solidFill>
                  <a:srgbClr val="FFFFFF"/>
                </a:solidFill>
                <a:latin typeface="Calibri"/>
                <a:ea typeface="Calibri"/>
                <a:cs typeface="Calibri"/>
              </a:rPr>
              <a:t>ESTIAM</a:t>
            </a:r>
            <a:endParaRPr lang="en-US" sz="1400"/>
          </a:p>
        </p:txBody>
      </p:sp>
      <p:sp>
        <p:nvSpPr>
          <p:cNvPr id="634658245" name="Shape 3"/>
          <p:cNvSpPr/>
          <p:nvPr/>
        </p:nvSpPr>
        <p:spPr bwMode="auto">
          <a:xfrm>
            <a:off x="502920" y="1463040"/>
            <a:ext cx="1737360" cy="347472"/>
          </a:xfrm>
          <a:prstGeom prst="roundRect">
            <a:avLst>
              <a:gd name="adj" fmla="val 50000"/>
            </a:avLst>
          </a:prstGeom>
          <a:solidFill>
            <a:srgbClr val="FFFFFF">
              <a:alpha val="18000"/>
            </a:srgbClr>
          </a:solidFill>
          <a:ln w="12700">
            <a:solidFill>
              <a:srgbClr val="FFFFFF">
                <a:alpha val="40000"/>
              </a:srgbClr>
            </a:solidFill>
            <a:prstDash val="solid"/>
          </a:ln>
        </p:spPr>
      </p:sp>
      <p:sp>
        <p:nvSpPr>
          <p:cNvPr id="488320149" name="Text 4"/>
          <p:cNvSpPr/>
          <p:nvPr/>
        </p:nvSpPr>
        <p:spPr bwMode="auto">
          <a:xfrm>
            <a:off x="502920" y="1463040"/>
            <a:ext cx="1737360" cy="347472"/>
          </a:xfrm>
          <a:prstGeom prst="rect">
            <a:avLst/>
          </a:prstGeom>
          <a:noFill/>
          <a:ln/>
        </p:spPr>
        <p:txBody>
          <a:bodyPr wrap="square" lIns="0" tIns="0" rIns="0" bIns="0" rtlCol="0" anchor="ctr"/>
          <a:lstStyle/>
          <a:p>
            <a:pPr marL="0" indent="0" algn="ctr">
              <a:buNone/>
              <a:defRPr/>
            </a:pPr>
            <a:r>
              <a:rPr lang="en-US" sz="950" b="1" spc="150">
                <a:solidFill>
                  <a:srgbClr val="FFFFFF"/>
                </a:solidFill>
                <a:latin typeface="Calibri"/>
                <a:ea typeface="Calibri"/>
                <a:cs typeface="Calibri"/>
              </a:rPr>
              <a:t>HACKATHON · 2026</a:t>
            </a:r>
            <a:endParaRPr lang="en-US" sz="950"/>
          </a:p>
        </p:txBody>
      </p:sp>
      <p:sp>
        <p:nvSpPr>
          <p:cNvPr id="891932473" name="Text 5"/>
          <p:cNvSpPr/>
          <p:nvPr/>
        </p:nvSpPr>
        <p:spPr bwMode="auto">
          <a:xfrm>
            <a:off x="502920" y="1920240"/>
            <a:ext cx="6858000" cy="1828800"/>
          </a:xfrm>
          <a:prstGeom prst="rect">
            <a:avLst/>
          </a:prstGeom>
          <a:noFill/>
          <a:ln/>
        </p:spPr>
        <p:txBody>
          <a:bodyPr wrap="square" rtlCol="0" anchor="t"/>
          <a:lstStyle/>
          <a:p>
            <a:pPr marL="0" indent="0" algn="l">
              <a:lnSpc>
                <a:spcPct val="114999"/>
              </a:lnSpc>
              <a:buNone/>
              <a:defRPr/>
            </a:pPr>
            <a:r>
              <a:rPr lang="en-US" sz="4000" b="1">
                <a:solidFill>
                  <a:srgbClr val="FFFFFF"/>
                </a:solidFill>
                <a:latin typeface="Cambria"/>
                <a:ea typeface="Cambria"/>
                <a:cs typeface="Cambria"/>
              </a:rPr>
              <a:t>Plateforme Vidéo B2B</a:t>
            </a:r>
            <a:endParaRPr lang="en-US" sz="4000"/>
          </a:p>
          <a:p>
            <a:pPr marL="0" indent="0" algn="l">
              <a:lnSpc>
                <a:spcPct val="114999"/>
              </a:lnSpc>
              <a:buNone/>
              <a:defRPr/>
            </a:pPr>
            <a:r>
              <a:rPr lang="en-US" sz="4000" b="1">
                <a:solidFill>
                  <a:srgbClr val="FFFFFF"/>
                </a:solidFill>
                <a:latin typeface="Cambria"/>
                <a:ea typeface="Cambria"/>
                <a:cs typeface="Cambria"/>
              </a:rPr>
              <a:t>de Nouvelle Génération</a:t>
            </a:r>
            <a:endParaRPr lang="en-US" sz="4000"/>
          </a:p>
        </p:txBody>
      </p:sp>
      <p:sp>
        <p:nvSpPr>
          <p:cNvPr id="2146851412" name="Text 6"/>
          <p:cNvSpPr/>
          <p:nvPr/>
        </p:nvSpPr>
        <p:spPr bwMode="auto">
          <a:xfrm>
            <a:off x="502920" y="3657600"/>
            <a:ext cx="4572000" cy="384048"/>
          </a:xfrm>
          <a:prstGeom prst="rect">
            <a:avLst/>
          </a:prstGeom>
          <a:noFill/>
          <a:ln/>
        </p:spPr>
        <p:txBody>
          <a:bodyPr wrap="square" lIns="0" tIns="0" rIns="0" bIns="0" rtlCol="0" anchor="ctr"/>
          <a:lstStyle/>
          <a:p>
            <a:pPr marL="0" indent="0">
              <a:buNone/>
              <a:defRPr/>
            </a:pPr>
            <a:r>
              <a:rPr lang="en-US" sz="1800" b="1">
                <a:solidFill>
                  <a:srgbClr val="E5187F"/>
                </a:solidFill>
                <a:latin typeface="Calibri"/>
                <a:ea typeface="Calibri"/>
                <a:cs typeface="Calibri"/>
              </a:rPr>
              <a:t>V-Secure &amp; Collaborate</a:t>
            </a:r>
            <a:endParaRPr lang="en-US" sz="1800"/>
          </a:p>
        </p:txBody>
      </p:sp>
      <p:sp>
        <p:nvSpPr>
          <p:cNvPr id="1604776575" name="Text 7"/>
          <p:cNvSpPr/>
          <p:nvPr/>
        </p:nvSpPr>
        <p:spPr bwMode="auto">
          <a:xfrm>
            <a:off x="502920" y="4096512"/>
            <a:ext cx="6400800" cy="320040"/>
          </a:xfrm>
          <a:prstGeom prst="rect">
            <a:avLst/>
          </a:prstGeom>
          <a:noFill/>
          <a:ln/>
        </p:spPr>
        <p:txBody>
          <a:bodyPr wrap="square" lIns="0" tIns="0" rIns="0" bIns="0" rtlCol="0" anchor="ctr"/>
          <a:lstStyle/>
          <a:p>
            <a:pPr marL="0" indent="0">
              <a:buNone/>
              <a:defRPr/>
            </a:pPr>
            <a:r>
              <a:rPr lang="en-US" sz="1100">
                <a:solidFill>
                  <a:srgbClr val="A7A2B6"/>
                </a:solidFill>
                <a:latin typeface="Calibri"/>
                <a:ea typeface="Calibri"/>
                <a:cs typeface="Calibri"/>
              </a:rPr>
              <a:t>Collaboration · Sécurité · Valoriser la vidéo en entreprise</a:t>
            </a:r>
            <a:endParaRPr lang="en-US" sz="1100"/>
          </a:p>
        </p:txBody>
      </p:sp>
      <p:pic>
        <p:nvPicPr>
          <p:cNvPr id="2015850566" name="Image 1" descr="preencoded.png"/>
          <p:cNvPicPr>
            <a:picLocks noChangeAspect="1"/>
          </p:cNvPicPr>
          <p:nvPr/>
        </p:nvPicPr>
        <p:blipFill rotWithShape="1">
          <a:blip r:embed="rId4"/>
          <a:stretch/>
        </p:blipFill>
        <p:spPr bwMode="auto">
          <a:xfrm>
            <a:off x="7909560" y="4160519"/>
            <a:ext cx="658368" cy="658368"/>
          </a:xfrm>
          <a:prstGeom prst="rect">
            <a:avLst/>
          </a:prstGeom>
        </p:spPr>
      </p:pic>
      <p:pic>
        <p:nvPicPr>
          <p:cNvPr id="1199292124" name="Image 2" descr="preencoded.png"/>
          <p:cNvPicPr>
            <a:picLocks noChangeAspect="1"/>
          </p:cNvPicPr>
          <p:nvPr/>
        </p:nvPicPr>
        <p:blipFill rotWithShape="1">
          <a:blip r:embed="rId5"/>
          <a:stretch/>
        </p:blipFill>
        <p:spPr bwMode="auto">
          <a:xfrm>
            <a:off x="8054401" y="4305361"/>
            <a:ext cx="368686" cy="368686"/>
          </a:xfrm>
          <a:prstGeom prst="rect">
            <a:avLst/>
          </a:prstGeom>
        </p:spPr>
      </p:pic>
      <p:sp>
        <p:nvSpPr>
          <p:cNvPr id="577591720" name="Text 8"/>
          <p:cNvSpPr/>
          <p:nvPr/>
        </p:nvSpPr>
        <p:spPr bwMode="auto">
          <a:xfrm>
            <a:off x="502920" y="4773168"/>
            <a:ext cx="4572000" cy="256032"/>
          </a:xfrm>
          <a:prstGeom prst="rect">
            <a:avLst/>
          </a:prstGeom>
          <a:noFill/>
          <a:ln/>
        </p:spPr>
        <p:txBody>
          <a:bodyPr wrap="square" lIns="0" tIns="0" rIns="0" bIns="0" rtlCol="0" anchor="ctr"/>
          <a:lstStyle/>
          <a:p>
            <a:pPr marL="0" indent="0">
              <a:buNone/>
              <a:defRPr/>
            </a:pPr>
            <a:r>
              <a:rPr lang="en-US" sz="900">
                <a:solidFill>
                  <a:srgbClr val="A7A2B6"/>
                </a:solidFill>
                <a:latin typeface="Calibri"/>
                <a:ea typeface="Calibri"/>
                <a:cs typeface="Calibri"/>
              </a:rPr>
              <a:t>42c × ESTIAM · Juillet 2026</a:t>
            </a:r>
            <a:endParaRPr lang="en-US" sz="90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name="Slide 2">
    <p:spTree>
      <p:nvGrpSpPr>
        <p:cNvPr id="1" name=""/>
        <p:cNvGrpSpPr/>
        <p:nvPr/>
      </p:nvGrpSpPr>
      <p:grpSpPr bwMode="auto">
        <a:xfrm>
          <a:off x="0" y="0"/>
          <a:ext cx="0" cy="0"/>
          <a:chOff x="0" y="0"/>
          <a:chExt cx="0" cy="0"/>
        </a:xfrm>
      </p:grpSpPr>
      <p:pic>
        <p:nvPicPr>
          <p:cNvPr id="1534301079" name="Image 0" descr="preencoded.png"/>
          <p:cNvPicPr>
            <a:picLocks noChangeAspect="1"/>
          </p:cNvPicPr>
          <p:nvPr/>
        </p:nvPicPr>
        <p:blipFill rotWithShape="1">
          <a:blip r:embed="rId3"/>
          <a:stretch/>
        </p:blipFill>
        <p:spPr bwMode="auto">
          <a:xfrm>
            <a:off x="0" y="0"/>
            <a:ext cx="9144000" cy="5143500"/>
          </a:xfrm>
          <a:prstGeom prst="rect">
            <a:avLst/>
          </a:prstGeom>
        </p:spPr>
      </p:pic>
      <p:sp>
        <p:nvSpPr>
          <p:cNvPr id="1718801920" name="Text 0"/>
          <p:cNvSpPr/>
          <p:nvPr/>
        </p:nvSpPr>
        <p:spPr bwMode="auto">
          <a:xfrm>
            <a:off x="502920" y="347472"/>
            <a:ext cx="2011680" cy="256032"/>
          </a:xfrm>
          <a:prstGeom prst="rect">
            <a:avLst/>
          </a:prstGeom>
          <a:noFill/>
          <a:ln/>
        </p:spPr>
        <p:txBody>
          <a:bodyPr wrap="square" lIns="0" tIns="0" rIns="0" bIns="0" rtlCol="0" anchor="ctr"/>
          <a:lstStyle/>
          <a:p>
            <a:pPr marL="0" indent="0">
              <a:buNone/>
              <a:defRPr/>
            </a:pPr>
            <a:r>
              <a:rPr lang="en-US" sz="900" b="1" spc="200">
                <a:solidFill>
                  <a:srgbClr val="E5187F"/>
                </a:solidFill>
                <a:latin typeface="Calibri"/>
                <a:ea typeface="Calibri"/>
                <a:cs typeface="Calibri"/>
              </a:rPr>
              <a:t>• INTRODUCTION</a:t>
            </a:r>
            <a:endParaRPr lang="en-US" sz="900"/>
          </a:p>
        </p:txBody>
      </p:sp>
      <p:pic>
        <p:nvPicPr>
          <p:cNvPr id="1939521882" name="Image 1" descr="preencoded.png"/>
          <p:cNvPicPr>
            <a:picLocks noChangeAspect="1"/>
          </p:cNvPicPr>
          <p:nvPr/>
        </p:nvPicPr>
        <p:blipFill rotWithShape="1">
          <a:blip r:embed="rId4"/>
          <a:stretch/>
        </p:blipFill>
        <p:spPr bwMode="auto">
          <a:xfrm>
            <a:off x="7726680" y="411480"/>
            <a:ext cx="1005840" cy="1005840"/>
          </a:xfrm>
          <a:prstGeom prst="rect">
            <a:avLst/>
          </a:prstGeom>
        </p:spPr>
      </p:pic>
      <p:sp>
        <p:nvSpPr>
          <p:cNvPr id="1465793288" name="Text 1"/>
          <p:cNvSpPr/>
          <p:nvPr/>
        </p:nvSpPr>
        <p:spPr bwMode="auto">
          <a:xfrm>
            <a:off x="502920" y="658368"/>
            <a:ext cx="7040880" cy="640080"/>
          </a:xfrm>
          <a:prstGeom prst="rect">
            <a:avLst/>
          </a:prstGeom>
          <a:noFill/>
          <a:ln/>
        </p:spPr>
        <p:txBody>
          <a:bodyPr wrap="square" lIns="0" tIns="0" rIns="0" bIns="0" rtlCol="0" anchor="ctr"/>
          <a:lstStyle/>
          <a:p>
            <a:pPr marL="0" indent="0">
              <a:buNone/>
              <a:defRPr/>
            </a:pPr>
            <a:r>
              <a:rPr lang="en-US" sz="3200" b="1">
                <a:solidFill>
                  <a:srgbClr val="FFFFFF"/>
                </a:solidFill>
                <a:latin typeface="Cambria"/>
                <a:ea typeface="Cambria"/>
                <a:cs typeface="Cambria"/>
              </a:rPr>
              <a:t>Digital Game Changers</a:t>
            </a:r>
            <a:endParaRPr lang="en-US" sz="3200"/>
          </a:p>
        </p:txBody>
      </p:sp>
      <p:sp>
        <p:nvSpPr>
          <p:cNvPr id="446313759" name="Text 2"/>
          <p:cNvSpPr/>
          <p:nvPr/>
        </p:nvSpPr>
        <p:spPr bwMode="auto">
          <a:xfrm>
            <a:off x="502920" y="1371600"/>
            <a:ext cx="3840480" cy="1371600"/>
          </a:xfrm>
          <a:prstGeom prst="rect">
            <a:avLst/>
          </a:prstGeom>
          <a:noFill/>
          <a:ln/>
        </p:spPr>
        <p:txBody>
          <a:bodyPr wrap="square" rtlCol="0" anchor="t"/>
          <a:lstStyle/>
          <a:p>
            <a:pPr marL="0" indent="0" algn="l">
              <a:buNone/>
              <a:defRPr/>
            </a:pPr>
            <a:r>
              <a:rPr lang="en-US" sz="1200">
                <a:solidFill>
                  <a:srgbClr val="A7A2B6"/>
                </a:solidFill>
                <a:latin typeface="Calibri"/>
                <a:ea typeface="Calibri"/>
                <a:cs typeface="Calibri"/>
              </a:rPr>
              <a:t>42c accompagne les entreprises dans leur transformation numérique en plaçant la responsabilité, l'agilité, la passion et l'expertise au cœur de chaque projet. C'est ces mêmes valeurs qui inspirent le hackathon proposé aux étudiants d'ESTIAM.</a:t>
            </a:r>
            <a:endParaRPr lang="en-US" sz="1200"/>
          </a:p>
        </p:txBody>
      </p:sp>
      <p:sp>
        <p:nvSpPr>
          <p:cNvPr id="523678913" name="Text 3"/>
          <p:cNvSpPr/>
          <p:nvPr/>
        </p:nvSpPr>
        <p:spPr bwMode="auto">
          <a:xfrm>
            <a:off x="502920" y="2907792"/>
            <a:ext cx="1097280" cy="566928"/>
          </a:xfrm>
          <a:prstGeom prst="rect">
            <a:avLst/>
          </a:prstGeom>
          <a:noFill/>
          <a:ln/>
        </p:spPr>
        <p:txBody>
          <a:bodyPr wrap="square" lIns="0" tIns="0" rIns="0" bIns="0" rtlCol="0" anchor="ctr"/>
          <a:lstStyle/>
          <a:p>
            <a:pPr marL="0" indent="0">
              <a:buNone/>
              <a:defRPr/>
            </a:pPr>
            <a:r>
              <a:rPr lang="fr-FR" sz="2800" b="1">
                <a:solidFill>
                  <a:srgbClr val="FFFFFF"/>
                </a:solidFill>
                <a:latin typeface="Cambria"/>
                <a:ea typeface="Cambria"/>
                <a:cs typeface="Cambria"/>
              </a:rPr>
              <a:t>7 </a:t>
            </a:r>
            <a:r>
              <a:rPr lang="en-US" sz="2800" b="1">
                <a:solidFill>
                  <a:srgbClr val="FFFFFF"/>
                </a:solidFill>
                <a:latin typeface="Cambria"/>
                <a:ea typeface="Cambria"/>
                <a:cs typeface="Cambria"/>
              </a:rPr>
              <a:t>M€</a:t>
            </a:r>
            <a:endParaRPr lang="en-US" sz="2800"/>
          </a:p>
        </p:txBody>
      </p:sp>
      <p:sp>
        <p:nvSpPr>
          <p:cNvPr id="2064265670" name="Text 4"/>
          <p:cNvSpPr/>
          <p:nvPr/>
        </p:nvSpPr>
        <p:spPr bwMode="auto">
          <a:xfrm>
            <a:off x="502920" y="3493008"/>
            <a:ext cx="1188720" cy="502920"/>
          </a:xfrm>
          <a:prstGeom prst="rect">
            <a:avLst/>
          </a:prstGeom>
          <a:noFill/>
          <a:ln/>
        </p:spPr>
        <p:txBody>
          <a:bodyPr wrap="square" lIns="0" tIns="0" rIns="0" bIns="0" rtlCol="0" anchor="ctr"/>
          <a:lstStyle/>
          <a:p>
            <a:pPr marL="0" indent="0">
              <a:buNone/>
              <a:defRPr/>
            </a:pPr>
            <a:r>
              <a:rPr lang="en-US" sz="950">
                <a:solidFill>
                  <a:srgbClr val="A7A2B6"/>
                </a:solidFill>
                <a:latin typeface="Calibri"/>
                <a:ea typeface="Calibri"/>
                <a:cs typeface="Calibri"/>
              </a:rPr>
              <a:t>de chiffre d'affaires</a:t>
            </a:r>
            <a:endParaRPr lang="en-US" sz="950"/>
          </a:p>
        </p:txBody>
      </p:sp>
      <p:sp>
        <p:nvSpPr>
          <p:cNvPr id="134177678" name="Text 5"/>
          <p:cNvSpPr/>
          <p:nvPr/>
        </p:nvSpPr>
        <p:spPr bwMode="auto">
          <a:xfrm>
            <a:off x="1801367" y="2907792"/>
            <a:ext cx="1097280" cy="566928"/>
          </a:xfrm>
          <a:prstGeom prst="rect">
            <a:avLst/>
          </a:prstGeom>
          <a:noFill/>
          <a:ln/>
        </p:spPr>
        <p:txBody>
          <a:bodyPr wrap="square" lIns="0" tIns="0" rIns="0" bIns="0" rtlCol="0" anchor="ctr"/>
          <a:lstStyle/>
          <a:p>
            <a:pPr marL="0" indent="0">
              <a:buNone/>
              <a:defRPr/>
            </a:pPr>
            <a:r>
              <a:rPr lang="en-US" sz="2800" b="1">
                <a:solidFill>
                  <a:srgbClr val="FFFFFF"/>
                </a:solidFill>
                <a:latin typeface="Cambria"/>
                <a:ea typeface="Cambria"/>
                <a:cs typeface="Cambria"/>
              </a:rPr>
              <a:t>91%</a:t>
            </a:r>
            <a:endParaRPr lang="en-US" sz="2800"/>
          </a:p>
        </p:txBody>
      </p:sp>
      <p:sp>
        <p:nvSpPr>
          <p:cNvPr id="1819581620" name="Text 6"/>
          <p:cNvSpPr/>
          <p:nvPr/>
        </p:nvSpPr>
        <p:spPr bwMode="auto">
          <a:xfrm>
            <a:off x="1801367" y="3493008"/>
            <a:ext cx="1188720" cy="502920"/>
          </a:xfrm>
          <a:prstGeom prst="rect">
            <a:avLst/>
          </a:prstGeom>
          <a:noFill/>
          <a:ln/>
        </p:spPr>
        <p:txBody>
          <a:bodyPr wrap="square" lIns="0" tIns="0" rIns="0" bIns="0" rtlCol="0" anchor="ctr"/>
          <a:lstStyle/>
          <a:p>
            <a:pPr marL="0" indent="0">
              <a:buNone/>
              <a:defRPr/>
            </a:pPr>
            <a:r>
              <a:rPr lang="en-US" sz="950">
                <a:solidFill>
                  <a:srgbClr val="A7A2B6"/>
                </a:solidFill>
                <a:latin typeface="Calibri"/>
                <a:ea typeface="Calibri"/>
                <a:cs typeface="Calibri"/>
              </a:rPr>
              <a:t>des consultants en poste</a:t>
            </a:r>
            <a:endParaRPr lang="en-US" sz="950"/>
          </a:p>
          <a:p>
            <a:pPr marL="0" indent="0">
              <a:buNone/>
              <a:defRPr/>
            </a:pPr>
            <a:r>
              <a:rPr lang="en-US" sz="950">
                <a:solidFill>
                  <a:srgbClr val="A7A2B6"/>
                </a:solidFill>
                <a:latin typeface="Calibri"/>
                <a:ea typeface="Calibri"/>
                <a:cs typeface="Calibri"/>
              </a:rPr>
              <a:t>depuis plus de 15 années</a:t>
            </a:r>
            <a:endParaRPr lang="en-US" sz="950"/>
          </a:p>
        </p:txBody>
      </p:sp>
      <p:sp>
        <p:nvSpPr>
          <p:cNvPr id="1314526262" name="Text 7"/>
          <p:cNvSpPr/>
          <p:nvPr/>
        </p:nvSpPr>
        <p:spPr bwMode="auto">
          <a:xfrm>
            <a:off x="3099816" y="2907792"/>
            <a:ext cx="1097280" cy="566928"/>
          </a:xfrm>
          <a:prstGeom prst="rect">
            <a:avLst/>
          </a:prstGeom>
          <a:noFill/>
          <a:ln/>
        </p:spPr>
        <p:txBody>
          <a:bodyPr wrap="square" lIns="0" tIns="0" rIns="0" bIns="0" rtlCol="0" anchor="ctr"/>
          <a:lstStyle/>
          <a:p>
            <a:pPr marL="0" indent="0">
              <a:buNone/>
              <a:defRPr/>
            </a:pPr>
            <a:r>
              <a:rPr lang="en-US" sz="2800" b="1">
                <a:solidFill>
                  <a:srgbClr val="FFFFFF"/>
                </a:solidFill>
                <a:latin typeface="Cambria"/>
                <a:ea typeface="Cambria"/>
                <a:cs typeface="Cambria"/>
              </a:rPr>
              <a:t>20</a:t>
            </a:r>
            <a:endParaRPr lang="en-US" sz="2800"/>
          </a:p>
        </p:txBody>
      </p:sp>
      <p:sp>
        <p:nvSpPr>
          <p:cNvPr id="726491408" name="Text 8"/>
          <p:cNvSpPr/>
          <p:nvPr/>
        </p:nvSpPr>
        <p:spPr bwMode="auto">
          <a:xfrm>
            <a:off x="3099816" y="3493008"/>
            <a:ext cx="1188720" cy="502920"/>
          </a:xfrm>
          <a:prstGeom prst="rect">
            <a:avLst/>
          </a:prstGeom>
          <a:noFill/>
          <a:ln/>
        </p:spPr>
        <p:txBody>
          <a:bodyPr wrap="square" lIns="0" tIns="0" rIns="0" bIns="0" rtlCol="0" anchor="ctr"/>
          <a:lstStyle/>
          <a:p>
            <a:pPr marL="0" indent="0">
              <a:buNone/>
              <a:defRPr/>
            </a:pPr>
            <a:r>
              <a:rPr lang="en-US" sz="950">
                <a:solidFill>
                  <a:srgbClr val="A7A2B6"/>
                </a:solidFill>
                <a:latin typeface="Calibri"/>
                <a:ea typeface="Calibri"/>
                <a:cs typeface="Calibri"/>
              </a:rPr>
              <a:t>années de croissance</a:t>
            </a:r>
            <a:endParaRPr lang="en-US" sz="950"/>
          </a:p>
        </p:txBody>
      </p:sp>
      <p:sp>
        <p:nvSpPr>
          <p:cNvPr id="325563346" name="Shape 9"/>
          <p:cNvSpPr/>
          <p:nvPr/>
        </p:nvSpPr>
        <p:spPr bwMode="auto">
          <a:xfrm>
            <a:off x="4572000" y="1298448"/>
            <a:ext cx="2057400" cy="1234440"/>
          </a:xfrm>
          <a:prstGeom prst="roundRect">
            <a:avLst>
              <a:gd name="adj" fmla="val 8889"/>
            </a:avLst>
          </a:prstGeom>
          <a:solidFill>
            <a:srgbClr val="2F2A3E"/>
          </a:solidFill>
          <a:ln w="12700">
            <a:solidFill>
              <a:srgbClr val="3D3750"/>
            </a:solidFill>
            <a:prstDash val="solid"/>
          </a:ln>
        </p:spPr>
      </p:sp>
      <p:pic>
        <p:nvPicPr>
          <p:cNvPr id="950768001" name="Image 2" descr="preencoded.png"/>
          <p:cNvPicPr>
            <a:picLocks noChangeAspect="1"/>
          </p:cNvPicPr>
          <p:nvPr/>
        </p:nvPicPr>
        <p:blipFill rotWithShape="1">
          <a:blip r:embed="rId5"/>
          <a:stretch/>
        </p:blipFill>
        <p:spPr bwMode="auto">
          <a:xfrm>
            <a:off x="4736592" y="1481328"/>
            <a:ext cx="502920" cy="502920"/>
          </a:xfrm>
          <a:prstGeom prst="rect">
            <a:avLst/>
          </a:prstGeom>
        </p:spPr>
      </p:pic>
      <p:pic>
        <p:nvPicPr>
          <p:cNvPr id="1414993467" name="Image 3" descr="preencoded.png"/>
          <p:cNvPicPr>
            <a:picLocks noChangeAspect="1"/>
          </p:cNvPicPr>
          <p:nvPr/>
        </p:nvPicPr>
        <p:blipFill rotWithShape="1">
          <a:blip r:embed="rId6"/>
          <a:stretch/>
        </p:blipFill>
        <p:spPr bwMode="auto">
          <a:xfrm>
            <a:off x="4847234" y="1591970"/>
            <a:ext cx="281635" cy="281635"/>
          </a:xfrm>
          <a:prstGeom prst="rect">
            <a:avLst/>
          </a:prstGeom>
        </p:spPr>
      </p:pic>
      <p:sp>
        <p:nvSpPr>
          <p:cNvPr id="170937797" name="Text 10"/>
          <p:cNvSpPr/>
          <p:nvPr/>
        </p:nvSpPr>
        <p:spPr bwMode="auto">
          <a:xfrm>
            <a:off x="5349240" y="1444752"/>
            <a:ext cx="1188720" cy="274320"/>
          </a:xfrm>
          <a:prstGeom prst="rect">
            <a:avLst/>
          </a:prstGeom>
          <a:noFill/>
          <a:ln/>
        </p:spPr>
        <p:txBody>
          <a:bodyPr wrap="square" lIns="0" tIns="0" rIns="0" bIns="0" rtlCol="0" anchor="ctr"/>
          <a:lstStyle/>
          <a:p>
            <a:pPr marL="0" indent="0">
              <a:buNone/>
              <a:defRPr/>
            </a:pPr>
            <a:r>
              <a:rPr lang="en-US" sz="1200" b="1">
                <a:solidFill>
                  <a:srgbClr val="FFFFFF"/>
                </a:solidFill>
                <a:latin typeface="Cambria"/>
                <a:ea typeface="Cambria"/>
                <a:cs typeface="Cambria"/>
              </a:rPr>
              <a:t>Responsabilité</a:t>
            </a:r>
            <a:endParaRPr lang="en-US" sz="1200"/>
          </a:p>
        </p:txBody>
      </p:sp>
      <p:sp>
        <p:nvSpPr>
          <p:cNvPr id="713790191" name="Text 11"/>
          <p:cNvSpPr/>
          <p:nvPr/>
        </p:nvSpPr>
        <p:spPr bwMode="auto">
          <a:xfrm>
            <a:off x="5349240" y="1755648"/>
            <a:ext cx="1207008" cy="658368"/>
          </a:xfrm>
          <a:prstGeom prst="rect">
            <a:avLst/>
          </a:prstGeom>
          <a:noFill/>
          <a:ln/>
        </p:spPr>
        <p:txBody>
          <a:bodyPr wrap="square" lIns="0" tIns="0" rIns="0" bIns="0" rtlCol="0" anchor="ctr"/>
          <a:lstStyle/>
          <a:p>
            <a:pPr marL="0" indent="0">
              <a:buNone/>
              <a:defRPr/>
            </a:pPr>
            <a:r>
              <a:rPr lang="en-US" sz="1000">
                <a:solidFill>
                  <a:srgbClr val="A7A2B6"/>
                </a:solidFill>
                <a:latin typeface="Calibri"/>
                <a:ea typeface="Calibri"/>
                <a:cs typeface="Calibri"/>
              </a:rPr>
              <a:t>RSE au cœur de son projet</a:t>
            </a:r>
            <a:endParaRPr lang="en-US" sz="1000"/>
          </a:p>
        </p:txBody>
      </p:sp>
      <p:sp>
        <p:nvSpPr>
          <p:cNvPr id="359417606" name="Shape 12"/>
          <p:cNvSpPr/>
          <p:nvPr/>
        </p:nvSpPr>
        <p:spPr bwMode="auto">
          <a:xfrm>
            <a:off x="6903720" y="1298448"/>
            <a:ext cx="2057400" cy="1234440"/>
          </a:xfrm>
          <a:prstGeom prst="roundRect">
            <a:avLst>
              <a:gd name="adj" fmla="val 8889"/>
            </a:avLst>
          </a:prstGeom>
          <a:solidFill>
            <a:srgbClr val="2F2A3E"/>
          </a:solidFill>
          <a:ln w="12700">
            <a:solidFill>
              <a:srgbClr val="3D3750"/>
            </a:solidFill>
            <a:prstDash val="solid"/>
          </a:ln>
        </p:spPr>
      </p:sp>
      <p:pic>
        <p:nvPicPr>
          <p:cNvPr id="267258208" name="Image 4" descr="preencoded.png"/>
          <p:cNvPicPr>
            <a:picLocks noChangeAspect="1"/>
          </p:cNvPicPr>
          <p:nvPr/>
        </p:nvPicPr>
        <p:blipFill rotWithShape="1">
          <a:blip r:embed="rId5"/>
          <a:stretch/>
        </p:blipFill>
        <p:spPr bwMode="auto">
          <a:xfrm>
            <a:off x="7068312" y="1481328"/>
            <a:ext cx="502920" cy="502920"/>
          </a:xfrm>
          <a:prstGeom prst="rect">
            <a:avLst/>
          </a:prstGeom>
        </p:spPr>
      </p:pic>
      <p:pic>
        <p:nvPicPr>
          <p:cNvPr id="1682425926" name="Image 5" descr="preencoded.png"/>
          <p:cNvPicPr>
            <a:picLocks noChangeAspect="1"/>
          </p:cNvPicPr>
          <p:nvPr/>
        </p:nvPicPr>
        <p:blipFill rotWithShape="1">
          <a:blip r:embed="rId7"/>
          <a:stretch/>
        </p:blipFill>
        <p:spPr bwMode="auto">
          <a:xfrm>
            <a:off x="7178954" y="1591970"/>
            <a:ext cx="281635" cy="281635"/>
          </a:xfrm>
          <a:prstGeom prst="rect">
            <a:avLst/>
          </a:prstGeom>
        </p:spPr>
      </p:pic>
      <p:sp>
        <p:nvSpPr>
          <p:cNvPr id="2040706796" name="Text 13"/>
          <p:cNvSpPr/>
          <p:nvPr/>
        </p:nvSpPr>
        <p:spPr bwMode="auto">
          <a:xfrm>
            <a:off x="7680960" y="1444752"/>
            <a:ext cx="1188720" cy="274320"/>
          </a:xfrm>
          <a:prstGeom prst="rect">
            <a:avLst/>
          </a:prstGeom>
          <a:noFill/>
          <a:ln/>
        </p:spPr>
        <p:txBody>
          <a:bodyPr wrap="square" lIns="0" tIns="0" rIns="0" bIns="0" rtlCol="0" anchor="ctr"/>
          <a:lstStyle/>
          <a:p>
            <a:pPr marL="0" indent="0">
              <a:buNone/>
              <a:defRPr/>
            </a:pPr>
            <a:r>
              <a:rPr lang="en-US" sz="1200" b="1">
                <a:solidFill>
                  <a:srgbClr val="FFFFFF"/>
                </a:solidFill>
                <a:latin typeface="Cambria"/>
                <a:ea typeface="Cambria"/>
                <a:cs typeface="Cambria"/>
              </a:rPr>
              <a:t>Agilité</a:t>
            </a:r>
            <a:endParaRPr lang="en-US" sz="1200"/>
          </a:p>
        </p:txBody>
      </p:sp>
      <p:sp>
        <p:nvSpPr>
          <p:cNvPr id="639568619" name="Text 14"/>
          <p:cNvSpPr/>
          <p:nvPr/>
        </p:nvSpPr>
        <p:spPr bwMode="auto">
          <a:xfrm>
            <a:off x="7680960" y="1755648"/>
            <a:ext cx="1207008" cy="658368"/>
          </a:xfrm>
          <a:prstGeom prst="rect">
            <a:avLst/>
          </a:prstGeom>
          <a:noFill/>
          <a:ln/>
        </p:spPr>
        <p:txBody>
          <a:bodyPr wrap="square" lIns="0" tIns="0" rIns="0" bIns="0" rtlCol="0" anchor="ctr"/>
          <a:lstStyle/>
          <a:p>
            <a:pPr marL="0" indent="0">
              <a:buNone/>
              <a:defRPr/>
            </a:pPr>
            <a:r>
              <a:rPr lang="en-US" sz="1000">
                <a:solidFill>
                  <a:srgbClr val="A7A2B6"/>
                </a:solidFill>
                <a:latin typeface="Calibri"/>
                <a:ea typeface="Calibri"/>
                <a:cs typeface="Calibri"/>
              </a:rPr>
              <a:t>Solutions sur mesure en</a:t>
            </a:r>
            <a:endParaRPr lang="en-US" sz="1000"/>
          </a:p>
          <a:p>
            <a:pPr marL="0" indent="0">
              <a:buNone/>
              <a:defRPr/>
            </a:pPr>
            <a:r>
              <a:rPr lang="en-US" sz="1000">
                <a:solidFill>
                  <a:srgbClr val="A7A2B6"/>
                </a:solidFill>
                <a:latin typeface="Calibri"/>
                <a:ea typeface="Calibri"/>
                <a:cs typeface="Calibri"/>
              </a:rPr>
              <a:t>adaptation continue</a:t>
            </a:r>
            <a:endParaRPr lang="en-US" sz="1000"/>
          </a:p>
        </p:txBody>
      </p:sp>
      <p:sp>
        <p:nvSpPr>
          <p:cNvPr id="147874588" name="Shape 15"/>
          <p:cNvSpPr/>
          <p:nvPr/>
        </p:nvSpPr>
        <p:spPr bwMode="auto">
          <a:xfrm>
            <a:off x="4572000" y="2743200"/>
            <a:ext cx="2057400" cy="1234440"/>
          </a:xfrm>
          <a:prstGeom prst="roundRect">
            <a:avLst>
              <a:gd name="adj" fmla="val 8889"/>
            </a:avLst>
          </a:prstGeom>
          <a:solidFill>
            <a:srgbClr val="2F2A3E"/>
          </a:solidFill>
          <a:ln w="12700">
            <a:solidFill>
              <a:srgbClr val="3D3750"/>
            </a:solidFill>
            <a:prstDash val="solid"/>
          </a:ln>
        </p:spPr>
      </p:sp>
      <p:pic>
        <p:nvPicPr>
          <p:cNvPr id="362289164" name="Image 6" descr="preencoded.png"/>
          <p:cNvPicPr>
            <a:picLocks noChangeAspect="1"/>
          </p:cNvPicPr>
          <p:nvPr/>
        </p:nvPicPr>
        <p:blipFill rotWithShape="1">
          <a:blip r:embed="rId5"/>
          <a:stretch/>
        </p:blipFill>
        <p:spPr bwMode="auto">
          <a:xfrm>
            <a:off x="4736592" y="2926080"/>
            <a:ext cx="502920" cy="502920"/>
          </a:xfrm>
          <a:prstGeom prst="rect">
            <a:avLst/>
          </a:prstGeom>
        </p:spPr>
      </p:pic>
      <p:pic>
        <p:nvPicPr>
          <p:cNvPr id="1598571761" name="Image 7" descr="preencoded.png"/>
          <p:cNvPicPr>
            <a:picLocks noChangeAspect="1"/>
          </p:cNvPicPr>
          <p:nvPr/>
        </p:nvPicPr>
        <p:blipFill rotWithShape="1">
          <a:blip r:embed="rId8"/>
          <a:stretch/>
        </p:blipFill>
        <p:spPr bwMode="auto">
          <a:xfrm>
            <a:off x="4847234" y="3036722"/>
            <a:ext cx="281635" cy="281635"/>
          </a:xfrm>
          <a:prstGeom prst="rect">
            <a:avLst/>
          </a:prstGeom>
        </p:spPr>
      </p:pic>
      <p:sp>
        <p:nvSpPr>
          <p:cNvPr id="214084370" name="Text 16"/>
          <p:cNvSpPr/>
          <p:nvPr/>
        </p:nvSpPr>
        <p:spPr bwMode="auto">
          <a:xfrm>
            <a:off x="5349240" y="2889504"/>
            <a:ext cx="1188720" cy="274320"/>
          </a:xfrm>
          <a:prstGeom prst="rect">
            <a:avLst/>
          </a:prstGeom>
          <a:noFill/>
          <a:ln/>
        </p:spPr>
        <p:txBody>
          <a:bodyPr wrap="square" lIns="0" tIns="0" rIns="0" bIns="0" rtlCol="0" anchor="ctr"/>
          <a:lstStyle/>
          <a:p>
            <a:pPr marL="0" indent="0">
              <a:buNone/>
              <a:defRPr/>
            </a:pPr>
            <a:r>
              <a:rPr lang="en-US" sz="1200" b="1">
                <a:solidFill>
                  <a:srgbClr val="FFFFFF"/>
                </a:solidFill>
                <a:latin typeface="Cambria"/>
                <a:ea typeface="Cambria"/>
                <a:cs typeface="Cambria"/>
              </a:rPr>
              <a:t>Passion</a:t>
            </a:r>
            <a:endParaRPr lang="en-US" sz="1200"/>
          </a:p>
        </p:txBody>
      </p:sp>
      <p:sp>
        <p:nvSpPr>
          <p:cNvPr id="977007815" name="Text 17"/>
          <p:cNvSpPr/>
          <p:nvPr/>
        </p:nvSpPr>
        <p:spPr bwMode="auto">
          <a:xfrm>
            <a:off x="5349240" y="3200400"/>
            <a:ext cx="1207008" cy="658368"/>
          </a:xfrm>
          <a:prstGeom prst="rect">
            <a:avLst/>
          </a:prstGeom>
          <a:noFill/>
          <a:ln/>
        </p:spPr>
        <p:txBody>
          <a:bodyPr wrap="square" lIns="0" tIns="0" rIns="0" bIns="0" rtlCol="0" anchor="ctr"/>
          <a:lstStyle/>
          <a:p>
            <a:pPr marL="0" indent="0">
              <a:buNone/>
              <a:defRPr/>
            </a:pPr>
            <a:r>
              <a:rPr lang="en-US" sz="1000">
                <a:solidFill>
                  <a:srgbClr val="A7A2B6"/>
                </a:solidFill>
                <a:latin typeface="Calibri"/>
                <a:ea typeface="Calibri"/>
                <a:cs typeface="Calibri"/>
              </a:rPr>
              <a:t>Des Digital Game Changers</a:t>
            </a:r>
            <a:endParaRPr lang="en-US" sz="1000"/>
          </a:p>
          <a:p>
            <a:pPr marL="0" indent="0">
              <a:buNone/>
              <a:defRPr/>
            </a:pPr>
            <a:r>
              <a:rPr lang="en-US" sz="1000">
                <a:solidFill>
                  <a:srgbClr val="A7A2B6"/>
                </a:solidFill>
                <a:latin typeface="Calibri"/>
                <a:ea typeface="Calibri"/>
                <a:cs typeface="Calibri"/>
              </a:rPr>
              <a:t>passionnés de tech</a:t>
            </a:r>
            <a:endParaRPr lang="en-US" sz="1000"/>
          </a:p>
        </p:txBody>
      </p:sp>
      <p:sp>
        <p:nvSpPr>
          <p:cNvPr id="126144946" name="Shape 18"/>
          <p:cNvSpPr/>
          <p:nvPr/>
        </p:nvSpPr>
        <p:spPr bwMode="auto">
          <a:xfrm>
            <a:off x="6903720" y="2743200"/>
            <a:ext cx="2057400" cy="1234440"/>
          </a:xfrm>
          <a:prstGeom prst="roundRect">
            <a:avLst>
              <a:gd name="adj" fmla="val 8889"/>
            </a:avLst>
          </a:prstGeom>
          <a:solidFill>
            <a:srgbClr val="2F2A3E"/>
          </a:solidFill>
          <a:ln w="12700">
            <a:solidFill>
              <a:srgbClr val="3D3750"/>
            </a:solidFill>
            <a:prstDash val="solid"/>
          </a:ln>
        </p:spPr>
      </p:sp>
      <p:pic>
        <p:nvPicPr>
          <p:cNvPr id="653313451" name="Image 8" descr="preencoded.png"/>
          <p:cNvPicPr>
            <a:picLocks noChangeAspect="1"/>
          </p:cNvPicPr>
          <p:nvPr/>
        </p:nvPicPr>
        <p:blipFill rotWithShape="1">
          <a:blip r:embed="rId5"/>
          <a:stretch/>
        </p:blipFill>
        <p:spPr bwMode="auto">
          <a:xfrm>
            <a:off x="7068312" y="2926080"/>
            <a:ext cx="502920" cy="502920"/>
          </a:xfrm>
          <a:prstGeom prst="rect">
            <a:avLst/>
          </a:prstGeom>
        </p:spPr>
      </p:pic>
      <p:pic>
        <p:nvPicPr>
          <p:cNvPr id="1239903480" name="Image 9" descr="preencoded.png"/>
          <p:cNvPicPr>
            <a:picLocks noChangeAspect="1"/>
          </p:cNvPicPr>
          <p:nvPr/>
        </p:nvPicPr>
        <p:blipFill rotWithShape="1">
          <a:blip r:embed="rId9"/>
          <a:stretch/>
        </p:blipFill>
        <p:spPr bwMode="auto">
          <a:xfrm>
            <a:off x="7178954" y="3036722"/>
            <a:ext cx="281635" cy="281635"/>
          </a:xfrm>
          <a:prstGeom prst="rect">
            <a:avLst/>
          </a:prstGeom>
        </p:spPr>
      </p:pic>
      <p:sp>
        <p:nvSpPr>
          <p:cNvPr id="1720964337" name="Text 19"/>
          <p:cNvSpPr/>
          <p:nvPr/>
        </p:nvSpPr>
        <p:spPr bwMode="auto">
          <a:xfrm>
            <a:off x="7680960" y="2889504"/>
            <a:ext cx="1188720" cy="274320"/>
          </a:xfrm>
          <a:prstGeom prst="rect">
            <a:avLst/>
          </a:prstGeom>
          <a:noFill/>
          <a:ln/>
        </p:spPr>
        <p:txBody>
          <a:bodyPr wrap="square" lIns="0" tIns="0" rIns="0" bIns="0" rtlCol="0" anchor="ctr"/>
          <a:lstStyle/>
          <a:p>
            <a:pPr marL="0" indent="0">
              <a:buNone/>
              <a:defRPr/>
            </a:pPr>
            <a:r>
              <a:rPr lang="en-US" sz="1200" b="1">
                <a:solidFill>
                  <a:srgbClr val="FFFFFF"/>
                </a:solidFill>
                <a:latin typeface="Cambria"/>
                <a:ea typeface="Cambria"/>
                <a:cs typeface="Cambria"/>
              </a:rPr>
              <a:t>Expertise</a:t>
            </a:r>
            <a:endParaRPr lang="en-US" sz="1200"/>
          </a:p>
        </p:txBody>
      </p:sp>
      <p:sp>
        <p:nvSpPr>
          <p:cNvPr id="513018917" name="Text 20"/>
          <p:cNvSpPr/>
          <p:nvPr/>
        </p:nvSpPr>
        <p:spPr bwMode="auto">
          <a:xfrm>
            <a:off x="7680960" y="3200400"/>
            <a:ext cx="1207008" cy="658368"/>
          </a:xfrm>
          <a:prstGeom prst="rect">
            <a:avLst/>
          </a:prstGeom>
          <a:noFill/>
          <a:ln/>
        </p:spPr>
        <p:txBody>
          <a:bodyPr wrap="square" lIns="0" tIns="0" rIns="0" bIns="0" rtlCol="0" anchor="ctr"/>
          <a:lstStyle/>
          <a:p>
            <a:pPr marL="0" indent="0">
              <a:buNone/>
              <a:defRPr/>
            </a:pPr>
            <a:r>
              <a:rPr lang="en-US" sz="1000">
                <a:solidFill>
                  <a:srgbClr val="A7A2B6"/>
                </a:solidFill>
                <a:latin typeface="Calibri"/>
                <a:ea typeface="Calibri"/>
                <a:cs typeface="Calibri"/>
              </a:rPr>
              <a:t>Formation continue &amp;</a:t>
            </a:r>
            <a:endParaRPr lang="en-US" sz="1000"/>
          </a:p>
          <a:p>
            <a:pPr marL="0" indent="0">
              <a:buNone/>
              <a:defRPr/>
            </a:pPr>
            <a:r>
              <a:rPr lang="en-US" sz="1000">
                <a:solidFill>
                  <a:srgbClr val="A7A2B6"/>
                </a:solidFill>
                <a:latin typeface="Calibri"/>
                <a:ea typeface="Calibri"/>
                <a:cs typeface="Calibri"/>
              </a:rPr>
              <a:t>excellence technique</a:t>
            </a:r>
            <a:endParaRPr lang="en-US" sz="100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name="Slide 3">
    <p:spTree>
      <p:nvGrpSpPr>
        <p:cNvPr id="1" name=""/>
        <p:cNvGrpSpPr/>
        <p:nvPr/>
      </p:nvGrpSpPr>
      <p:grpSpPr bwMode="auto">
        <a:xfrm>
          <a:off x="0" y="0"/>
          <a:ext cx="0" cy="0"/>
          <a:chOff x="0" y="0"/>
          <a:chExt cx="0" cy="0"/>
        </a:xfrm>
      </p:grpSpPr>
      <p:pic>
        <p:nvPicPr>
          <p:cNvPr id="195786492" name="Image 0" descr="preencoded.png"/>
          <p:cNvPicPr>
            <a:picLocks noChangeAspect="1"/>
          </p:cNvPicPr>
          <p:nvPr/>
        </p:nvPicPr>
        <p:blipFill rotWithShape="1">
          <a:blip r:embed="rId3"/>
          <a:stretch/>
        </p:blipFill>
        <p:spPr bwMode="auto">
          <a:xfrm>
            <a:off x="0" y="-172554"/>
            <a:ext cx="9144000" cy="5143500"/>
          </a:xfrm>
          <a:prstGeom prst="rect">
            <a:avLst/>
          </a:prstGeom>
        </p:spPr>
      </p:pic>
      <p:sp>
        <p:nvSpPr>
          <p:cNvPr id="1844081732" name="Text 0"/>
          <p:cNvSpPr/>
          <p:nvPr/>
        </p:nvSpPr>
        <p:spPr bwMode="auto">
          <a:xfrm>
            <a:off x="502920" y="347472"/>
            <a:ext cx="2011680" cy="256032"/>
          </a:xfrm>
          <a:prstGeom prst="rect">
            <a:avLst/>
          </a:prstGeom>
          <a:noFill/>
          <a:ln/>
        </p:spPr>
        <p:txBody>
          <a:bodyPr wrap="square" lIns="0" tIns="0" rIns="0" bIns="0" rtlCol="0" anchor="ctr"/>
          <a:lstStyle/>
          <a:p>
            <a:pPr marL="0" indent="0">
              <a:buNone/>
              <a:defRPr/>
            </a:pPr>
            <a:r>
              <a:rPr lang="en-US" sz="900" b="1" spc="200">
                <a:solidFill>
                  <a:srgbClr val="E5187F"/>
                </a:solidFill>
                <a:latin typeface="Calibri"/>
                <a:ea typeface="Calibri"/>
                <a:cs typeface="Calibri"/>
              </a:rPr>
              <a:t>• LE DÉFI</a:t>
            </a:r>
            <a:endParaRPr lang="en-US" sz="900"/>
          </a:p>
        </p:txBody>
      </p:sp>
      <p:sp>
        <p:nvSpPr>
          <p:cNvPr id="1468328434" name="Text 1"/>
          <p:cNvSpPr/>
          <p:nvPr/>
        </p:nvSpPr>
        <p:spPr bwMode="auto">
          <a:xfrm>
            <a:off x="502920" y="658368"/>
            <a:ext cx="8229600" cy="1097280"/>
          </a:xfrm>
          <a:prstGeom prst="rect">
            <a:avLst/>
          </a:prstGeom>
          <a:noFill/>
          <a:ln/>
        </p:spPr>
        <p:txBody>
          <a:bodyPr wrap="square" rtlCol="0" anchor="ctr"/>
          <a:lstStyle/>
          <a:p>
            <a:pPr marL="0" indent="0">
              <a:lnSpc>
                <a:spcPct val="120000"/>
              </a:lnSpc>
              <a:buNone/>
              <a:defRPr/>
            </a:pPr>
            <a:r>
              <a:rPr lang="en-US" sz="2800" b="1">
                <a:solidFill>
                  <a:srgbClr val="FFFFFF"/>
                </a:solidFill>
                <a:latin typeface="Cambria"/>
                <a:ea typeface="Cambria"/>
                <a:cs typeface="Cambria"/>
              </a:rPr>
              <a:t>Comment diffuser la vidéo en entreprise avec</a:t>
            </a:r>
            <a:endParaRPr lang="en-US" sz="2800"/>
          </a:p>
          <a:p>
            <a:pPr marL="0" indent="0">
              <a:lnSpc>
                <a:spcPct val="120000"/>
              </a:lnSpc>
              <a:buNone/>
              <a:defRPr/>
            </a:pPr>
            <a:r>
              <a:rPr lang="en-US" sz="2800" b="1">
                <a:solidFill>
                  <a:srgbClr val="FFFFFF"/>
                </a:solidFill>
                <a:latin typeface="Cambria"/>
                <a:ea typeface="Cambria"/>
                <a:cs typeface="Cambria"/>
              </a:rPr>
              <a:t>efficacité, sécurité et intelligence ?</a:t>
            </a:r>
            <a:endParaRPr lang="en-US" sz="2800"/>
          </a:p>
        </p:txBody>
      </p:sp>
      <p:sp>
        <p:nvSpPr>
          <p:cNvPr id="28468296" name="Shape 2"/>
          <p:cNvSpPr/>
          <p:nvPr/>
        </p:nvSpPr>
        <p:spPr bwMode="auto">
          <a:xfrm>
            <a:off x="457200" y="1920240"/>
            <a:ext cx="2697480" cy="2907792"/>
          </a:xfrm>
          <a:prstGeom prst="roundRect">
            <a:avLst>
              <a:gd name="adj" fmla="val 4068"/>
            </a:avLst>
          </a:prstGeom>
          <a:solidFill>
            <a:srgbClr val="2F2A3E"/>
          </a:solidFill>
          <a:ln w="12700">
            <a:solidFill>
              <a:srgbClr val="3D3750"/>
            </a:solidFill>
            <a:prstDash val="solid"/>
          </a:ln>
        </p:spPr>
      </p:sp>
      <p:pic>
        <p:nvPicPr>
          <p:cNvPr id="311223821" name="Image 1" descr="preencoded.png"/>
          <p:cNvPicPr>
            <a:picLocks noChangeAspect="1"/>
          </p:cNvPicPr>
          <p:nvPr/>
        </p:nvPicPr>
        <p:blipFill rotWithShape="1">
          <a:blip r:embed="rId4"/>
          <a:stretch/>
        </p:blipFill>
        <p:spPr bwMode="auto">
          <a:xfrm>
            <a:off x="1481328" y="2103120"/>
            <a:ext cx="658368" cy="658368"/>
          </a:xfrm>
          <a:prstGeom prst="rect">
            <a:avLst/>
          </a:prstGeom>
        </p:spPr>
      </p:pic>
      <p:pic>
        <p:nvPicPr>
          <p:cNvPr id="1288357024" name="Image 2" descr="preencoded.png"/>
          <p:cNvPicPr>
            <a:picLocks noChangeAspect="1"/>
          </p:cNvPicPr>
          <p:nvPr/>
        </p:nvPicPr>
        <p:blipFill rotWithShape="1">
          <a:blip r:embed="rId5"/>
          <a:stretch/>
        </p:blipFill>
        <p:spPr bwMode="auto">
          <a:xfrm>
            <a:off x="1626169" y="2247961"/>
            <a:ext cx="368686" cy="368686"/>
          </a:xfrm>
          <a:prstGeom prst="rect">
            <a:avLst/>
          </a:prstGeom>
        </p:spPr>
      </p:pic>
      <p:sp>
        <p:nvSpPr>
          <p:cNvPr id="1288391830" name="Text 3"/>
          <p:cNvSpPr/>
          <p:nvPr/>
        </p:nvSpPr>
        <p:spPr bwMode="auto">
          <a:xfrm>
            <a:off x="621792" y="2880360"/>
            <a:ext cx="2377440" cy="365760"/>
          </a:xfrm>
          <a:prstGeom prst="rect">
            <a:avLst/>
          </a:prstGeom>
          <a:noFill/>
          <a:ln/>
        </p:spPr>
        <p:txBody>
          <a:bodyPr wrap="square" lIns="0" tIns="0" rIns="0" bIns="0" rtlCol="0" anchor="ctr"/>
          <a:lstStyle/>
          <a:p>
            <a:pPr marL="0" indent="0" algn="ctr">
              <a:buNone/>
              <a:defRPr/>
            </a:pPr>
            <a:r>
              <a:rPr lang="en-US" sz="1500" b="1">
                <a:solidFill>
                  <a:srgbClr val="FFFFFF"/>
                </a:solidFill>
                <a:latin typeface="Cambria"/>
                <a:ea typeface="Cambria"/>
                <a:cs typeface="Cambria"/>
              </a:rPr>
              <a:t>Collaboration</a:t>
            </a:r>
            <a:endParaRPr lang="en-US" sz="1500"/>
          </a:p>
        </p:txBody>
      </p:sp>
      <p:sp>
        <p:nvSpPr>
          <p:cNvPr id="661612647" name="Text 4"/>
          <p:cNvSpPr/>
          <p:nvPr/>
        </p:nvSpPr>
        <p:spPr bwMode="auto">
          <a:xfrm>
            <a:off x="621792" y="3310127"/>
            <a:ext cx="2377440" cy="1325880"/>
          </a:xfrm>
          <a:prstGeom prst="rect">
            <a:avLst/>
          </a:prstGeom>
          <a:noFill/>
          <a:ln/>
        </p:spPr>
        <p:txBody>
          <a:bodyPr wrap="square" rtlCol="0" anchor="ctr"/>
          <a:lstStyle/>
          <a:p>
            <a:pPr marL="0" indent="0" algn="ctr">
              <a:buNone/>
              <a:defRPr/>
            </a:pPr>
            <a:r>
              <a:rPr lang="en-US" sz="1100">
                <a:solidFill>
                  <a:srgbClr val="A7A2B6"/>
                </a:solidFill>
                <a:latin typeface="Calibri"/>
                <a:ea typeface="Calibri"/>
                <a:cs typeface="Calibri"/>
              </a:rPr>
              <a:t>Travailler ensemble sur du contenu vidéo en temps réel, annoter, commenter, présenter à distance.</a:t>
            </a:r>
            <a:endParaRPr lang="en-US" sz="1100"/>
          </a:p>
        </p:txBody>
      </p:sp>
      <p:sp>
        <p:nvSpPr>
          <p:cNvPr id="1982901849" name="Shape 5"/>
          <p:cNvSpPr/>
          <p:nvPr/>
        </p:nvSpPr>
        <p:spPr bwMode="auto">
          <a:xfrm>
            <a:off x="3364992" y="1920240"/>
            <a:ext cx="2697480" cy="2907792"/>
          </a:xfrm>
          <a:prstGeom prst="roundRect">
            <a:avLst>
              <a:gd name="adj" fmla="val 4068"/>
            </a:avLst>
          </a:prstGeom>
          <a:solidFill>
            <a:srgbClr val="2F2A3E"/>
          </a:solidFill>
          <a:ln w="12700">
            <a:solidFill>
              <a:srgbClr val="3D3750"/>
            </a:solidFill>
            <a:prstDash val="solid"/>
          </a:ln>
        </p:spPr>
      </p:sp>
      <p:pic>
        <p:nvPicPr>
          <p:cNvPr id="840812684" name="Image 3" descr="preencoded.png"/>
          <p:cNvPicPr>
            <a:picLocks noChangeAspect="1"/>
          </p:cNvPicPr>
          <p:nvPr/>
        </p:nvPicPr>
        <p:blipFill rotWithShape="1">
          <a:blip r:embed="rId4"/>
          <a:stretch/>
        </p:blipFill>
        <p:spPr bwMode="auto">
          <a:xfrm>
            <a:off x="4389120" y="2103120"/>
            <a:ext cx="658368" cy="658368"/>
          </a:xfrm>
          <a:prstGeom prst="rect">
            <a:avLst/>
          </a:prstGeom>
        </p:spPr>
      </p:pic>
      <p:pic>
        <p:nvPicPr>
          <p:cNvPr id="628043788" name="Image 4" descr="preencoded.png"/>
          <p:cNvPicPr>
            <a:picLocks noChangeAspect="1"/>
          </p:cNvPicPr>
          <p:nvPr/>
        </p:nvPicPr>
        <p:blipFill rotWithShape="1">
          <a:blip r:embed="rId6"/>
          <a:stretch/>
        </p:blipFill>
        <p:spPr bwMode="auto">
          <a:xfrm>
            <a:off x="4533961" y="2247961"/>
            <a:ext cx="368686" cy="368686"/>
          </a:xfrm>
          <a:prstGeom prst="rect">
            <a:avLst/>
          </a:prstGeom>
        </p:spPr>
      </p:pic>
      <p:sp>
        <p:nvSpPr>
          <p:cNvPr id="992594369" name="Text 6"/>
          <p:cNvSpPr/>
          <p:nvPr/>
        </p:nvSpPr>
        <p:spPr bwMode="auto">
          <a:xfrm>
            <a:off x="3529584" y="2880360"/>
            <a:ext cx="2377440" cy="365760"/>
          </a:xfrm>
          <a:prstGeom prst="rect">
            <a:avLst/>
          </a:prstGeom>
          <a:noFill/>
          <a:ln/>
        </p:spPr>
        <p:txBody>
          <a:bodyPr wrap="square" lIns="0" tIns="0" rIns="0" bIns="0" rtlCol="0" anchor="ctr"/>
          <a:lstStyle/>
          <a:p>
            <a:pPr marL="0" indent="0" algn="ctr">
              <a:buNone/>
              <a:defRPr/>
            </a:pPr>
            <a:r>
              <a:rPr lang="en-US" sz="1500" b="1">
                <a:solidFill>
                  <a:srgbClr val="FFFFFF"/>
                </a:solidFill>
                <a:latin typeface="Cambria"/>
                <a:ea typeface="Cambria"/>
                <a:cs typeface="Cambria"/>
              </a:rPr>
              <a:t>Sécurité</a:t>
            </a:r>
            <a:endParaRPr lang="en-US" sz="1500"/>
          </a:p>
        </p:txBody>
      </p:sp>
      <p:sp>
        <p:nvSpPr>
          <p:cNvPr id="1521083221" name="Text 7"/>
          <p:cNvSpPr/>
          <p:nvPr/>
        </p:nvSpPr>
        <p:spPr bwMode="auto">
          <a:xfrm>
            <a:off x="3529584" y="3310127"/>
            <a:ext cx="2377440" cy="1325880"/>
          </a:xfrm>
          <a:prstGeom prst="rect">
            <a:avLst/>
          </a:prstGeom>
          <a:noFill/>
          <a:ln/>
        </p:spPr>
        <p:txBody>
          <a:bodyPr wrap="square" rtlCol="0" anchor="ctr"/>
          <a:lstStyle/>
          <a:p>
            <a:pPr marL="0" indent="0" algn="ctr">
              <a:buNone/>
              <a:defRPr/>
            </a:pPr>
            <a:r>
              <a:rPr lang="en-US" sz="1100">
                <a:solidFill>
                  <a:srgbClr val="A7A2B6"/>
                </a:solidFill>
                <a:latin typeface="Calibri"/>
                <a:ea typeface="Calibri"/>
                <a:cs typeface="Calibri"/>
              </a:rPr>
              <a:t>Protéger les flux vidéo sensibles contre le piratage, le scraping et les accès non autorisés.</a:t>
            </a:r>
            <a:endParaRPr lang="en-US" sz="1100"/>
          </a:p>
        </p:txBody>
      </p:sp>
      <p:sp>
        <p:nvSpPr>
          <p:cNvPr id="2000451645" name="Shape 8"/>
          <p:cNvSpPr/>
          <p:nvPr/>
        </p:nvSpPr>
        <p:spPr bwMode="auto">
          <a:xfrm>
            <a:off x="6272784" y="1920240"/>
            <a:ext cx="2697480" cy="2907792"/>
          </a:xfrm>
          <a:prstGeom prst="roundRect">
            <a:avLst>
              <a:gd name="adj" fmla="val 4068"/>
            </a:avLst>
          </a:prstGeom>
          <a:solidFill>
            <a:srgbClr val="2F2A3E"/>
          </a:solidFill>
          <a:ln w="12700">
            <a:solidFill>
              <a:srgbClr val="3D3750"/>
            </a:solidFill>
            <a:prstDash val="solid"/>
          </a:ln>
        </p:spPr>
      </p:sp>
      <p:pic>
        <p:nvPicPr>
          <p:cNvPr id="483889873" name="Image 5" descr="preencoded.png"/>
          <p:cNvPicPr>
            <a:picLocks noChangeAspect="1"/>
          </p:cNvPicPr>
          <p:nvPr/>
        </p:nvPicPr>
        <p:blipFill rotWithShape="1">
          <a:blip r:embed="rId4"/>
          <a:stretch/>
        </p:blipFill>
        <p:spPr bwMode="auto">
          <a:xfrm>
            <a:off x="7296912" y="2103120"/>
            <a:ext cx="658368" cy="658368"/>
          </a:xfrm>
          <a:prstGeom prst="rect">
            <a:avLst/>
          </a:prstGeom>
        </p:spPr>
      </p:pic>
      <p:pic>
        <p:nvPicPr>
          <p:cNvPr id="1218908454" name="Image 6" descr="preencoded.png"/>
          <p:cNvPicPr>
            <a:picLocks noChangeAspect="1"/>
          </p:cNvPicPr>
          <p:nvPr/>
        </p:nvPicPr>
        <p:blipFill rotWithShape="1">
          <a:blip r:embed="rId7"/>
          <a:stretch/>
        </p:blipFill>
        <p:spPr bwMode="auto">
          <a:xfrm>
            <a:off x="7441753" y="2247961"/>
            <a:ext cx="368686" cy="368686"/>
          </a:xfrm>
          <a:prstGeom prst="rect">
            <a:avLst/>
          </a:prstGeom>
        </p:spPr>
      </p:pic>
      <p:sp>
        <p:nvSpPr>
          <p:cNvPr id="771013376" name="Text 9"/>
          <p:cNvSpPr/>
          <p:nvPr/>
        </p:nvSpPr>
        <p:spPr bwMode="auto">
          <a:xfrm>
            <a:off x="6437376" y="2880360"/>
            <a:ext cx="2377440" cy="365760"/>
          </a:xfrm>
          <a:prstGeom prst="rect">
            <a:avLst/>
          </a:prstGeom>
          <a:noFill/>
          <a:ln/>
        </p:spPr>
        <p:txBody>
          <a:bodyPr wrap="square" lIns="0" tIns="0" rIns="0" bIns="0" rtlCol="0" anchor="ctr"/>
          <a:lstStyle/>
          <a:p>
            <a:pPr marL="0" indent="0" algn="ctr">
              <a:buNone/>
              <a:defRPr/>
            </a:pPr>
            <a:r>
              <a:rPr lang="en-US" sz="1500" b="1">
                <a:solidFill>
                  <a:srgbClr val="FFFFFF"/>
                </a:solidFill>
                <a:latin typeface="Cambria"/>
                <a:ea typeface="Cambria"/>
                <a:cs typeface="Cambria"/>
              </a:rPr>
              <a:t>Intelligence</a:t>
            </a:r>
            <a:endParaRPr lang="en-US" sz="1500"/>
          </a:p>
        </p:txBody>
      </p:sp>
      <p:sp>
        <p:nvSpPr>
          <p:cNvPr id="1795481968" name="Text 10"/>
          <p:cNvSpPr/>
          <p:nvPr/>
        </p:nvSpPr>
        <p:spPr bwMode="auto">
          <a:xfrm>
            <a:off x="6437376" y="3310127"/>
            <a:ext cx="2377440" cy="1325880"/>
          </a:xfrm>
          <a:prstGeom prst="rect">
            <a:avLst/>
          </a:prstGeom>
          <a:noFill/>
          <a:ln/>
        </p:spPr>
        <p:txBody>
          <a:bodyPr wrap="square" rtlCol="0" anchor="ctr"/>
          <a:lstStyle/>
          <a:p>
            <a:pPr marL="0" indent="0" algn="ctr">
              <a:buNone/>
              <a:defRPr/>
            </a:pPr>
            <a:r>
              <a:rPr lang="en-US" sz="1100">
                <a:solidFill>
                  <a:srgbClr val="A7A2B6"/>
                </a:solidFill>
                <a:latin typeface="Calibri"/>
                <a:ea typeface="Calibri"/>
                <a:cs typeface="Calibri"/>
              </a:rPr>
              <a:t>Valoriser les contenus grâce à l'IA : transcription, analyse d'audience et prédiction de rétention.</a:t>
            </a:r>
            <a:endParaRPr lang="en-US" sz="11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name="Slide 4">
    <p:spTree>
      <p:nvGrpSpPr>
        <p:cNvPr id="1" name=""/>
        <p:cNvGrpSpPr/>
        <p:nvPr/>
      </p:nvGrpSpPr>
      <p:grpSpPr bwMode="auto">
        <a:xfrm>
          <a:off x="0" y="0"/>
          <a:ext cx="0" cy="0"/>
          <a:chOff x="0" y="0"/>
          <a:chExt cx="0" cy="0"/>
        </a:xfrm>
      </p:grpSpPr>
      <p:pic>
        <p:nvPicPr>
          <p:cNvPr id="1254921426" name="Image 0" descr="preencoded.png"/>
          <p:cNvPicPr>
            <a:picLocks noChangeAspect="1"/>
          </p:cNvPicPr>
          <p:nvPr/>
        </p:nvPicPr>
        <p:blipFill rotWithShape="1">
          <a:blip r:embed="rId3"/>
          <a:stretch/>
        </p:blipFill>
        <p:spPr bwMode="auto">
          <a:xfrm>
            <a:off x="0" y="0"/>
            <a:ext cx="9144000" cy="5143500"/>
          </a:xfrm>
          <a:prstGeom prst="rect">
            <a:avLst/>
          </a:prstGeom>
        </p:spPr>
      </p:pic>
      <p:sp>
        <p:nvSpPr>
          <p:cNvPr id="449123058" name="Text 0"/>
          <p:cNvSpPr/>
          <p:nvPr/>
        </p:nvSpPr>
        <p:spPr bwMode="auto">
          <a:xfrm>
            <a:off x="502920" y="347472"/>
            <a:ext cx="2011680" cy="256032"/>
          </a:xfrm>
          <a:prstGeom prst="rect">
            <a:avLst/>
          </a:prstGeom>
          <a:noFill/>
          <a:ln/>
        </p:spPr>
        <p:txBody>
          <a:bodyPr wrap="square" lIns="0" tIns="0" rIns="0" bIns="0" rtlCol="0" anchor="ctr"/>
          <a:lstStyle/>
          <a:p>
            <a:pPr marL="0" indent="0">
              <a:buNone/>
              <a:defRPr/>
            </a:pPr>
            <a:r>
              <a:rPr lang="en-US" sz="900" b="1" spc="200">
                <a:solidFill>
                  <a:srgbClr val="E5187F"/>
                </a:solidFill>
                <a:latin typeface="Calibri"/>
                <a:ea typeface="Calibri"/>
                <a:cs typeface="Calibri"/>
              </a:rPr>
              <a:t>• STRUCTURE DU HACKATHON</a:t>
            </a:r>
            <a:endParaRPr lang="en-US" sz="900"/>
          </a:p>
        </p:txBody>
      </p:sp>
      <p:sp>
        <p:nvSpPr>
          <p:cNvPr id="293464898" name="Text 1"/>
          <p:cNvSpPr/>
          <p:nvPr/>
        </p:nvSpPr>
        <p:spPr bwMode="auto">
          <a:xfrm>
            <a:off x="502920" y="658368"/>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mbria"/>
                <a:ea typeface="Cambria"/>
                <a:cs typeface="Cambria"/>
              </a:rPr>
              <a:t>Trois pôles</a:t>
            </a:r>
            <a:endParaRPr lang="en-US" sz="3000"/>
          </a:p>
        </p:txBody>
      </p:sp>
      <p:sp>
        <p:nvSpPr>
          <p:cNvPr id="917455710" name="Text 2"/>
          <p:cNvSpPr/>
          <p:nvPr/>
        </p:nvSpPr>
        <p:spPr bwMode="auto">
          <a:xfrm>
            <a:off x="502920" y="1298448"/>
            <a:ext cx="8229600" cy="320040"/>
          </a:xfrm>
          <a:prstGeom prst="rect">
            <a:avLst/>
          </a:prstGeom>
          <a:noFill/>
          <a:ln/>
        </p:spPr>
        <p:txBody>
          <a:bodyPr wrap="square" lIns="0" tIns="0" rIns="0" bIns="0" rtlCol="0" anchor="ctr"/>
          <a:lstStyle/>
          <a:p>
            <a:pPr marL="0" indent="0">
              <a:buNone/>
              <a:defRPr/>
            </a:pPr>
            <a:r>
              <a:rPr lang="en-US" sz="1200">
                <a:solidFill>
                  <a:srgbClr val="A7A2B6"/>
                </a:solidFill>
                <a:latin typeface="Calibri"/>
                <a:ea typeface="Calibri"/>
                <a:cs typeface="Calibri"/>
              </a:rPr>
              <a:t>3 pôles pluridisciplinaires  ·  2 sujets par pôle </a:t>
            </a:r>
            <a:endParaRPr lang="en-US" sz="1200"/>
          </a:p>
        </p:txBody>
      </p:sp>
      <p:sp>
        <p:nvSpPr>
          <p:cNvPr id="507752166" name="Shape 3"/>
          <p:cNvSpPr/>
          <p:nvPr/>
        </p:nvSpPr>
        <p:spPr bwMode="auto">
          <a:xfrm>
            <a:off x="457200" y="1755648"/>
            <a:ext cx="8183880" cy="914400"/>
          </a:xfrm>
          <a:prstGeom prst="roundRect">
            <a:avLst>
              <a:gd name="adj" fmla="val 12000"/>
            </a:avLst>
          </a:prstGeom>
          <a:solidFill>
            <a:srgbClr val="2F2A3E"/>
          </a:solidFill>
          <a:ln w="12700">
            <a:solidFill>
              <a:srgbClr val="3D3750"/>
            </a:solidFill>
            <a:prstDash val="solid"/>
          </a:ln>
        </p:spPr>
      </p:sp>
      <p:pic>
        <p:nvPicPr>
          <p:cNvPr id="1523033985" name="Image 1" descr="preencoded.png"/>
          <p:cNvPicPr>
            <a:picLocks noChangeAspect="1"/>
          </p:cNvPicPr>
          <p:nvPr/>
        </p:nvPicPr>
        <p:blipFill rotWithShape="1">
          <a:blip r:embed="rId4"/>
          <a:stretch/>
        </p:blipFill>
        <p:spPr bwMode="auto">
          <a:xfrm>
            <a:off x="621792" y="1865376"/>
            <a:ext cx="685800" cy="685800"/>
          </a:xfrm>
          <a:prstGeom prst="rect">
            <a:avLst/>
          </a:prstGeom>
        </p:spPr>
      </p:pic>
      <p:pic>
        <p:nvPicPr>
          <p:cNvPr id="596228195" name="Image 2" descr="preencoded.png"/>
          <p:cNvPicPr>
            <a:picLocks noChangeAspect="1"/>
          </p:cNvPicPr>
          <p:nvPr/>
        </p:nvPicPr>
        <p:blipFill rotWithShape="1">
          <a:blip r:embed="rId5"/>
          <a:stretch/>
        </p:blipFill>
        <p:spPr bwMode="auto">
          <a:xfrm>
            <a:off x="772668" y="2016252"/>
            <a:ext cx="384048" cy="384048"/>
          </a:xfrm>
          <a:prstGeom prst="rect">
            <a:avLst/>
          </a:prstGeom>
        </p:spPr>
      </p:pic>
      <p:sp>
        <p:nvSpPr>
          <p:cNvPr id="1380150249" name="Text 4"/>
          <p:cNvSpPr/>
          <p:nvPr/>
        </p:nvSpPr>
        <p:spPr bwMode="auto">
          <a:xfrm>
            <a:off x="1481328" y="1847088"/>
            <a:ext cx="5303520" cy="365760"/>
          </a:xfrm>
          <a:prstGeom prst="rect">
            <a:avLst/>
          </a:prstGeom>
          <a:noFill/>
          <a:ln/>
        </p:spPr>
        <p:txBody>
          <a:bodyPr wrap="square" lIns="0" tIns="0" rIns="0" bIns="0" rtlCol="0" anchor="ctr"/>
          <a:lstStyle/>
          <a:p>
            <a:pPr marL="0" indent="0">
              <a:buNone/>
              <a:defRPr/>
            </a:pPr>
            <a:r>
              <a:rPr lang="en-US" sz="1600" b="1">
                <a:solidFill>
                  <a:srgbClr val="FFFFFF"/>
                </a:solidFill>
                <a:latin typeface="Cambria"/>
                <a:ea typeface="Cambria"/>
                <a:cs typeface="Cambria"/>
              </a:rPr>
              <a:t>Application &amp; Collaboration</a:t>
            </a:r>
            <a:endParaRPr lang="en-US" sz="1600"/>
          </a:p>
        </p:txBody>
      </p:sp>
      <p:sp>
        <p:nvSpPr>
          <p:cNvPr id="223022340" name="Text 5"/>
          <p:cNvSpPr/>
          <p:nvPr/>
        </p:nvSpPr>
        <p:spPr bwMode="auto">
          <a:xfrm>
            <a:off x="1481328" y="2258568"/>
            <a:ext cx="5303520" cy="274320"/>
          </a:xfrm>
          <a:prstGeom prst="rect">
            <a:avLst/>
          </a:prstGeom>
          <a:noFill/>
          <a:ln/>
        </p:spPr>
        <p:txBody>
          <a:bodyPr wrap="square" lIns="0" tIns="0" rIns="0" bIns="0" rtlCol="0" anchor="ctr"/>
          <a:lstStyle/>
          <a:p>
            <a:pPr marL="0" indent="0">
              <a:buNone/>
              <a:defRPr/>
            </a:pPr>
            <a:r>
              <a:rPr lang="en-US" sz="1100">
                <a:solidFill>
                  <a:srgbClr val="A7A2B6"/>
                </a:solidFill>
                <a:latin typeface="Calibri"/>
                <a:ea typeface="Calibri"/>
                <a:cs typeface="Calibri"/>
              </a:rPr>
              <a:t>Profils cibles : DEV / Web</a:t>
            </a:r>
            <a:endParaRPr lang="en-US" sz="1100"/>
          </a:p>
        </p:txBody>
      </p:sp>
      <p:sp>
        <p:nvSpPr>
          <p:cNvPr id="627643443" name="Shape 6"/>
          <p:cNvSpPr/>
          <p:nvPr/>
        </p:nvSpPr>
        <p:spPr bwMode="auto">
          <a:xfrm>
            <a:off x="7406640" y="2002536"/>
            <a:ext cx="1051560" cy="365760"/>
          </a:xfrm>
          <a:prstGeom prst="roundRect">
            <a:avLst>
              <a:gd name="adj" fmla="val 30000"/>
            </a:avLst>
          </a:prstGeom>
          <a:solidFill>
            <a:srgbClr val="FFFFFF">
              <a:alpha val="12000"/>
            </a:srgbClr>
          </a:solidFill>
          <a:ln w="12700">
            <a:solidFill>
              <a:srgbClr val="E5187F"/>
            </a:solidFill>
            <a:prstDash val="solid"/>
          </a:ln>
        </p:spPr>
      </p:sp>
      <p:sp>
        <p:nvSpPr>
          <p:cNvPr id="509860178" name="Text 7"/>
          <p:cNvSpPr/>
          <p:nvPr/>
        </p:nvSpPr>
        <p:spPr bwMode="auto">
          <a:xfrm>
            <a:off x="7406640" y="2002536"/>
            <a:ext cx="1051560" cy="365760"/>
          </a:xfrm>
          <a:prstGeom prst="rect">
            <a:avLst/>
          </a:prstGeom>
          <a:noFill/>
          <a:ln/>
        </p:spPr>
        <p:txBody>
          <a:bodyPr wrap="square" lIns="0" tIns="0" rIns="0" bIns="0" rtlCol="0" anchor="ctr"/>
          <a:lstStyle/>
          <a:p>
            <a:pPr marL="0" indent="0" algn="ctr">
              <a:buNone/>
              <a:defRPr/>
            </a:pPr>
            <a:r>
              <a:rPr lang="en-US" sz="1100" b="1">
                <a:solidFill>
                  <a:srgbClr val="E5187F"/>
                </a:solidFill>
                <a:latin typeface="Calibri"/>
                <a:ea typeface="Calibri"/>
                <a:cs typeface="Calibri"/>
              </a:rPr>
              <a:t>2 sujets</a:t>
            </a:r>
            <a:endParaRPr lang="en-US" sz="1100"/>
          </a:p>
        </p:txBody>
      </p:sp>
      <p:sp>
        <p:nvSpPr>
          <p:cNvPr id="1128416602" name="Shape 8"/>
          <p:cNvSpPr/>
          <p:nvPr/>
        </p:nvSpPr>
        <p:spPr bwMode="auto">
          <a:xfrm>
            <a:off x="457200" y="2779776"/>
            <a:ext cx="8183880" cy="914400"/>
          </a:xfrm>
          <a:prstGeom prst="roundRect">
            <a:avLst>
              <a:gd name="adj" fmla="val 12000"/>
            </a:avLst>
          </a:prstGeom>
          <a:solidFill>
            <a:srgbClr val="2F2A3E"/>
          </a:solidFill>
          <a:ln w="12700">
            <a:solidFill>
              <a:srgbClr val="3D3750"/>
            </a:solidFill>
            <a:prstDash val="solid"/>
          </a:ln>
        </p:spPr>
      </p:sp>
      <p:pic>
        <p:nvPicPr>
          <p:cNvPr id="555008682" name="Image 3" descr="preencoded.png"/>
          <p:cNvPicPr>
            <a:picLocks noChangeAspect="1"/>
          </p:cNvPicPr>
          <p:nvPr/>
        </p:nvPicPr>
        <p:blipFill rotWithShape="1">
          <a:blip r:embed="rId4"/>
          <a:stretch/>
        </p:blipFill>
        <p:spPr bwMode="auto">
          <a:xfrm>
            <a:off x="621792" y="2889504"/>
            <a:ext cx="685800" cy="685800"/>
          </a:xfrm>
          <a:prstGeom prst="rect">
            <a:avLst/>
          </a:prstGeom>
        </p:spPr>
      </p:pic>
      <p:pic>
        <p:nvPicPr>
          <p:cNvPr id="525213941" name="Image 4" descr="preencoded.png"/>
          <p:cNvPicPr>
            <a:picLocks noChangeAspect="1"/>
          </p:cNvPicPr>
          <p:nvPr/>
        </p:nvPicPr>
        <p:blipFill rotWithShape="1">
          <a:blip r:embed="rId6"/>
          <a:stretch/>
        </p:blipFill>
        <p:spPr bwMode="auto">
          <a:xfrm>
            <a:off x="772668" y="3040380"/>
            <a:ext cx="384048" cy="384048"/>
          </a:xfrm>
          <a:prstGeom prst="rect">
            <a:avLst/>
          </a:prstGeom>
        </p:spPr>
      </p:pic>
      <p:sp>
        <p:nvSpPr>
          <p:cNvPr id="1223946269" name="Text 9"/>
          <p:cNvSpPr/>
          <p:nvPr/>
        </p:nvSpPr>
        <p:spPr bwMode="auto">
          <a:xfrm>
            <a:off x="1481328" y="2871216"/>
            <a:ext cx="5303520" cy="365760"/>
          </a:xfrm>
          <a:prstGeom prst="rect">
            <a:avLst/>
          </a:prstGeom>
          <a:noFill/>
          <a:ln/>
        </p:spPr>
        <p:txBody>
          <a:bodyPr wrap="square" lIns="0" tIns="0" rIns="0" bIns="0" rtlCol="0" anchor="ctr"/>
          <a:lstStyle/>
          <a:p>
            <a:pPr marL="0" indent="0">
              <a:buNone/>
              <a:defRPr/>
            </a:pPr>
            <a:r>
              <a:rPr lang="en-US" sz="1600" b="1">
                <a:solidFill>
                  <a:srgbClr val="FFFFFF"/>
                </a:solidFill>
                <a:latin typeface="Cambria"/>
                <a:ea typeface="Cambria"/>
                <a:cs typeface="Cambria"/>
              </a:rPr>
              <a:t>Infrastructure, Sécurité &amp; Cloud</a:t>
            </a:r>
            <a:endParaRPr lang="en-US" sz="1600"/>
          </a:p>
        </p:txBody>
      </p:sp>
      <p:sp>
        <p:nvSpPr>
          <p:cNvPr id="385662865" name="Text 10"/>
          <p:cNvSpPr/>
          <p:nvPr/>
        </p:nvSpPr>
        <p:spPr bwMode="auto">
          <a:xfrm>
            <a:off x="1481328" y="3282696"/>
            <a:ext cx="5303520" cy="274320"/>
          </a:xfrm>
          <a:prstGeom prst="rect">
            <a:avLst/>
          </a:prstGeom>
          <a:noFill/>
          <a:ln/>
        </p:spPr>
        <p:txBody>
          <a:bodyPr wrap="square" lIns="0" tIns="0" rIns="0" bIns="0" rtlCol="0" anchor="ctr"/>
          <a:lstStyle/>
          <a:p>
            <a:pPr marL="0" indent="0">
              <a:buNone/>
              <a:defRPr/>
            </a:pPr>
            <a:r>
              <a:rPr lang="en-US" sz="1100">
                <a:solidFill>
                  <a:srgbClr val="A7A2B6"/>
                </a:solidFill>
                <a:latin typeface="Calibri"/>
                <a:ea typeface="Calibri"/>
                <a:cs typeface="Calibri"/>
              </a:rPr>
              <a:t>Profils cibles : IT / DevOps / Cyber</a:t>
            </a:r>
            <a:endParaRPr lang="en-US" sz="1100"/>
          </a:p>
        </p:txBody>
      </p:sp>
      <p:sp>
        <p:nvSpPr>
          <p:cNvPr id="1550894917" name="Shape 11"/>
          <p:cNvSpPr/>
          <p:nvPr/>
        </p:nvSpPr>
        <p:spPr bwMode="auto">
          <a:xfrm>
            <a:off x="7406640" y="3026664"/>
            <a:ext cx="1051560" cy="365760"/>
          </a:xfrm>
          <a:prstGeom prst="roundRect">
            <a:avLst>
              <a:gd name="adj" fmla="val 30000"/>
            </a:avLst>
          </a:prstGeom>
          <a:solidFill>
            <a:srgbClr val="FFFFFF">
              <a:alpha val="12000"/>
            </a:srgbClr>
          </a:solidFill>
          <a:ln w="12700">
            <a:solidFill>
              <a:srgbClr val="E5187F"/>
            </a:solidFill>
            <a:prstDash val="solid"/>
          </a:ln>
        </p:spPr>
      </p:sp>
      <p:sp>
        <p:nvSpPr>
          <p:cNvPr id="188137554" name="Text 12"/>
          <p:cNvSpPr/>
          <p:nvPr/>
        </p:nvSpPr>
        <p:spPr bwMode="auto">
          <a:xfrm>
            <a:off x="7406640" y="3026664"/>
            <a:ext cx="1051560" cy="365760"/>
          </a:xfrm>
          <a:prstGeom prst="rect">
            <a:avLst/>
          </a:prstGeom>
          <a:noFill/>
          <a:ln/>
        </p:spPr>
        <p:txBody>
          <a:bodyPr wrap="square" lIns="0" tIns="0" rIns="0" bIns="0" rtlCol="0" anchor="ctr"/>
          <a:lstStyle/>
          <a:p>
            <a:pPr marL="0" indent="0" algn="ctr">
              <a:buNone/>
              <a:defRPr/>
            </a:pPr>
            <a:r>
              <a:rPr lang="en-US" sz="1100" b="1">
                <a:solidFill>
                  <a:srgbClr val="E5187F"/>
                </a:solidFill>
                <a:latin typeface="Calibri"/>
                <a:ea typeface="Calibri"/>
                <a:cs typeface="Calibri"/>
              </a:rPr>
              <a:t>2 sujets</a:t>
            </a:r>
            <a:endParaRPr lang="en-US" sz="1100"/>
          </a:p>
        </p:txBody>
      </p:sp>
      <p:sp>
        <p:nvSpPr>
          <p:cNvPr id="847600454" name="Shape 13"/>
          <p:cNvSpPr/>
          <p:nvPr/>
        </p:nvSpPr>
        <p:spPr bwMode="auto">
          <a:xfrm>
            <a:off x="457200" y="3803904"/>
            <a:ext cx="8183880" cy="914400"/>
          </a:xfrm>
          <a:prstGeom prst="roundRect">
            <a:avLst>
              <a:gd name="adj" fmla="val 12000"/>
            </a:avLst>
          </a:prstGeom>
          <a:solidFill>
            <a:srgbClr val="2F2A3E"/>
          </a:solidFill>
          <a:ln w="12700">
            <a:solidFill>
              <a:srgbClr val="3D3750"/>
            </a:solidFill>
            <a:prstDash val="solid"/>
          </a:ln>
        </p:spPr>
      </p:sp>
      <p:pic>
        <p:nvPicPr>
          <p:cNvPr id="544360153" name="Image 5" descr="preencoded.png"/>
          <p:cNvPicPr>
            <a:picLocks noChangeAspect="1"/>
          </p:cNvPicPr>
          <p:nvPr/>
        </p:nvPicPr>
        <p:blipFill rotWithShape="1">
          <a:blip r:embed="rId4"/>
          <a:stretch/>
        </p:blipFill>
        <p:spPr bwMode="auto">
          <a:xfrm>
            <a:off x="621792" y="3913632"/>
            <a:ext cx="685800" cy="685800"/>
          </a:xfrm>
          <a:prstGeom prst="rect">
            <a:avLst/>
          </a:prstGeom>
        </p:spPr>
      </p:pic>
      <p:pic>
        <p:nvPicPr>
          <p:cNvPr id="264901279" name="Image 6" descr="preencoded.png"/>
          <p:cNvPicPr>
            <a:picLocks noChangeAspect="1"/>
          </p:cNvPicPr>
          <p:nvPr/>
        </p:nvPicPr>
        <p:blipFill rotWithShape="1">
          <a:blip r:embed="rId7"/>
          <a:stretch/>
        </p:blipFill>
        <p:spPr bwMode="auto">
          <a:xfrm>
            <a:off x="772668" y="4064508"/>
            <a:ext cx="384048" cy="384048"/>
          </a:xfrm>
          <a:prstGeom prst="rect">
            <a:avLst/>
          </a:prstGeom>
        </p:spPr>
      </p:pic>
      <p:sp>
        <p:nvSpPr>
          <p:cNvPr id="1742140461" name="Text 14"/>
          <p:cNvSpPr/>
          <p:nvPr/>
        </p:nvSpPr>
        <p:spPr bwMode="auto">
          <a:xfrm>
            <a:off x="1481328" y="3895343"/>
            <a:ext cx="5303520" cy="365760"/>
          </a:xfrm>
          <a:prstGeom prst="rect">
            <a:avLst/>
          </a:prstGeom>
          <a:noFill/>
          <a:ln/>
        </p:spPr>
        <p:txBody>
          <a:bodyPr wrap="square" lIns="0" tIns="0" rIns="0" bIns="0" rtlCol="0" anchor="ctr"/>
          <a:lstStyle/>
          <a:p>
            <a:pPr marL="0" indent="0">
              <a:buNone/>
              <a:defRPr/>
            </a:pPr>
            <a:r>
              <a:rPr lang="en-US" sz="1600" b="1">
                <a:solidFill>
                  <a:srgbClr val="FFFFFF"/>
                </a:solidFill>
                <a:latin typeface="Cambria"/>
                <a:ea typeface="Cambria"/>
                <a:cs typeface="Cambria"/>
              </a:rPr>
              <a:t>Intelligence Artificielle &amp; Data</a:t>
            </a:r>
            <a:endParaRPr lang="en-US" sz="1600"/>
          </a:p>
        </p:txBody>
      </p:sp>
      <p:sp>
        <p:nvSpPr>
          <p:cNvPr id="673277592" name="Text 15"/>
          <p:cNvSpPr/>
          <p:nvPr/>
        </p:nvSpPr>
        <p:spPr bwMode="auto">
          <a:xfrm>
            <a:off x="1481328" y="4306824"/>
            <a:ext cx="5303520" cy="274320"/>
          </a:xfrm>
          <a:prstGeom prst="rect">
            <a:avLst/>
          </a:prstGeom>
          <a:noFill/>
          <a:ln/>
        </p:spPr>
        <p:txBody>
          <a:bodyPr wrap="square" lIns="0" tIns="0" rIns="0" bIns="0" rtlCol="0" anchor="ctr"/>
          <a:lstStyle/>
          <a:p>
            <a:pPr marL="0" indent="0">
              <a:buNone/>
              <a:defRPr/>
            </a:pPr>
            <a:r>
              <a:rPr lang="en-US" sz="1100">
                <a:solidFill>
                  <a:srgbClr val="A7A2B6"/>
                </a:solidFill>
                <a:latin typeface="Calibri"/>
                <a:ea typeface="Calibri"/>
                <a:cs typeface="Calibri"/>
              </a:rPr>
              <a:t>Profils cibles : DATA / IA</a:t>
            </a:r>
            <a:endParaRPr lang="en-US" sz="1100"/>
          </a:p>
        </p:txBody>
      </p:sp>
      <p:sp>
        <p:nvSpPr>
          <p:cNvPr id="1190637436" name="Shape 16"/>
          <p:cNvSpPr/>
          <p:nvPr/>
        </p:nvSpPr>
        <p:spPr bwMode="auto">
          <a:xfrm>
            <a:off x="7406640" y="4050792"/>
            <a:ext cx="1051560" cy="365760"/>
          </a:xfrm>
          <a:prstGeom prst="roundRect">
            <a:avLst>
              <a:gd name="adj" fmla="val 30000"/>
            </a:avLst>
          </a:prstGeom>
          <a:solidFill>
            <a:srgbClr val="FFFFFF">
              <a:alpha val="12000"/>
            </a:srgbClr>
          </a:solidFill>
          <a:ln w="12700">
            <a:solidFill>
              <a:srgbClr val="E5187F"/>
            </a:solidFill>
            <a:prstDash val="solid"/>
          </a:ln>
        </p:spPr>
      </p:sp>
      <p:sp>
        <p:nvSpPr>
          <p:cNvPr id="508858282" name="Text 17"/>
          <p:cNvSpPr/>
          <p:nvPr/>
        </p:nvSpPr>
        <p:spPr bwMode="auto">
          <a:xfrm>
            <a:off x="7406640" y="4050792"/>
            <a:ext cx="1051560" cy="365760"/>
          </a:xfrm>
          <a:prstGeom prst="rect">
            <a:avLst/>
          </a:prstGeom>
          <a:noFill/>
          <a:ln/>
        </p:spPr>
        <p:txBody>
          <a:bodyPr wrap="square" lIns="0" tIns="0" rIns="0" bIns="0" rtlCol="0" anchor="ctr"/>
          <a:lstStyle/>
          <a:p>
            <a:pPr marL="0" indent="0" algn="ctr">
              <a:buNone/>
              <a:defRPr/>
            </a:pPr>
            <a:r>
              <a:rPr lang="en-US" sz="1100" b="1">
                <a:solidFill>
                  <a:srgbClr val="E5187F"/>
                </a:solidFill>
                <a:latin typeface="Calibri"/>
                <a:ea typeface="Calibri"/>
                <a:cs typeface="Calibri"/>
              </a:rPr>
              <a:t>2 sujets</a:t>
            </a:r>
            <a:endParaRPr lang="en-US" sz="110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name="Slide 5">
    <p:spTree>
      <p:nvGrpSpPr>
        <p:cNvPr id="1" name=""/>
        <p:cNvGrpSpPr/>
        <p:nvPr/>
      </p:nvGrpSpPr>
      <p:grpSpPr bwMode="auto">
        <a:xfrm>
          <a:off x="0" y="0"/>
          <a:ext cx="0" cy="0"/>
          <a:chOff x="0" y="0"/>
          <a:chExt cx="0" cy="0"/>
        </a:xfrm>
      </p:grpSpPr>
      <p:pic>
        <p:nvPicPr>
          <p:cNvPr id="2024785779" name="Image 0" descr="preencoded.png"/>
          <p:cNvPicPr>
            <a:picLocks noChangeAspect="1"/>
          </p:cNvPicPr>
          <p:nvPr/>
        </p:nvPicPr>
        <p:blipFill rotWithShape="1">
          <a:blip r:embed="rId3"/>
          <a:stretch/>
        </p:blipFill>
        <p:spPr bwMode="auto">
          <a:xfrm>
            <a:off x="0" y="0"/>
            <a:ext cx="9144000" cy="5143500"/>
          </a:xfrm>
          <a:prstGeom prst="rect">
            <a:avLst/>
          </a:prstGeom>
        </p:spPr>
      </p:pic>
      <p:sp>
        <p:nvSpPr>
          <p:cNvPr id="1357604550" name="Text 0"/>
          <p:cNvSpPr/>
          <p:nvPr/>
        </p:nvSpPr>
        <p:spPr bwMode="auto">
          <a:xfrm>
            <a:off x="502920" y="347472"/>
            <a:ext cx="2011680" cy="256032"/>
          </a:xfrm>
          <a:prstGeom prst="rect">
            <a:avLst/>
          </a:prstGeom>
          <a:noFill/>
          <a:ln/>
        </p:spPr>
        <p:txBody>
          <a:bodyPr wrap="square" lIns="0" tIns="0" rIns="0" bIns="0" rtlCol="0" anchor="ctr"/>
          <a:lstStyle/>
          <a:p>
            <a:pPr marL="0" indent="0">
              <a:buNone/>
              <a:defRPr/>
            </a:pPr>
            <a:r>
              <a:rPr lang="en-US" sz="900" b="1" spc="200">
                <a:solidFill>
                  <a:srgbClr val="E5187F"/>
                </a:solidFill>
                <a:latin typeface="Calibri"/>
                <a:ea typeface="Calibri"/>
                <a:cs typeface="Calibri"/>
              </a:rPr>
              <a:t>• PÔLE 1</a:t>
            </a:r>
            <a:endParaRPr lang="en-US" sz="900"/>
          </a:p>
        </p:txBody>
      </p:sp>
      <p:sp>
        <p:nvSpPr>
          <p:cNvPr id="1520430234" name="Text 1"/>
          <p:cNvSpPr/>
          <p:nvPr/>
        </p:nvSpPr>
        <p:spPr bwMode="auto">
          <a:xfrm>
            <a:off x="502920" y="658368"/>
            <a:ext cx="7772400" cy="594360"/>
          </a:xfrm>
          <a:prstGeom prst="rect">
            <a:avLst/>
          </a:prstGeom>
          <a:noFill/>
          <a:ln/>
        </p:spPr>
        <p:txBody>
          <a:bodyPr wrap="square" lIns="0" tIns="0" rIns="0" bIns="0" rtlCol="0" anchor="ctr"/>
          <a:lstStyle/>
          <a:p>
            <a:pPr marL="0" indent="0">
              <a:buNone/>
              <a:defRPr/>
            </a:pPr>
            <a:r>
              <a:rPr lang="en-US" sz="2600" b="1">
                <a:solidFill>
                  <a:srgbClr val="FFFFFF"/>
                </a:solidFill>
                <a:latin typeface="Cambria"/>
                <a:ea typeface="Cambria"/>
                <a:cs typeface="Cambria"/>
              </a:rPr>
              <a:t>Application &amp; Collaboration</a:t>
            </a:r>
            <a:endParaRPr lang="en-US" sz="2600"/>
          </a:p>
        </p:txBody>
      </p:sp>
      <p:sp>
        <p:nvSpPr>
          <p:cNvPr id="1539218619" name="Text 2"/>
          <p:cNvSpPr/>
          <p:nvPr/>
        </p:nvSpPr>
        <p:spPr bwMode="auto">
          <a:xfrm>
            <a:off x="502920" y="1280160"/>
            <a:ext cx="3657600" cy="256032"/>
          </a:xfrm>
          <a:prstGeom prst="rect">
            <a:avLst/>
          </a:prstGeom>
          <a:noFill/>
          <a:ln/>
        </p:spPr>
        <p:txBody>
          <a:bodyPr wrap="square" lIns="0" tIns="0" rIns="0" bIns="0" rtlCol="0" anchor="ctr"/>
          <a:lstStyle/>
          <a:p>
            <a:pPr marL="0" indent="0">
              <a:buNone/>
              <a:defRPr/>
            </a:pPr>
            <a:r>
              <a:rPr lang="en-US" sz="1100" b="1">
                <a:solidFill>
                  <a:srgbClr val="E5187F"/>
                </a:solidFill>
                <a:latin typeface="Calibri"/>
                <a:ea typeface="Calibri"/>
                <a:cs typeface="Calibri"/>
              </a:rPr>
              <a:t>Profils : DEV / Web</a:t>
            </a:r>
            <a:endParaRPr lang="en-US" sz="1100"/>
          </a:p>
        </p:txBody>
      </p:sp>
      <p:sp>
        <p:nvSpPr>
          <p:cNvPr id="726109408" name="Text 3"/>
          <p:cNvSpPr/>
          <p:nvPr/>
        </p:nvSpPr>
        <p:spPr bwMode="auto">
          <a:xfrm>
            <a:off x="502920" y="1572768"/>
            <a:ext cx="8229600" cy="320040"/>
          </a:xfrm>
          <a:prstGeom prst="rect">
            <a:avLst/>
          </a:prstGeom>
          <a:noFill/>
          <a:ln/>
        </p:spPr>
        <p:txBody>
          <a:bodyPr wrap="square" lIns="0" tIns="0" rIns="0" bIns="0" rtlCol="0" anchor="ctr"/>
          <a:lstStyle/>
          <a:p>
            <a:pPr marL="0" indent="0">
              <a:buNone/>
              <a:defRPr/>
            </a:pPr>
            <a:r>
              <a:rPr lang="en-US" sz="1150" i="1">
                <a:solidFill>
                  <a:srgbClr val="A7A2B6"/>
                </a:solidFill>
                <a:latin typeface="Calibri"/>
                <a:ea typeface="Calibri"/>
                <a:cs typeface="Calibri"/>
              </a:rPr>
              <a:t>Créer l'expérience utilisateur interactive et collaborative sur le lecteur vidéo.</a:t>
            </a:r>
            <a:endParaRPr lang="en-US" sz="1150"/>
          </a:p>
        </p:txBody>
      </p:sp>
      <p:sp>
        <p:nvSpPr>
          <p:cNvPr id="1194270041" name="Shape 4"/>
          <p:cNvSpPr/>
          <p:nvPr/>
        </p:nvSpPr>
        <p:spPr bwMode="auto">
          <a:xfrm>
            <a:off x="411480" y="1993392"/>
            <a:ext cx="4160519" cy="2926080"/>
          </a:xfrm>
          <a:prstGeom prst="roundRect">
            <a:avLst>
              <a:gd name="adj" fmla="val 3750"/>
            </a:avLst>
          </a:prstGeom>
          <a:solidFill>
            <a:srgbClr val="2F2A3E"/>
          </a:solidFill>
          <a:ln w="12700">
            <a:solidFill>
              <a:srgbClr val="3D3750"/>
            </a:solidFill>
            <a:prstDash val="solid"/>
          </a:ln>
        </p:spPr>
      </p:sp>
      <p:sp>
        <p:nvSpPr>
          <p:cNvPr id="167091875" name="Text 5"/>
          <p:cNvSpPr/>
          <p:nvPr/>
        </p:nvSpPr>
        <p:spPr bwMode="auto">
          <a:xfrm>
            <a:off x="594360" y="2084832"/>
            <a:ext cx="3794760" cy="411480"/>
          </a:xfrm>
          <a:prstGeom prst="rect">
            <a:avLst/>
          </a:prstGeom>
          <a:noFill/>
          <a:ln/>
        </p:spPr>
        <p:txBody>
          <a:bodyPr wrap="square" lIns="0" tIns="0" rIns="0" bIns="0" rtlCol="0" anchor="ctr"/>
          <a:lstStyle/>
          <a:p>
            <a:pPr marL="0" indent="0">
              <a:buNone/>
              <a:defRPr/>
            </a:pPr>
            <a:r>
              <a:rPr lang="en-US" sz="1150" b="1">
                <a:solidFill>
                  <a:srgbClr val="E5187F"/>
                </a:solidFill>
                <a:latin typeface="Calibri"/>
                <a:ea typeface="Calibri"/>
                <a:cs typeface="Calibri"/>
              </a:rPr>
              <a:t>SUJET A – Lecteur de Revue Augmenté</a:t>
            </a:r>
            <a:endParaRPr lang="en-US" sz="1150"/>
          </a:p>
        </p:txBody>
      </p:sp>
      <p:sp>
        <p:nvSpPr>
          <p:cNvPr id="509521870" name="Text 6"/>
          <p:cNvSpPr/>
          <p:nvPr/>
        </p:nvSpPr>
        <p:spPr bwMode="auto">
          <a:xfrm>
            <a:off x="594360" y="2560320"/>
            <a:ext cx="3794760" cy="1280160"/>
          </a:xfrm>
          <a:prstGeom prst="rect">
            <a:avLst/>
          </a:prstGeom>
          <a:noFill/>
          <a:ln/>
        </p:spPr>
        <p:txBody>
          <a:bodyPr wrap="square" rtlCol="0" anchor="ctr"/>
          <a:lstStyle/>
          <a:p>
            <a:pPr marL="0" indent="0">
              <a:buNone/>
              <a:defRPr/>
            </a:pPr>
            <a:r>
              <a:rPr lang="en-US" sz="1100" b="1">
                <a:solidFill>
                  <a:srgbClr val="FFFFFF"/>
                </a:solidFill>
                <a:latin typeface="Calibri"/>
                <a:ea typeface="Calibri"/>
                <a:cs typeface="Calibri"/>
              </a:rPr>
              <a:t>Mission : </a:t>
            </a:r>
            <a:r>
              <a:rPr lang="en-US" sz="1100">
                <a:solidFill>
                  <a:srgbClr val="A7A2B6"/>
                </a:solidFill>
                <a:latin typeface="Calibri"/>
                <a:ea typeface="Calibri"/>
                <a:cs typeface="Calibri"/>
              </a:rPr>
              <a:t>Interface React avec annotations dessinées (flèches, formes), commentaires horodatés en temps réel via WebSockets.</a:t>
            </a:r>
            <a:endParaRPr lang="en-US" sz="1100"/>
          </a:p>
        </p:txBody>
      </p:sp>
      <p:sp>
        <p:nvSpPr>
          <p:cNvPr id="451488404" name="Text 7"/>
          <p:cNvSpPr/>
          <p:nvPr/>
        </p:nvSpPr>
        <p:spPr bwMode="auto">
          <a:xfrm>
            <a:off x="594360" y="3858768"/>
            <a:ext cx="3794760" cy="320040"/>
          </a:xfrm>
          <a:prstGeom prst="rect">
            <a:avLst/>
          </a:prstGeom>
          <a:noFill/>
          <a:ln/>
        </p:spPr>
        <p:txBody>
          <a:bodyPr wrap="square" rtlCol="0" anchor="ctr"/>
          <a:lstStyle/>
          <a:p>
            <a:pPr marL="0" indent="0">
              <a:buNone/>
              <a:defRPr/>
            </a:pPr>
            <a:r>
              <a:rPr lang="en-US" sz="1050" b="1">
                <a:solidFill>
                  <a:srgbClr val="FFFFFF"/>
                </a:solidFill>
                <a:latin typeface="Calibri"/>
                <a:ea typeface="Calibri"/>
                <a:cs typeface="Calibri"/>
              </a:rPr>
              <a:t>Stack : </a:t>
            </a:r>
            <a:r>
              <a:rPr lang="en-US" sz="1050">
                <a:solidFill>
                  <a:srgbClr val="E5187F"/>
                </a:solidFill>
                <a:latin typeface="Calibri"/>
                <a:ea typeface="Calibri"/>
                <a:cs typeface="Calibri"/>
              </a:rPr>
              <a:t>React ·· WebSockets · Canvas API</a:t>
            </a:r>
            <a:endParaRPr lang="en-US" sz="1050"/>
          </a:p>
        </p:txBody>
      </p:sp>
      <p:sp>
        <p:nvSpPr>
          <p:cNvPr id="1923013887" name="Text 8"/>
          <p:cNvSpPr/>
          <p:nvPr/>
        </p:nvSpPr>
        <p:spPr bwMode="auto">
          <a:xfrm>
            <a:off x="594360" y="4206240"/>
            <a:ext cx="3794760" cy="548640"/>
          </a:xfrm>
          <a:prstGeom prst="rect">
            <a:avLst/>
          </a:prstGeom>
          <a:noFill/>
          <a:ln/>
        </p:spPr>
        <p:txBody>
          <a:bodyPr wrap="square" rtlCol="0" anchor="ctr"/>
          <a:lstStyle/>
          <a:p>
            <a:pPr marL="0" indent="0">
              <a:buNone/>
              <a:defRPr/>
            </a:pPr>
            <a:r>
              <a:rPr lang="en-US" sz="1050" b="1">
                <a:solidFill>
                  <a:srgbClr val="FFFFFF"/>
                </a:solidFill>
                <a:latin typeface="Calibri"/>
                <a:ea typeface="Calibri"/>
                <a:cs typeface="Calibri"/>
              </a:rPr>
              <a:t>Livrable : </a:t>
            </a:r>
            <a:r>
              <a:rPr lang="en-US" sz="1050">
                <a:solidFill>
                  <a:srgbClr val="A7A2B6"/>
                </a:solidFill>
                <a:latin typeface="Calibri"/>
                <a:ea typeface="Calibri"/>
                <a:cs typeface="Calibri"/>
              </a:rPr>
              <a:t>Composant autonome exportant les annotations en JSON</a:t>
            </a:r>
            <a:endParaRPr lang="en-US" sz="1050"/>
          </a:p>
        </p:txBody>
      </p:sp>
      <p:sp>
        <p:nvSpPr>
          <p:cNvPr id="1297581118" name="Shape 9"/>
          <p:cNvSpPr/>
          <p:nvPr/>
        </p:nvSpPr>
        <p:spPr bwMode="auto">
          <a:xfrm>
            <a:off x="4818888" y="1993392"/>
            <a:ext cx="4160519" cy="2926080"/>
          </a:xfrm>
          <a:prstGeom prst="roundRect">
            <a:avLst>
              <a:gd name="adj" fmla="val 3750"/>
            </a:avLst>
          </a:prstGeom>
          <a:solidFill>
            <a:srgbClr val="2F2A3E"/>
          </a:solidFill>
          <a:ln w="12700">
            <a:solidFill>
              <a:srgbClr val="3D3750"/>
            </a:solidFill>
            <a:prstDash val="solid"/>
          </a:ln>
        </p:spPr>
      </p:sp>
      <p:sp>
        <p:nvSpPr>
          <p:cNvPr id="828953609" name="Text 10"/>
          <p:cNvSpPr/>
          <p:nvPr/>
        </p:nvSpPr>
        <p:spPr bwMode="auto">
          <a:xfrm>
            <a:off x="5001768" y="2084832"/>
            <a:ext cx="3794760" cy="411480"/>
          </a:xfrm>
          <a:prstGeom prst="rect">
            <a:avLst/>
          </a:prstGeom>
          <a:noFill/>
          <a:ln/>
        </p:spPr>
        <p:txBody>
          <a:bodyPr wrap="square" lIns="0" tIns="0" rIns="0" bIns="0" rtlCol="0" anchor="ctr"/>
          <a:lstStyle/>
          <a:p>
            <a:pPr marL="0" indent="0">
              <a:buNone/>
              <a:defRPr/>
            </a:pPr>
            <a:r>
              <a:rPr lang="en-US" sz="1150" b="1">
                <a:solidFill>
                  <a:srgbClr val="E5187F"/>
                </a:solidFill>
                <a:latin typeface="Calibri"/>
                <a:ea typeface="Calibri"/>
                <a:cs typeface="Calibri"/>
              </a:rPr>
              <a:t>SUJET B – Espace « Watch Together »</a:t>
            </a:r>
            <a:endParaRPr lang="en-US" sz="1150"/>
          </a:p>
        </p:txBody>
      </p:sp>
      <p:sp>
        <p:nvSpPr>
          <p:cNvPr id="1483687217" name="Text 11"/>
          <p:cNvSpPr/>
          <p:nvPr/>
        </p:nvSpPr>
        <p:spPr bwMode="auto">
          <a:xfrm>
            <a:off x="5001768" y="2560320"/>
            <a:ext cx="3794760" cy="1280160"/>
          </a:xfrm>
          <a:prstGeom prst="rect">
            <a:avLst/>
          </a:prstGeom>
          <a:noFill/>
          <a:ln/>
        </p:spPr>
        <p:txBody>
          <a:bodyPr wrap="square" rtlCol="0" anchor="ctr"/>
          <a:lstStyle/>
          <a:p>
            <a:pPr marL="0" indent="0">
              <a:buNone/>
              <a:defRPr/>
            </a:pPr>
            <a:r>
              <a:rPr lang="en-US" sz="1100" b="1">
                <a:solidFill>
                  <a:srgbClr val="FFFFFF"/>
                </a:solidFill>
                <a:latin typeface="Calibri"/>
                <a:ea typeface="Calibri"/>
                <a:cs typeface="Calibri"/>
              </a:rPr>
              <a:t>Mission : </a:t>
            </a:r>
            <a:r>
              <a:rPr lang="en-US" sz="1100">
                <a:solidFill>
                  <a:srgbClr val="A7A2B6"/>
                </a:solidFill>
                <a:latin typeface="Calibri"/>
                <a:ea typeface="Calibri"/>
                <a:cs typeface="Calibri"/>
              </a:rPr>
              <a:t>Salon virtuel synchronisé pour des sessions de présentation vidéo internes. Un présentateur pilote les lecteurs de tous les invités à distance.</a:t>
            </a:r>
            <a:endParaRPr lang="en-US" sz="1100"/>
          </a:p>
        </p:txBody>
      </p:sp>
      <p:sp>
        <p:nvSpPr>
          <p:cNvPr id="776914372" name="Text 12"/>
          <p:cNvSpPr/>
          <p:nvPr/>
        </p:nvSpPr>
        <p:spPr bwMode="auto">
          <a:xfrm>
            <a:off x="5001768" y="3858768"/>
            <a:ext cx="3794760" cy="320040"/>
          </a:xfrm>
          <a:prstGeom prst="rect">
            <a:avLst/>
          </a:prstGeom>
          <a:noFill/>
          <a:ln/>
        </p:spPr>
        <p:txBody>
          <a:bodyPr wrap="square" rtlCol="0" anchor="ctr"/>
          <a:lstStyle/>
          <a:p>
            <a:pPr marL="0" indent="0">
              <a:buNone/>
              <a:defRPr/>
            </a:pPr>
            <a:r>
              <a:rPr lang="en-US" sz="1050" b="1">
                <a:solidFill>
                  <a:srgbClr val="FFFFFF"/>
                </a:solidFill>
                <a:latin typeface="Calibri"/>
                <a:ea typeface="Calibri"/>
                <a:cs typeface="Calibri"/>
              </a:rPr>
              <a:t>Stack : </a:t>
            </a:r>
            <a:r>
              <a:rPr lang="en-US" sz="1050">
                <a:solidFill>
                  <a:srgbClr val="E5187F"/>
                </a:solidFill>
                <a:latin typeface="Calibri"/>
                <a:ea typeface="Calibri"/>
                <a:cs typeface="Calibri"/>
              </a:rPr>
              <a:t>WebSockets · HLS · JavaScript</a:t>
            </a:r>
            <a:endParaRPr lang="en-US" sz="1050"/>
          </a:p>
        </p:txBody>
      </p:sp>
      <p:sp>
        <p:nvSpPr>
          <p:cNvPr id="1564644094" name="Text 13"/>
          <p:cNvSpPr/>
          <p:nvPr/>
        </p:nvSpPr>
        <p:spPr bwMode="auto">
          <a:xfrm>
            <a:off x="5001768" y="4206240"/>
            <a:ext cx="3794760" cy="548640"/>
          </a:xfrm>
          <a:prstGeom prst="rect">
            <a:avLst/>
          </a:prstGeom>
          <a:noFill/>
          <a:ln/>
        </p:spPr>
        <p:txBody>
          <a:bodyPr wrap="square" rtlCol="0" anchor="ctr"/>
          <a:lstStyle/>
          <a:p>
            <a:pPr marL="0" indent="0">
              <a:buNone/>
              <a:defRPr/>
            </a:pPr>
            <a:r>
              <a:rPr lang="en-US" sz="1050" b="1">
                <a:solidFill>
                  <a:srgbClr val="FFFFFF"/>
                </a:solidFill>
                <a:latin typeface="Calibri"/>
                <a:ea typeface="Calibri"/>
                <a:cs typeface="Calibri"/>
              </a:rPr>
              <a:t>Livrable : </a:t>
            </a:r>
            <a:r>
              <a:rPr lang="en-US" sz="1050">
                <a:solidFill>
                  <a:srgbClr val="A7A2B6"/>
                </a:solidFill>
                <a:latin typeface="Calibri"/>
                <a:ea typeface="Calibri"/>
                <a:cs typeface="Calibri"/>
              </a:rPr>
              <a:t>App web – présentateur pilote tous les lecteurs connectés</a:t>
            </a:r>
            <a:endParaRPr lang="en-US" sz="105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name="Slide 6">
    <p:spTree>
      <p:nvGrpSpPr>
        <p:cNvPr id="1" name=""/>
        <p:cNvGrpSpPr/>
        <p:nvPr/>
      </p:nvGrpSpPr>
      <p:grpSpPr bwMode="auto">
        <a:xfrm>
          <a:off x="0" y="0"/>
          <a:ext cx="0" cy="0"/>
          <a:chOff x="0" y="0"/>
          <a:chExt cx="0" cy="0"/>
        </a:xfrm>
      </p:grpSpPr>
      <p:pic>
        <p:nvPicPr>
          <p:cNvPr id="1984296695" name="Image 0" descr="preencoded.png"/>
          <p:cNvPicPr>
            <a:picLocks noChangeAspect="1"/>
          </p:cNvPicPr>
          <p:nvPr/>
        </p:nvPicPr>
        <p:blipFill rotWithShape="1">
          <a:blip r:embed="rId3"/>
          <a:stretch/>
        </p:blipFill>
        <p:spPr bwMode="auto">
          <a:xfrm>
            <a:off x="0" y="0"/>
            <a:ext cx="9144000" cy="5143500"/>
          </a:xfrm>
          <a:prstGeom prst="rect">
            <a:avLst/>
          </a:prstGeom>
        </p:spPr>
      </p:pic>
      <p:sp>
        <p:nvSpPr>
          <p:cNvPr id="157164885" name="Text 0"/>
          <p:cNvSpPr/>
          <p:nvPr/>
        </p:nvSpPr>
        <p:spPr bwMode="auto">
          <a:xfrm>
            <a:off x="502920" y="347472"/>
            <a:ext cx="2011680" cy="256032"/>
          </a:xfrm>
          <a:prstGeom prst="rect">
            <a:avLst/>
          </a:prstGeom>
          <a:noFill/>
          <a:ln/>
        </p:spPr>
        <p:txBody>
          <a:bodyPr wrap="square" lIns="0" tIns="0" rIns="0" bIns="0" rtlCol="0" anchor="ctr"/>
          <a:lstStyle/>
          <a:p>
            <a:pPr marL="0" indent="0">
              <a:buNone/>
              <a:defRPr/>
            </a:pPr>
            <a:r>
              <a:rPr lang="en-US" sz="900" b="1" spc="200">
                <a:solidFill>
                  <a:srgbClr val="E5187F"/>
                </a:solidFill>
                <a:latin typeface="Calibri"/>
                <a:ea typeface="Calibri"/>
                <a:cs typeface="Calibri"/>
              </a:rPr>
              <a:t>• PÔLE 2</a:t>
            </a:r>
            <a:endParaRPr lang="en-US" sz="900"/>
          </a:p>
        </p:txBody>
      </p:sp>
      <p:sp>
        <p:nvSpPr>
          <p:cNvPr id="2019256985" name="Text 1"/>
          <p:cNvSpPr/>
          <p:nvPr/>
        </p:nvSpPr>
        <p:spPr bwMode="auto">
          <a:xfrm>
            <a:off x="502920" y="658368"/>
            <a:ext cx="7772400" cy="594360"/>
          </a:xfrm>
          <a:prstGeom prst="rect">
            <a:avLst/>
          </a:prstGeom>
          <a:noFill/>
          <a:ln/>
        </p:spPr>
        <p:txBody>
          <a:bodyPr wrap="square" lIns="0" tIns="0" rIns="0" bIns="0" rtlCol="0" anchor="ctr"/>
          <a:lstStyle/>
          <a:p>
            <a:pPr marL="0" indent="0">
              <a:buNone/>
              <a:defRPr/>
            </a:pPr>
            <a:r>
              <a:rPr lang="en-US" sz="2600" b="1">
                <a:solidFill>
                  <a:srgbClr val="FFFFFF"/>
                </a:solidFill>
                <a:latin typeface="Cambria"/>
                <a:ea typeface="Cambria"/>
                <a:cs typeface="Cambria"/>
              </a:rPr>
              <a:t>Infrastructure, Sécurité &amp; Cloud</a:t>
            </a:r>
            <a:endParaRPr lang="en-US" sz="2600"/>
          </a:p>
        </p:txBody>
      </p:sp>
      <p:sp>
        <p:nvSpPr>
          <p:cNvPr id="1159616273" name="Text 2"/>
          <p:cNvSpPr/>
          <p:nvPr/>
        </p:nvSpPr>
        <p:spPr bwMode="auto">
          <a:xfrm>
            <a:off x="502920" y="1280160"/>
            <a:ext cx="3657600" cy="256032"/>
          </a:xfrm>
          <a:prstGeom prst="rect">
            <a:avLst/>
          </a:prstGeom>
          <a:noFill/>
          <a:ln/>
        </p:spPr>
        <p:txBody>
          <a:bodyPr wrap="square" lIns="0" tIns="0" rIns="0" bIns="0" rtlCol="0" anchor="ctr"/>
          <a:lstStyle/>
          <a:p>
            <a:pPr marL="0" indent="0">
              <a:buNone/>
              <a:defRPr/>
            </a:pPr>
            <a:r>
              <a:rPr lang="en-US" sz="1100" b="1">
                <a:solidFill>
                  <a:srgbClr val="E5187F"/>
                </a:solidFill>
                <a:latin typeface="Calibri"/>
                <a:ea typeface="Calibri"/>
                <a:cs typeface="Calibri"/>
              </a:rPr>
              <a:t>Profils : IT / DevOps / Cyber</a:t>
            </a:r>
            <a:endParaRPr lang="en-US" sz="1100"/>
          </a:p>
        </p:txBody>
      </p:sp>
      <p:sp>
        <p:nvSpPr>
          <p:cNvPr id="1821782308" name="Text 3"/>
          <p:cNvSpPr/>
          <p:nvPr/>
        </p:nvSpPr>
        <p:spPr bwMode="auto">
          <a:xfrm>
            <a:off x="502920" y="1572768"/>
            <a:ext cx="8229600" cy="320040"/>
          </a:xfrm>
          <a:prstGeom prst="rect">
            <a:avLst/>
          </a:prstGeom>
          <a:noFill/>
          <a:ln/>
        </p:spPr>
        <p:txBody>
          <a:bodyPr wrap="square" lIns="0" tIns="0" rIns="0" bIns="0" rtlCol="0" anchor="ctr"/>
          <a:lstStyle/>
          <a:p>
            <a:pPr marL="0" indent="0">
              <a:buNone/>
              <a:defRPr/>
            </a:pPr>
            <a:r>
              <a:rPr lang="en-US" sz="1150" i="1">
                <a:solidFill>
                  <a:srgbClr val="A7A2B6"/>
                </a:solidFill>
                <a:latin typeface="Calibri"/>
                <a:ea typeface="Calibri"/>
                <a:cs typeface="Calibri"/>
              </a:rPr>
              <a:t>Protéger la chaîne de diffusion contre le piratage et garantir la scalabilité de l'infrastructure.</a:t>
            </a:r>
            <a:endParaRPr lang="en-US" sz="1150"/>
          </a:p>
        </p:txBody>
      </p:sp>
      <p:sp>
        <p:nvSpPr>
          <p:cNvPr id="2039015914" name="Shape 4"/>
          <p:cNvSpPr/>
          <p:nvPr/>
        </p:nvSpPr>
        <p:spPr bwMode="auto">
          <a:xfrm>
            <a:off x="411480" y="1993392"/>
            <a:ext cx="4160519" cy="2926080"/>
          </a:xfrm>
          <a:prstGeom prst="roundRect">
            <a:avLst>
              <a:gd name="adj" fmla="val 3750"/>
            </a:avLst>
          </a:prstGeom>
          <a:solidFill>
            <a:srgbClr val="2F2A3E"/>
          </a:solidFill>
          <a:ln w="12700">
            <a:solidFill>
              <a:srgbClr val="3D3750"/>
            </a:solidFill>
            <a:prstDash val="solid"/>
          </a:ln>
        </p:spPr>
      </p:sp>
      <p:sp>
        <p:nvSpPr>
          <p:cNvPr id="136219899" name="Text 5"/>
          <p:cNvSpPr/>
          <p:nvPr/>
        </p:nvSpPr>
        <p:spPr bwMode="auto">
          <a:xfrm>
            <a:off x="594360" y="2084832"/>
            <a:ext cx="3794760" cy="411480"/>
          </a:xfrm>
          <a:prstGeom prst="rect">
            <a:avLst/>
          </a:prstGeom>
          <a:noFill/>
          <a:ln/>
        </p:spPr>
        <p:txBody>
          <a:bodyPr wrap="square" lIns="0" tIns="0" rIns="0" bIns="0" rtlCol="0" anchor="ctr"/>
          <a:lstStyle/>
          <a:p>
            <a:pPr marL="0" indent="0">
              <a:buNone/>
              <a:defRPr/>
            </a:pPr>
            <a:r>
              <a:rPr lang="en-US" sz="1150" b="1">
                <a:solidFill>
                  <a:srgbClr val="E5187F"/>
                </a:solidFill>
                <a:latin typeface="Calibri"/>
                <a:ea typeface="Calibri"/>
                <a:cs typeface="Calibri"/>
              </a:rPr>
              <a:t>SUJET A – Architecture « Zero-Trust »</a:t>
            </a:r>
            <a:endParaRPr lang="en-US" sz="1150"/>
          </a:p>
        </p:txBody>
      </p:sp>
      <p:sp>
        <p:nvSpPr>
          <p:cNvPr id="1816164596" name="Text 6"/>
          <p:cNvSpPr/>
          <p:nvPr/>
        </p:nvSpPr>
        <p:spPr bwMode="auto">
          <a:xfrm>
            <a:off x="594360" y="2560320"/>
            <a:ext cx="3794760" cy="1280160"/>
          </a:xfrm>
          <a:prstGeom prst="rect">
            <a:avLst/>
          </a:prstGeom>
          <a:noFill/>
          <a:ln/>
        </p:spPr>
        <p:txBody>
          <a:bodyPr wrap="square" rtlCol="0" anchor="ctr"/>
          <a:lstStyle/>
          <a:p>
            <a:pPr marL="0" indent="0">
              <a:buNone/>
              <a:defRPr/>
            </a:pPr>
            <a:r>
              <a:rPr lang="en-US" sz="1100" b="1">
                <a:solidFill>
                  <a:srgbClr val="FFFFFF"/>
                </a:solidFill>
                <a:latin typeface="Calibri"/>
                <a:ea typeface="Calibri"/>
                <a:cs typeface="Calibri"/>
              </a:rPr>
              <a:t>Mission : </a:t>
            </a:r>
            <a:r>
              <a:rPr lang="en-US" sz="1100">
                <a:solidFill>
                  <a:srgbClr val="A7A2B6"/>
                </a:solidFill>
                <a:latin typeface="Calibri"/>
                <a:ea typeface="Calibri"/>
                <a:cs typeface="Calibri"/>
              </a:rPr>
              <a:t>Pipeline CDN avec flux HLS chiffrés AES-128. Serveur de clés éphémères : seuls les utilisateurs authentifiés (token temporaire) obtiennent la clé.</a:t>
            </a:r>
            <a:endParaRPr lang="fr-FR" sz="1100">
              <a:solidFill>
                <a:srgbClr val="A7A2B6"/>
              </a:solidFill>
              <a:latin typeface="Calibri"/>
              <a:ea typeface="Calibri"/>
              <a:cs typeface="Calibri"/>
            </a:endParaRPr>
          </a:p>
          <a:p>
            <a:pPr marL="0" indent="0">
              <a:buNone/>
              <a:defRPr/>
            </a:pPr>
            <a:r>
              <a:rPr lang="fr-FR" sz="1100">
                <a:solidFill>
                  <a:srgbClr val="A7A2B6"/>
                </a:solidFill>
                <a:latin typeface="Calibri"/>
                <a:ea typeface="Calibri"/>
                <a:cs typeface="Calibri"/>
              </a:rPr>
              <a:t>Aucun accès cloud n’est fourni ni attendu.</a:t>
            </a:r>
            <a:endParaRPr lang="en-US" sz="1100"/>
          </a:p>
        </p:txBody>
      </p:sp>
      <p:sp>
        <p:nvSpPr>
          <p:cNvPr id="1451230038" name="Text 7"/>
          <p:cNvSpPr/>
          <p:nvPr/>
        </p:nvSpPr>
        <p:spPr bwMode="auto">
          <a:xfrm>
            <a:off x="594360" y="3858768"/>
            <a:ext cx="3794760" cy="320040"/>
          </a:xfrm>
          <a:prstGeom prst="rect">
            <a:avLst/>
          </a:prstGeom>
          <a:noFill/>
          <a:ln/>
        </p:spPr>
        <p:txBody>
          <a:bodyPr wrap="square" rtlCol="0" anchor="ctr"/>
          <a:lstStyle/>
          <a:p>
            <a:pPr marL="0" indent="0">
              <a:buNone/>
              <a:defRPr/>
            </a:pPr>
            <a:r>
              <a:rPr lang="en-US" sz="1050" b="1">
                <a:solidFill>
                  <a:srgbClr val="FFFFFF"/>
                </a:solidFill>
                <a:latin typeface="Calibri"/>
                <a:ea typeface="Calibri"/>
                <a:cs typeface="Calibri"/>
              </a:rPr>
              <a:t>Stack : </a:t>
            </a:r>
            <a:r>
              <a:rPr lang="en-US" sz="1050">
                <a:solidFill>
                  <a:srgbClr val="E5187F"/>
                </a:solidFill>
                <a:latin typeface="Calibri"/>
                <a:ea typeface="Calibri"/>
                <a:cs typeface="Calibri"/>
              </a:rPr>
              <a:t>Terraform / CDK · AWS CloudFront ou Nginx</a:t>
            </a:r>
            <a:r>
              <a:rPr lang="fr-FR" sz="1050">
                <a:solidFill>
                  <a:srgbClr val="E5187F"/>
                </a:solidFill>
                <a:latin typeface="Calibri"/>
                <a:ea typeface="Calibri"/>
                <a:cs typeface="Calibri"/>
              </a:rPr>
              <a:t> ou eq</a:t>
            </a:r>
            <a:r>
              <a:rPr lang="en-US" sz="1050">
                <a:solidFill>
                  <a:srgbClr val="E5187F"/>
                </a:solidFill>
                <a:latin typeface="Calibri"/>
                <a:ea typeface="Calibri"/>
                <a:cs typeface="Calibri"/>
              </a:rPr>
              <a:t> · Docker</a:t>
            </a:r>
            <a:endParaRPr lang="en-US" sz="1050"/>
          </a:p>
        </p:txBody>
      </p:sp>
      <p:sp>
        <p:nvSpPr>
          <p:cNvPr id="1076510968" name="Text 8"/>
          <p:cNvSpPr/>
          <p:nvPr/>
        </p:nvSpPr>
        <p:spPr bwMode="auto">
          <a:xfrm>
            <a:off x="594360" y="4206240"/>
            <a:ext cx="3794760" cy="548640"/>
          </a:xfrm>
          <a:prstGeom prst="rect">
            <a:avLst/>
          </a:prstGeom>
          <a:noFill/>
          <a:ln/>
        </p:spPr>
        <p:txBody>
          <a:bodyPr wrap="square" rtlCol="0" anchor="ctr"/>
          <a:lstStyle/>
          <a:p>
            <a:pPr marL="0" indent="0">
              <a:buNone/>
              <a:defRPr/>
            </a:pPr>
            <a:r>
              <a:rPr lang="en-US" sz="1050" b="1">
                <a:solidFill>
                  <a:srgbClr val="FFFFFF"/>
                </a:solidFill>
                <a:latin typeface="Calibri"/>
                <a:ea typeface="Calibri"/>
                <a:cs typeface="Calibri"/>
              </a:rPr>
              <a:t>Livrable : </a:t>
            </a:r>
            <a:r>
              <a:rPr lang="en-US" sz="1050">
                <a:solidFill>
                  <a:srgbClr val="A7A2B6"/>
                </a:solidFill>
                <a:latin typeface="Calibri"/>
                <a:ea typeface="Calibri"/>
                <a:cs typeface="Calibri"/>
              </a:rPr>
              <a:t>Script IaC de déploiement d'infrastructure streaming sécurisée</a:t>
            </a:r>
            <a:endParaRPr lang="en-US" sz="1050"/>
          </a:p>
        </p:txBody>
      </p:sp>
      <p:sp>
        <p:nvSpPr>
          <p:cNvPr id="550695797" name="Shape 9"/>
          <p:cNvSpPr/>
          <p:nvPr/>
        </p:nvSpPr>
        <p:spPr bwMode="auto">
          <a:xfrm>
            <a:off x="4818888" y="1993392"/>
            <a:ext cx="4160519" cy="2926080"/>
          </a:xfrm>
          <a:prstGeom prst="roundRect">
            <a:avLst>
              <a:gd name="adj" fmla="val 3750"/>
            </a:avLst>
          </a:prstGeom>
          <a:solidFill>
            <a:srgbClr val="2F2A3E"/>
          </a:solidFill>
          <a:ln w="12700">
            <a:solidFill>
              <a:srgbClr val="3D3750"/>
            </a:solidFill>
            <a:prstDash val="solid"/>
          </a:ln>
        </p:spPr>
      </p:sp>
      <p:sp>
        <p:nvSpPr>
          <p:cNvPr id="1145312425" name="Text 10"/>
          <p:cNvSpPr/>
          <p:nvPr/>
        </p:nvSpPr>
        <p:spPr bwMode="auto">
          <a:xfrm>
            <a:off x="5001768" y="2084832"/>
            <a:ext cx="3794760" cy="411480"/>
          </a:xfrm>
          <a:prstGeom prst="rect">
            <a:avLst/>
          </a:prstGeom>
          <a:noFill/>
          <a:ln/>
        </p:spPr>
        <p:txBody>
          <a:bodyPr wrap="square" lIns="0" tIns="0" rIns="0" bIns="0" rtlCol="0" anchor="ctr"/>
          <a:lstStyle/>
          <a:p>
            <a:pPr marL="0" indent="0">
              <a:buNone/>
              <a:defRPr/>
            </a:pPr>
            <a:r>
              <a:rPr lang="en-US" sz="1150" b="1">
                <a:solidFill>
                  <a:srgbClr val="E5187F"/>
                </a:solidFill>
                <a:latin typeface="Calibri"/>
                <a:ea typeface="Calibri"/>
                <a:cs typeface="Calibri"/>
              </a:rPr>
              <a:t>SUJET B – Détection des Menaces &amp; Anti-Scraping</a:t>
            </a:r>
            <a:endParaRPr lang="en-US" sz="1150"/>
          </a:p>
        </p:txBody>
      </p:sp>
      <p:sp>
        <p:nvSpPr>
          <p:cNvPr id="1775318969" name="Text 11"/>
          <p:cNvSpPr/>
          <p:nvPr/>
        </p:nvSpPr>
        <p:spPr bwMode="auto">
          <a:xfrm>
            <a:off x="5001768" y="2560320"/>
            <a:ext cx="3794760" cy="1280160"/>
          </a:xfrm>
          <a:prstGeom prst="rect">
            <a:avLst/>
          </a:prstGeom>
          <a:noFill/>
          <a:ln/>
        </p:spPr>
        <p:txBody>
          <a:bodyPr wrap="square" rtlCol="0" anchor="ctr"/>
          <a:lstStyle/>
          <a:p>
            <a:pPr marL="0" indent="0">
              <a:buNone/>
              <a:defRPr/>
            </a:pPr>
            <a:r>
              <a:rPr lang="en-US" sz="1100" b="1">
                <a:solidFill>
                  <a:srgbClr val="FFFFFF"/>
                </a:solidFill>
                <a:latin typeface="Calibri"/>
                <a:ea typeface="Calibri"/>
                <a:cs typeface="Calibri"/>
              </a:rPr>
              <a:t>Mission : </a:t>
            </a:r>
            <a:r>
              <a:rPr lang="en-US" sz="1100">
                <a:solidFill>
                  <a:srgbClr val="A7A2B6"/>
                </a:solidFill>
                <a:latin typeface="Calibri"/>
                <a:ea typeface="Calibri"/>
                <a:cs typeface="Calibri"/>
              </a:rPr>
              <a:t>Système anti-fraude : détection de connexions simultanées anormales, blocage VPN/Proxies, détection navigateur des tentatives de capture d'écran.</a:t>
            </a:r>
            <a:endParaRPr lang="en-US" sz="1100"/>
          </a:p>
        </p:txBody>
      </p:sp>
      <p:sp>
        <p:nvSpPr>
          <p:cNvPr id="1622986163" name="Text 12"/>
          <p:cNvSpPr/>
          <p:nvPr/>
        </p:nvSpPr>
        <p:spPr bwMode="auto">
          <a:xfrm>
            <a:off x="5001768" y="3858768"/>
            <a:ext cx="3794760" cy="320040"/>
          </a:xfrm>
          <a:prstGeom prst="rect">
            <a:avLst/>
          </a:prstGeom>
          <a:noFill/>
          <a:ln/>
        </p:spPr>
        <p:txBody>
          <a:bodyPr wrap="square" rtlCol="0" anchor="ctr"/>
          <a:lstStyle/>
          <a:p>
            <a:pPr marL="0" indent="0">
              <a:buNone/>
              <a:defRPr/>
            </a:pPr>
            <a:r>
              <a:rPr lang="en-US" sz="1050" b="1">
                <a:solidFill>
                  <a:srgbClr val="FFFFFF"/>
                </a:solidFill>
                <a:latin typeface="Calibri"/>
                <a:ea typeface="Calibri"/>
                <a:cs typeface="Calibri"/>
              </a:rPr>
              <a:t>Stack : </a:t>
            </a:r>
            <a:r>
              <a:rPr lang="en-US" sz="1050">
                <a:solidFill>
                  <a:srgbClr val="E5187F"/>
                </a:solidFill>
                <a:latin typeface="Calibri"/>
                <a:ea typeface="Calibri"/>
                <a:cs typeface="Calibri"/>
              </a:rPr>
              <a:t>Python · Node.js · Firewall applicatif · IP Reputation API</a:t>
            </a:r>
            <a:endParaRPr lang="en-US" sz="1050"/>
          </a:p>
        </p:txBody>
      </p:sp>
      <p:sp>
        <p:nvSpPr>
          <p:cNvPr id="401520457" name="Text 13"/>
          <p:cNvSpPr/>
          <p:nvPr/>
        </p:nvSpPr>
        <p:spPr bwMode="auto">
          <a:xfrm>
            <a:off x="5001768" y="4206240"/>
            <a:ext cx="3794760" cy="548640"/>
          </a:xfrm>
          <a:prstGeom prst="rect">
            <a:avLst/>
          </a:prstGeom>
          <a:noFill/>
          <a:ln/>
        </p:spPr>
        <p:txBody>
          <a:bodyPr wrap="square" rtlCol="0" anchor="ctr"/>
          <a:lstStyle/>
          <a:p>
            <a:pPr marL="0" indent="0">
              <a:buNone/>
              <a:defRPr/>
            </a:pPr>
            <a:r>
              <a:rPr lang="en-US" sz="1050" b="1">
                <a:solidFill>
                  <a:srgbClr val="FFFFFF"/>
                </a:solidFill>
                <a:latin typeface="Calibri"/>
                <a:ea typeface="Calibri"/>
                <a:cs typeface="Calibri"/>
              </a:rPr>
              <a:t>Livrable : </a:t>
            </a:r>
            <a:r>
              <a:rPr lang="en-US" sz="1050">
                <a:solidFill>
                  <a:srgbClr val="A7A2B6"/>
                </a:solidFill>
                <a:latin typeface="Calibri"/>
                <a:ea typeface="Calibri"/>
                <a:cs typeface="Calibri"/>
              </a:rPr>
              <a:t>Micro-pare-feu applicatif ou script de détection réseau temps réel</a:t>
            </a:r>
            <a:endParaRPr lang="en-US" sz="105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name="Slide 7">
    <p:spTree>
      <p:nvGrpSpPr>
        <p:cNvPr id="1" name=""/>
        <p:cNvGrpSpPr/>
        <p:nvPr/>
      </p:nvGrpSpPr>
      <p:grpSpPr bwMode="auto">
        <a:xfrm>
          <a:off x="0" y="0"/>
          <a:ext cx="0" cy="0"/>
          <a:chOff x="0" y="0"/>
          <a:chExt cx="0" cy="0"/>
        </a:xfrm>
      </p:grpSpPr>
      <p:pic>
        <p:nvPicPr>
          <p:cNvPr id="1005856192" name="Image 0" descr="preencoded.png"/>
          <p:cNvPicPr>
            <a:picLocks noChangeAspect="1"/>
          </p:cNvPicPr>
          <p:nvPr/>
        </p:nvPicPr>
        <p:blipFill rotWithShape="1">
          <a:blip r:embed="rId3"/>
          <a:stretch/>
        </p:blipFill>
        <p:spPr bwMode="auto">
          <a:xfrm>
            <a:off x="0" y="0"/>
            <a:ext cx="9144000" cy="5143500"/>
          </a:xfrm>
          <a:prstGeom prst="rect">
            <a:avLst/>
          </a:prstGeom>
        </p:spPr>
      </p:pic>
      <p:sp>
        <p:nvSpPr>
          <p:cNvPr id="954862190" name="Text 0"/>
          <p:cNvSpPr/>
          <p:nvPr/>
        </p:nvSpPr>
        <p:spPr bwMode="auto">
          <a:xfrm>
            <a:off x="502920" y="347472"/>
            <a:ext cx="2011680" cy="256032"/>
          </a:xfrm>
          <a:prstGeom prst="rect">
            <a:avLst/>
          </a:prstGeom>
          <a:noFill/>
          <a:ln/>
        </p:spPr>
        <p:txBody>
          <a:bodyPr wrap="square" lIns="0" tIns="0" rIns="0" bIns="0" rtlCol="0" anchor="ctr"/>
          <a:lstStyle/>
          <a:p>
            <a:pPr marL="0" indent="0">
              <a:buNone/>
              <a:defRPr/>
            </a:pPr>
            <a:r>
              <a:rPr lang="en-US" sz="900" b="1" spc="200">
                <a:solidFill>
                  <a:srgbClr val="E5187F"/>
                </a:solidFill>
                <a:latin typeface="Calibri"/>
                <a:ea typeface="Calibri"/>
                <a:cs typeface="Calibri"/>
              </a:rPr>
              <a:t>• PÔLE 3</a:t>
            </a:r>
            <a:endParaRPr lang="en-US" sz="900"/>
          </a:p>
        </p:txBody>
      </p:sp>
      <p:sp>
        <p:nvSpPr>
          <p:cNvPr id="462926638" name="Text 1"/>
          <p:cNvSpPr/>
          <p:nvPr/>
        </p:nvSpPr>
        <p:spPr bwMode="auto">
          <a:xfrm>
            <a:off x="502920" y="658368"/>
            <a:ext cx="7772400" cy="594360"/>
          </a:xfrm>
          <a:prstGeom prst="rect">
            <a:avLst/>
          </a:prstGeom>
          <a:noFill/>
          <a:ln/>
        </p:spPr>
        <p:txBody>
          <a:bodyPr wrap="square" lIns="0" tIns="0" rIns="0" bIns="0" rtlCol="0" anchor="ctr"/>
          <a:lstStyle/>
          <a:p>
            <a:pPr marL="0" indent="0">
              <a:buNone/>
              <a:defRPr/>
            </a:pPr>
            <a:r>
              <a:rPr lang="en-US" sz="2600" b="1">
                <a:solidFill>
                  <a:srgbClr val="FFFFFF"/>
                </a:solidFill>
                <a:latin typeface="Cambria"/>
                <a:ea typeface="Cambria"/>
                <a:cs typeface="Cambria"/>
              </a:rPr>
              <a:t>Intelligence Artificielle &amp; Data</a:t>
            </a:r>
            <a:endParaRPr lang="en-US" sz="2600"/>
          </a:p>
        </p:txBody>
      </p:sp>
      <p:sp>
        <p:nvSpPr>
          <p:cNvPr id="395406067" name="Text 2"/>
          <p:cNvSpPr/>
          <p:nvPr/>
        </p:nvSpPr>
        <p:spPr bwMode="auto">
          <a:xfrm>
            <a:off x="502920" y="1280160"/>
            <a:ext cx="3657600" cy="256032"/>
          </a:xfrm>
          <a:prstGeom prst="rect">
            <a:avLst/>
          </a:prstGeom>
          <a:noFill/>
          <a:ln/>
        </p:spPr>
        <p:txBody>
          <a:bodyPr wrap="square" lIns="0" tIns="0" rIns="0" bIns="0" rtlCol="0" anchor="ctr"/>
          <a:lstStyle/>
          <a:p>
            <a:pPr marL="0" indent="0">
              <a:buNone/>
              <a:defRPr/>
            </a:pPr>
            <a:r>
              <a:rPr lang="en-US" sz="1100" b="1">
                <a:solidFill>
                  <a:srgbClr val="E5187F"/>
                </a:solidFill>
                <a:latin typeface="Calibri"/>
                <a:ea typeface="Calibri"/>
                <a:cs typeface="Calibri"/>
              </a:rPr>
              <a:t>Profils : DATA / IA</a:t>
            </a:r>
            <a:endParaRPr lang="en-US" sz="1100"/>
          </a:p>
        </p:txBody>
      </p:sp>
      <p:sp>
        <p:nvSpPr>
          <p:cNvPr id="955133138" name="Text 3"/>
          <p:cNvSpPr/>
          <p:nvPr/>
        </p:nvSpPr>
        <p:spPr bwMode="auto">
          <a:xfrm>
            <a:off x="502920" y="1572768"/>
            <a:ext cx="8229600" cy="320040"/>
          </a:xfrm>
          <a:prstGeom prst="rect">
            <a:avLst/>
          </a:prstGeom>
          <a:noFill/>
          <a:ln/>
        </p:spPr>
        <p:txBody>
          <a:bodyPr wrap="square" lIns="0" tIns="0" rIns="0" bIns="0" rtlCol="0" anchor="ctr"/>
          <a:lstStyle/>
          <a:p>
            <a:pPr marL="0" indent="0">
              <a:buNone/>
              <a:defRPr/>
            </a:pPr>
            <a:r>
              <a:rPr lang="en-US" sz="1150" i="1">
                <a:solidFill>
                  <a:srgbClr val="A7A2B6"/>
                </a:solidFill>
                <a:latin typeface="Calibri"/>
                <a:ea typeface="Calibri"/>
                <a:cs typeface="Calibri"/>
              </a:rPr>
              <a:t>Analyser le comportement des utilisateurs et valoriser le contenu vidéo grâce à l'IA.</a:t>
            </a:r>
            <a:endParaRPr lang="en-US" sz="1150"/>
          </a:p>
        </p:txBody>
      </p:sp>
      <p:sp>
        <p:nvSpPr>
          <p:cNvPr id="330233943" name="Shape 4"/>
          <p:cNvSpPr/>
          <p:nvPr/>
        </p:nvSpPr>
        <p:spPr bwMode="auto">
          <a:xfrm>
            <a:off x="411480" y="1993392"/>
            <a:ext cx="4160519" cy="2926080"/>
          </a:xfrm>
          <a:prstGeom prst="roundRect">
            <a:avLst>
              <a:gd name="adj" fmla="val 3750"/>
            </a:avLst>
          </a:prstGeom>
          <a:solidFill>
            <a:srgbClr val="2F2A3E"/>
          </a:solidFill>
          <a:ln w="12700">
            <a:solidFill>
              <a:srgbClr val="3D3750"/>
            </a:solidFill>
            <a:prstDash val="solid"/>
          </a:ln>
        </p:spPr>
      </p:sp>
      <p:sp>
        <p:nvSpPr>
          <p:cNvPr id="944563728" name="Text 5"/>
          <p:cNvSpPr/>
          <p:nvPr/>
        </p:nvSpPr>
        <p:spPr bwMode="auto">
          <a:xfrm>
            <a:off x="594360" y="2084832"/>
            <a:ext cx="3794760" cy="411480"/>
          </a:xfrm>
          <a:prstGeom prst="rect">
            <a:avLst/>
          </a:prstGeom>
          <a:noFill/>
          <a:ln/>
        </p:spPr>
        <p:txBody>
          <a:bodyPr wrap="square" lIns="0" tIns="0" rIns="0" bIns="0" rtlCol="0" anchor="ctr"/>
          <a:lstStyle/>
          <a:p>
            <a:pPr marL="0" indent="0">
              <a:buNone/>
              <a:defRPr/>
            </a:pPr>
            <a:r>
              <a:rPr lang="en-US" sz="1150" b="1">
                <a:solidFill>
                  <a:srgbClr val="E5187F"/>
                </a:solidFill>
                <a:latin typeface="Calibri"/>
                <a:ea typeface="Calibri"/>
                <a:cs typeface="Calibri"/>
              </a:rPr>
              <a:t>SUJET A – Pipeline d'Indexation Sémantique</a:t>
            </a:r>
            <a:endParaRPr lang="en-US" sz="1150"/>
          </a:p>
        </p:txBody>
      </p:sp>
      <p:sp>
        <p:nvSpPr>
          <p:cNvPr id="1957234584" name="Text 6"/>
          <p:cNvSpPr/>
          <p:nvPr/>
        </p:nvSpPr>
        <p:spPr bwMode="auto">
          <a:xfrm>
            <a:off x="594360" y="2560320"/>
            <a:ext cx="3794760" cy="1280160"/>
          </a:xfrm>
          <a:prstGeom prst="rect">
            <a:avLst/>
          </a:prstGeom>
          <a:noFill/>
          <a:ln/>
        </p:spPr>
        <p:txBody>
          <a:bodyPr wrap="square" rtlCol="0" anchor="ctr"/>
          <a:lstStyle/>
          <a:p>
            <a:pPr marL="0" indent="0">
              <a:buNone/>
              <a:defRPr/>
            </a:pPr>
            <a:r>
              <a:rPr lang="en-US" sz="1100" b="1">
                <a:solidFill>
                  <a:srgbClr val="FFFFFF"/>
                </a:solidFill>
                <a:latin typeface="Calibri"/>
                <a:ea typeface="Calibri"/>
                <a:cs typeface="Calibri"/>
              </a:rPr>
              <a:t>Mission : </a:t>
            </a:r>
            <a:r>
              <a:rPr lang="en-US" sz="1100">
                <a:solidFill>
                  <a:srgbClr val="A7A2B6"/>
                </a:solidFill>
                <a:latin typeface="Calibri"/>
                <a:ea typeface="Calibri"/>
                <a:cs typeface="Calibri"/>
              </a:rPr>
              <a:t>Pipeline vidéo : extraction audio, transcription (Whisper), traduction multilingue, génération de résumés, chapitres thématiques et mots-clés.</a:t>
            </a:r>
            <a:endParaRPr lang="en-US" sz="1100"/>
          </a:p>
        </p:txBody>
      </p:sp>
      <p:sp>
        <p:nvSpPr>
          <p:cNvPr id="1727634169" name="Text 7"/>
          <p:cNvSpPr/>
          <p:nvPr/>
        </p:nvSpPr>
        <p:spPr bwMode="auto">
          <a:xfrm>
            <a:off x="594360" y="3858768"/>
            <a:ext cx="3794760" cy="320040"/>
          </a:xfrm>
          <a:prstGeom prst="rect">
            <a:avLst/>
          </a:prstGeom>
          <a:noFill/>
          <a:ln/>
        </p:spPr>
        <p:txBody>
          <a:bodyPr wrap="square" rtlCol="0" anchor="ctr"/>
          <a:lstStyle/>
          <a:p>
            <a:pPr marL="0" indent="0">
              <a:buNone/>
              <a:defRPr/>
            </a:pPr>
            <a:r>
              <a:rPr lang="en-US" sz="1050" b="1">
                <a:solidFill>
                  <a:srgbClr val="FFFFFF"/>
                </a:solidFill>
                <a:latin typeface="Calibri"/>
                <a:ea typeface="Calibri"/>
                <a:cs typeface="Calibri"/>
              </a:rPr>
              <a:t>Stack : </a:t>
            </a:r>
            <a:r>
              <a:rPr lang="en-US" sz="1050">
                <a:solidFill>
                  <a:srgbClr val="E5187F"/>
                </a:solidFill>
                <a:latin typeface="Calibri"/>
                <a:ea typeface="Calibri"/>
                <a:cs typeface="Calibri"/>
              </a:rPr>
              <a:t>Python · Whisper · FastAPI · LLM (GenAI / NLP)</a:t>
            </a:r>
            <a:endParaRPr lang="en-US" sz="1050"/>
          </a:p>
        </p:txBody>
      </p:sp>
      <p:sp>
        <p:nvSpPr>
          <p:cNvPr id="1697508784" name="Text 8"/>
          <p:cNvSpPr/>
          <p:nvPr/>
        </p:nvSpPr>
        <p:spPr bwMode="auto">
          <a:xfrm>
            <a:off x="594360" y="4206240"/>
            <a:ext cx="3794760" cy="548640"/>
          </a:xfrm>
          <a:prstGeom prst="rect">
            <a:avLst/>
          </a:prstGeom>
          <a:noFill/>
          <a:ln/>
        </p:spPr>
        <p:txBody>
          <a:bodyPr wrap="square" rtlCol="0" anchor="ctr"/>
          <a:lstStyle/>
          <a:p>
            <a:pPr marL="0" indent="0">
              <a:buNone/>
              <a:defRPr/>
            </a:pPr>
            <a:r>
              <a:rPr lang="en-US" sz="1050" b="1">
                <a:solidFill>
                  <a:srgbClr val="FFFFFF"/>
                </a:solidFill>
                <a:latin typeface="Calibri"/>
                <a:ea typeface="Calibri"/>
                <a:cs typeface="Calibri"/>
              </a:rPr>
              <a:t>Livrable : </a:t>
            </a:r>
            <a:r>
              <a:rPr lang="en-US" sz="1050">
                <a:solidFill>
                  <a:srgbClr val="A7A2B6"/>
                </a:solidFill>
                <a:latin typeface="Calibri"/>
                <a:ea typeface="Calibri"/>
                <a:cs typeface="Calibri"/>
              </a:rPr>
              <a:t>Script Python ou API extrayant les métadonnées textuelles d'une vidéo</a:t>
            </a:r>
            <a:endParaRPr lang="en-US" sz="1050"/>
          </a:p>
        </p:txBody>
      </p:sp>
      <p:sp>
        <p:nvSpPr>
          <p:cNvPr id="846690749" name="Shape 9"/>
          <p:cNvSpPr/>
          <p:nvPr/>
        </p:nvSpPr>
        <p:spPr bwMode="auto">
          <a:xfrm>
            <a:off x="4818888" y="1993392"/>
            <a:ext cx="4160519" cy="2926080"/>
          </a:xfrm>
          <a:prstGeom prst="roundRect">
            <a:avLst>
              <a:gd name="adj" fmla="val 3750"/>
            </a:avLst>
          </a:prstGeom>
          <a:solidFill>
            <a:srgbClr val="2F2A3E"/>
          </a:solidFill>
          <a:ln w="12700">
            <a:solidFill>
              <a:srgbClr val="3D3750"/>
            </a:solidFill>
            <a:prstDash val="solid"/>
          </a:ln>
        </p:spPr>
      </p:sp>
      <p:sp>
        <p:nvSpPr>
          <p:cNvPr id="165295774" name="Text 10"/>
          <p:cNvSpPr/>
          <p:nvPr/>
        </p:nvSpPr>
        <p:spPr bwMode="auto">
          <a:xfrm>
            <a:off x="5001768" y="2084832"/>
            <a:ext cx="3794760" cy="411480"/>
          </a:xfrm>
          <a:prstGeom prst="rect">
            <a:avLst/>
          </a:prstGeom>
          <a:noFill/>
          <a:ln/>
        </p:spPr>
        <p:txBody>
          <a:bodyPr wrap="square" lIns="0" tIns="0" rIns="0" bIns="0" rtlCol="0" anchor="ctr"/>
          <a:lstStyle/>
          <a:p>
            <a:pPr marL="0" indent="0">
              <a:buNone/>
              <a:defRPr/>
            </a:pPr>
            <a:r>
              <a:rPr lang="en-US" sz="1150" b="1">
                <a:solidFill>
                  <a:srgbClr val="E5187F"/>
                </a:solidFill>
                <a:latin typeface="Calibri"/>
                <a:ea typeface="Calibri"/>
                <a:cs typeface="Calibri"/>
              </a:rPr>
              <a:t>SUJET B – Analyse d'Audience &amp; Prédiction</a:t>
            </a:r>
            <a:endParaRPr lang="en-US" sz="1150"/>
          </a:p>
        </p:txBody>
      </p:sp>
      <p:sp>
        <p:nvSpPr>
          <p:cNvPr id="1710157743" name="Text 11"/>
          <p:cNvSpPr/>
          <p:nvPr/>
        </p:nvSpPr>
        <p:spPr bwMode="auto">
          <a:xfrm>
            <a:off x="5001768" y="2560320"/>
            <a:ext cx="3794760" cy="1280160"/>
          </a:xfrm>
          <a:prstGeom prst="rect">
            <a:avLst/>
          </a:prstGeom>
          <a:noFill/>
          <a:ln/>
        </p:spPr>
        <p:txBody>
          <a:bodyPr wrap="square" rtlCol="0" anchor="ctr"/>
          <a:lstStyle/>
          <a:p>
            <a:pPr marL="0" indent="0">
              <a:buNone/>
              <a:defRPr/>
            </a:pPr>
            <a:r>
              <a:rPr lang="en-US" sz="1100" b="1">
                <a:solidFill>
                  <a:srgbClr val="FFFFFF"/>
                </a:solidFill>
                <a:latin typeface="Calibri"/>
                <a:ea typeface="Calibri"/>
                <a:cs typeface="Calibri"/>
              </a:rPr>
              <a:t>Mission : </a:t>
            </a:r>
            <a:r>
              <a:rPr lang="en-US" sz="1100">
                <a:solidFill>
                  <a:srgbClr val="A7A2B6"/>
                </a:solidFill>
                <a:latin typeface="Calibri"/>
                <a:ea typeface="Calibri"/>
                <a:cs typeface="Calibri"/>
              </a:rPr>
              <a:t>À partir de logs de visionnage (play, pause, abandons), identifier les zones d'ennui dans une vidéo et prédire le score de rétention.</a:t>
            </a:r>
            <a:endParaRPr lang="en-US" sz="1100"/>
          </a:p>
        </p:txBody>
      </p:sp>
      <p:sp>
        <p:nvSpPr>
          <p:cNvPr id="1276381654" name="Text 12"/>
          <p:cNvSpPr/>
          <p:nvPr/>
        </p:nvSpPr>
        <p:spPr bwMode="auto">
          <a:xfrm>
            <a:off x="5001768" y="3858768"/>
            <a:ext cx="3794760" cy="320040"/>
          </a:xfrm>
          <a:prstGeom prst="rect">
            <a:avLst/>
          </a:prstGeom>
          <a:noFill/>
          <a:ln/>
        </p:spPr>
        <p:txBody>
          <a:bodyPr wrap="square" rtlCol="0" anchor="ctr"/>
          <a:lstStyle/>
          <a:p>
            <a:pPr marL="0" indent="0">
              <a:buNone/>
              <a:defRPr/>
            </a:pPr>
            <a:r>
              <a:rPr lang="en-US" sz="1050" b="1">
                <a:solidFill>
                  <a:srgbClr val="FFFFFF"/>
                </a:solidFill>
                <a:latin typeface="Calibri"/>
                <a:ea typeface="Calibri"/>
                <a:cs typeface="Calibri"/>
              </a:rPr>
              <a:t>Stack : </a:t>
            </a:r>
            <a:r>
              <a:rPr lang="en-US" sz="1050">
                <a:solidFill>
                  <a:srgbClr val="E5187F"/>
                </a:solidFill>
                <a:latin typeface="Calibri"/>
                <a:ea typeface="Calibri"/>
                <a:cs typeface="Calibri"/>
              </a:rPr>
              <a:t>Python · Scikit-learn · Streamlit / BI Dashboard</a:t>
            </a:r>
            <a:endParaRPr lang="en-US" sz="1050"/>
          </a:p>
        </p:txBody>
      </p:sp>
      <p:sp>
        <p:nvSpPr>
          <p:cNvPr id="926763491" name="Text 13"/>
          <p:cNvSpPr/>
          <p:nvPr/>
        </p:nvSpPr>
        <p:spPr bwMode="auto">
          <a:xfrm>
            <a:off x="5001768" y="4206240"/>
            <a:ext cx="3794760" cy="548640"/>
          </a:xfrm>
          <a:prstGeom prst="rect">
            <a:avLst/>
          </a:prstGeom>
          <a:noFill/>
          <a:ln/>
        </p:spPr>
        <p:txBody>
          <a:bodyPr wrap="square" rtlCol="0" anchor="ctr"/>
          <a:lstStyle/>
          <a:p>
            <a:pPr marL="0" indent="0">
              <a:buNone/>
              <a:defRPr/>
            </a:pPr>
            <a:r>
              <a:rPr lang="en-US" sz="1050" b="1">
                <a:solidFill>
                  <a:srgbClr val="FFFFFF"/>
                </a:solidFill>
                <a:latin typeface="Calibri"/>
                <a:ea typeface="Calibri"/>
                <a:cs typeface="Calibri"/>
              </a:rPr>
              <a:t>Livrable : </a:t>
            </a:r>
            <a:r>
              <a:rPr lang="en-US" sz="1050">
                <a:solidFill>
                  <a:srgbClr val="A7A2B6"/>
                </a:solidFill>
                <a:latin typeface="Calibri"/>
                <a:ea typeface="Calibri"/>
                <a:cs typeface="Calibri"/>
              </a:rPr>
              <a:t>Dashboard d'analyse BI + modèle prédictif documenté</a:t>
            </a:r>
            <a:endParaRPr lang="en-US" sz="105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name="Slide 9">
    <p:spTree>
      <p:nvGrpSpPr>
        <p:cNvPr id="1" name=""/>
        <p:cNvGrpSpPr/>
        <p:nvPr/>
      </p:nvGrpSpPr>
      <p:grpSpPr bwMode="auto">
        <a:xfrm>
          <a:off x="0" y="0"/>
          <a:ext cx="0" cy="0"/>
          <a:chOff x="0" y="0"/>
          <a:chExt cx="0" cy="0"/>
        </a:xfrm>
      </p:grpSpPr>
      <p:pic>
        <p:nvPicPr>
          <p:cNvPr id="2105839592" name="Image 0" descr="preencoded.png"/>
          <p:cNvPicPr>
            <a:picLocks noChangeAspect="1"/>
          </p:cNvPicPr>
          <p:nvPr/>
        </p:nvPicPr>
        <p:blipFill rotWithShape="1">
          <a:blip r:embed="rId3"/>
          <a:stretch/>
        </p:blipFill>
        <p:spPr bwMode="auto">
          <a:xfrm>
            <a:off x="0" y="0"/>
            <a:ext cx="9144000" cy="5143500"/>
          </a:xfrm>
          <a:prstGeom prst="rect">
            <a:avLst/>
          </a:prstGeom>
        </p:spPr>
      </p:pic>
      <p:sp>
        <p:nvSpPr>
          <p:cNvPr id="1047437093" name="Text 0"/>
          <p:cNvSpPr/>
          <p:nvPr/>
        </p:nvSpPr>
        <p:spPr bwMode="auto">
          <a:xfrm>
            <a:off x="502920" y="347472"/>
            <a:ext cx="2011680" cy="256032"/>
          </a:xfrm>
          <a:prstGeom prst="rect">
            <a:avLst/>
          </a:prstGeom>
          <a:noFill/>
          <a:ln/>
        </p:spPr>
        <p:txBody>
          <a:bodyPr wrap="square" lIns="0" tIns="0" rIns="0" bIns="0" rtlCol="0" anchor="ctr"/>
          <a:lstStyle/>
          <a:p>
            <a:pPr marL="0" indent="0">
              <a:buNone/>
              <a:defRPr/>
            </a:pPr>
            <a:r>
              <a:rPr lang="en-US" sz="900" b="1" spc="200">
                <a:solidFill>
                  <a:srgbClr val="E5187F"/>
                </a:solidFill>
                <a:latin typeface="Calibri"/>
                <a:ea typeface="Calibri"/>
                <a:cs typeface="Calibri"/>
              </a:rPr>
              <a:t>• BARÈME — VERSION DÉFINITIVE</a:t>
            </a:r>
            <a:endParaRPr lang="en-US" sz="900"/>
          </a:p>
        </p:txBody>
      </p:sp>
      <p:sp>
        <p:nvSpPr>
          <p:cNvPr id="1122559214" name="Text 1"/>
          <p:cNvSpPr/>
          <p:nvPr/>
        </p:nvSpPr>
        <p:spPr bwMode="auto">
          <a:xfrm>
            <a:off x="502920" y="658368"/>
            <a:ext cx="8229600" cy="502920"/>
          </a:xfrm>
          <a:prstGeom prst="rect">
            <a:avLst/>
          </a:prstGeom>
          <a:noFill/>
          <a:ln/>
        </p:spPr>
        <p:txBody>
          <a:bodyPr wrap="square" lIns="0" tIns="0" rIns="0" bIns="0" rtlCol="0" anchor="ctr"/>
          <a:lstStyle/>
          <a:p>
            <a:pPr marL="0" indent="0">
              <a:buNone/>
              <a:defRPr/>
            </a:pPr>
            <a:r>
              <a:rPr lang="en-US" sz="2800" b="1">
                <a:solidFill>
                  <a:srgbClr val="FFFFFF"/>
                </a:solidFill>
                <a:latin typeface="Cambria"/>
                <a:ea typeface="Cambria"/>
                <a:cs typeface="Cambria"/>
              </a:rPr>
              <a:t>Barème d'évaluation</a:t>
            </a:r>
            <a:endParaRPr lang="en-US" sz="2800"/>
          </a:p>
        </p:txBody>
      </p:sp>
      <p:sp>
        <p:nvSpPr>
          <p:cNvPr id="2076645666" name="Text 2"/>
          <p:cNvSpPr/>
          <p:nvPr/>
        </p:nvSpPr>
        <p:spPr bwMode="auto">
          <a:xfrm>
            <a:off x="502920" y="1188720"/>
            <a:ext cx="8321039" cy="274320"/>
          </a:xfrm>
          <a:prstGeom prst="rect">
            <a:avLst/>
          </a:prstGeom>
          <a:noFill/>
          <a:ln/>
        </p:spPr>
        <p:txBody>
          <a:bodyPr wrap="square" lIns="0" tIns="0" rIns="0" bIns="0" rtlCol="0" anchor="ctr"/>
          <a:lstStyle/>
          <a:p>
            <a:pPr marL="0" indent="0">
              <a:buNone/>
              <a:defRPr/>
            </a:pPr>
            <a:r>
              <a:rPr lang="en-US" sz="1000" i="1">
                <a:solidFill>
                  <a:srgbClr val="A7A2B6"/>
                </a:solidFill>
                <a:latin typeface="Calibri"/>
                <a:ea typeface="Calibri"/>
                <a:cs typeface="Calibri"/>
              </a:rPr>
              <a:t>Notation sur 100 pts → convertie sur 20 (pts ÷ 5)  ·  Note finale = (Total brut ÷ 5) + Bonus autonomie</a:t>
            </a:r>
            <a:endParaRPr lang="en-US" sz="1000"/>
          </a:p>
        </p:txBody>
      </p:sp>
      <p:sp>
        <p:nvSpPr>
          <p:cNvPr id="1907274068" name="Shape 3"/>
          <p:cNvSpPr/>
          <p:nvPr/>
        </p:nvSpPr>
        <p:spPr bwMode="auto">
          <a:xfrm>
            <a:off x="411480" y="1572768"/>
            <a:ext cx="2743200" cy="1737360"/>
          </a:xfrm>
          <a:prstGeom prst="roundRect">
            <a:avLst>
              <a:gd name="adj" fmla="val 6316"/>
            </a:avLst>
          </a:prstGeom>
          <a:solidFill>
            <a:srgbClr val="2F2A3E"/>
          </a:solidFill>
          <a:ln w="12700">
            <a:solidFill>
              <a:srgbClr val="3D3750"/>
            </a:solidFill>
            <a:prstDash val="solid"/>
          </a:ln>
        </p:spPr>
      </p:sp>
      <p:pic>
        <p:nvPicPr>
          <p:cNvPr id="671493509" name="Image 1" descr="preencoded.png"/>
          <p:cNvPicPr>
            <a:picLocks noChangeAspect="1"/>
          </p:cNvPicPr>
          <p:nvPr/>
        </p:nvPicPr>
        <p:blipFill rotWithShape="1">
          <a:blip r:embed="rId4"/>
          <a:stretch/>
        </p:blipFill>
        <p:spPr bwMode="auto">
          <a:xfrm>
            <a:off x="576072" y="1709928"/>
            <a:ext cx="475488" cy="475488"/>
          </a:xfrm>
          <a:prstGeom prst="rect">
            <a:avLst/>
          </a:prstGeom>
        </p:spPr>
      </p:pic>
      <p:pic>
        <p:nvPicPr>
          <p:cNvPr id="123934102" name="Image 2" descr="preencoded.png"/>
          <p:cNvPicPr>
            <a:picLocks noChangeAspect="1"/>
          </p:cNvPicPr>
          <p:nvPr/>
        </p:nvPicPr>
        <p:blipFill rotWithShape="1">
          <a:blip r:embed="rId5"/>
          <a:stretch/>
        </p:blipFill>
        <p:spPr bwMode="auto">
          <a:xfrm>
            <a:off x="680679" y="1814535"/>
            <a:ext cx="266273" cy="266273"/>
          </a:xfrm>
          <a:prstGeom prst="rect">
            <a:avLst/>
          </a:prstGeom>
        </p:spPr>
      </p:pic>
      <p:sp>
        <p:nvSpPr>
          <p:cNvPr id="217007030" name="Shape 4"/>
          <p:cNvSpPr/>
          <p:nvPr/>
        </p:nvSpPr>
        <p:spPr bwMode="auto">
          <a:xfrm>
            <a:off x="2404872" y="1709928"/>
            <a:ext cx="594360" cy="338328"/>
          </a:xfrm>
          <a:prstGeom prst="roundRect">
            <a:avLst>
              <a:gd name="adj" fmla="val 21622"/>
            </a:avLst>
          </a:prstGeom>
          <a:solidFill>
            <a:srgbClr val="FFFFFF">
              <a:alpha val="15000"/>
            </a:srgbClr>
          </a:solidFill>
          <a:ln w="12700">
            <a:solidFill>
              <a:srgbClr val="E5187F"/>
            </a:solidFill>
            <a:prstDash val="solid"/>
          </a:ln>
        </p:spPr>
      </p:sp>
      <p:sp>
        <p:nvSpPr>
          <p:cNvPr id="849652451" name="Text 5"/>
          <p:cNvSpPr/>
          <p:nvPr/>
        </p:nvSpPr>
        <p:spPr bwMode="auto">
          <a:xfrm>
            <a:off x="2404872" y="1709927"/>
            <a:ext cx="594360" cy="338328"/>
          </a:xfrm>
          <a:prstGeom prst="rect">
            <a:avLst/>
          </a:prstGeom>
          <a:noFill/>
          <a:ln/>
        </p:spPr>
        <p:txBody>
          <a:bodyPr wrap="square" lIns="0" tIns="0" rIns="0" bIns="0" rtlCol="0" anchor="ctr"/>
          <a:lstStyle/>
          <a:p>
            <a:pPr marL="0" indent="0" algn="ctr">
              <a:buNone/>
              <a:defRPr/>
            </a:pPr>
            <a:r>
              <a:rPr lang="en-US" sz="1000" b="1">
                <a:solidFill>
                  <a:srgbClr val="E5187F"/>
                </a:solidFill>
                <a:latin typeface="Calibri"/>
                <a:ea typeface="Calibri"/>
                <a:cs typeface="Calibri"/>
              </a:rPr>
              <a:t>15 pts</a:t>
            </a:r>
            <a:endParaRPr lang="en-US" sz="1000"/>
          </a:p>
        </p:txBody>
      </p:sp>
      <p:sp>
        <p:nvSpPr>
          <p:cNvPr id="2137021447" name="Text 6"/>
          <p:cNvSpPr/>
          <p:nvPr/>
        </p:nvSpPr>
        <p:spPr bwMode="auto">
          <a:xfrm>
            <a:off x="1179576" y="1709927"/>
            <a:ext cx="1883664" cy="338328"/>
          </a:xfrm>
          <a:prstGeom prst="rect">
            <a:avLst/>
          </a:prstGeom>
          <a:noFill/>
          <a:ln/>
        </p:spPr>
        <p:txBody>
          <a:bodyPr wrap="square" lIns="0" tIns="0" rIns="0" bIns="0" rtlCol="0" anchor="ctr"/>
          <a:lstStyle/>
          <a:p>
            <a:pPr marL="0" indent="0">
              <a:buNone/>
              <a:defRPr/>
            </a:pPr>
            <a:r>
              <a:rPr lang="en-US" sz="1050" b="1">
                <a:solidFill>
                  <a:srgbClr val="FFFFFF"/>
                </a:solidFill>
                <a:latin typeface="Cambria"/>
                <a:ea typeface="Cambria"/>
                <a:cs typeface="Cambria"/>
              </a:rPr>
              <a:t>Pôle 1 —</a:t>
            </a:r>
            <a:r>
              <a:rPr lang="fr-FR" sz="1050" b="1">
                <a:solidFill>
                  <a:srgbClr val="FFFFFF"/>
                </a:solidFill>
                <a:latin typeface="Cambria"/>
                <a:ea typeface="Cambria"/>
                <a:cs typeface="Cambria"/>
              </a:rPr>
              <a:t> </a:t>
            </a:r>
            <a:r>
              <a:rPr lang="en-US" sz="1050" b="1">
                <a:solidFill>
                  <a:srgbClr val="FFFFFF"/>
                </a:solidFill>
                <a:latin typeface="Cambria"/>
                <a:ea typeface="Cambria"/>
                <a:cs typeface="Cambria"/>
              </a:rPr>
              <a:t>App </a:t>
            </a:r>
          </a:p>
          <a:p>
            <a:pPr marL="0" indent="0">
              <a:buNone/>
              <a:defRPr/>
            </a:pPr>
            <a:r>
              <a:rPr lang="en-US" sz="1050" b="1">
                <a:solidFill>
                  <a:srgbClr val="FFFFFF"/>
                </a:solidFill>
                <a:latin typeface="Cambria"/>
                <a:ea typeface="Cambria"/>
                <a:cs typeface="Cambria"/>
              </a:rPr>
              <a:t>&amp; Collaboration</a:t>
            </a:r>
            <a:endParaRPr lang="en-US" sz="1050"/>
          </a:p>
        </p:txBody>
      </p:sp>
      <p:sp>
        <p:nvSpPr>
          <p:cNvPr id="689795221" name="Text 7"/>
          <p:cNvSpPr/>
          <p:nvPr/>
        </p:nvSpPr>
        <p:spPr bwMode="auto">
          <a:xfrm>
            <a:off x="576072" y="2157984"/>
            <a:ext cx="2487168" cy="1097280"/>
          </a:xfrm>
          <a:prstGeom prst="rect">
            <a:avLst/>
          </a:prstGeom>
          <a:noFill/>
          <a:ln/>
        </p:spPr>
        <p:txBody>
          <a:bodyPr wrap="square" rtlCol="0" anchor="ctr"/>
          <a:lstStyle/>
          <a:p>
            <a:pPr marL="0" indent="0">
              <a:buNone/>
              <a:defRPr/>
            </a:pPr>
            <a:r>
              <a:rPr lang="en-US" sz="950">
                <a:solidFill>
                  <a:srgbClr val="A7A2B6"/>
                </a:solidFill>
                <a:latin typeface="Calibri"/>
                <a:ea typeface="Calibri"/>
                <a:cs typeface="Calibri"/>
              </a:rPr>
              <a:t>Fonctionnalité cœur · temps réel &amp; robustesse · intégration lecteur (libre) · livrable structuré</a:t>
            </a:r>
            <a:endParaRPr lang="en-US" sz="950"/>
          </a:p>
        </p:txBody>
      </p:sp>
      <p:sp>
        <p:nvSpPr>
          <p:cNvPr id="926400160" name="Shape 8"/>
          <p:cNvSpPr/>
          <p:nvPr/>
        </p:nvSpPr>
        <p:spPr bwMode="auto">
          <a:xfrm>
            <a:off x="3337560" y="1572768"/>
            <a:ext cx="2743200" cy="1737360"/>
          </a:xfrm>
          <a:prstGeom prst="roundRect">
            <a:avLst>
              <a:gd name="adj" fmla="val 6316"/>
            </a:avLst>
          </a:prstGeom>
          <a:solidFill>
            <a:srgbClr val="2F2A3E"/>
          </a:solidFill>
          <a:ln w="12700">
            <a:solidFill>
              <a:srgbClr val="3D3750"/>
            </a:solidFill>
            <a:prstDash val="solid"/>
          </a:ln>
        </p:spPr>
      </p:sp>
      <p:pic>
        <p:nvPicPr>
          <p:cNvPr id="1989475238" name="Image 3" descr="preencoded.png"/>
          <p:cNvPicPr>
            <a:picLocks noChangeAspect="1"/>
          </p:cNvPicPr>
          <p:nvPr/>
        </p:nvPicPr>
        <p:blipFill rotWithShape="1">
          <a:blip r:embed="rId4"/>
          <a:stretch/>
        </p:blipFill>
        <p:spPr bwMode="auto">
          <a:xfrm>
            <a:off x="3502152" y="1709928"/>
            <a:ext cx="475488" cy="475488"/>
          </a:xfrm>
          <a:prstGeom prst="rect">
            <a:avLst/>
          </a:prstGeom>
        </p:spPr>
      </p:pic>
      <p:pic>
        <p:nvPicPr>
          <p:cNvPr id="1975903451" name="Image 4" descr="preencoded.png"/>
          <p:cNvPicPr>
            <a:picLocks noChangeAspect="1"/>
          </p:cNvPicPr>
          <p:nvPr/>
        </p:nvPicPr>
        <p:blipFill rotWithShape="1">
          <a:blip r:embed="rId6"/>
          <a:stretch/>
        </p:blipFill>
        <p:spPr bwMode="auto">
          <a:xfrm>
            <a:off x="3606759" y="1814535"/>
            <a:ext cx="266273" cy="266273"/>
          </a:xfrm>
          <a:prstGeom prst="rect">
            <a:avLst/>
          </a:prstGeom>
        </p:spPr>
      </p:pic>
      <p:sp>
        <p:nvSpPr>
          <p:cNvPr id="1749369608" name="Shape 9"/>
          <p:cNvSpPr/>
          <p:nvPr/>
        </p:nvSpPr>
        <p:spPr bwMode="auto">
          <a:xfrm>
            <a:off x="5330952" y="1709928"/>
            <a:ext cx="594360" cy="338328"/>
          </a:xfrm>
          <a:prstGeom prst="roundRect">
            <a:avLst>
              <a:gd name="adj" fmla="val 21622"/>
            </a:avLst>
          </a:prstGeom>
          <a:solidFill>
            <a:srgbClr val="FFFFFF">
              <a:alpha val="15000"/>
            </a:srgbClr>
          </a:solidFill>
          <a:ln w="12700">
            <a:solidFill>
              <a:srgbClr val="E5187F"/>
            </a:solidFill>
            <a:prstDash val="solid"/>
          </a:ln>
        </p:spPr>
      </p:sp>
      <p:sp>
        <p:nvSpPr>
          <p:cNvPr id="382302716" name="Text 10"/>
          <p:cNvSpPr/>
          <p:nvPr/>
        </p:nvSpPr>
        <p:spPr bwMode="auto">
          <a:xfrm>
            <a:off x="5330952" y="1709928"/>
            <a:ext cx="594360" cy="338328"/>
          </a:xfrm>
          <a:prstGeom prst="rect">
            <a:avLst/>
          </a:prstGeom>
          <a:noFill/>
          <a:ln/>
        </p:spPr>
        <p:txBody>
          <a:bodyPr wrap="square" lIns="0" tIns="0" rIns="0" bIns="0" rtlCol="0" anchor="ctr"/>
          <a:lstStyle/>
          <a:p>
            <a:pPr marL="0" indent="0" algn="ctr">
              <a:buNone/>
              <a:defRPr/>
            </a:pPr>
            <a:r>
              <a:rPr lang="en-US" sz="1000" b="1">
                <a:solidFill>
                  <a:srgbClr val="E5187F"/>
                </a:solidFill>
                <a:latin typeface="Calibri"/>
                <a:ea typeface="Calibri"/>
                <a:cs typeface="Calibri"/>
              </a:rPr>
              <a:t>15 pts</a:t>
            </a:r>
            <a:endParaRPr lang="en-US" sz="1000"/>
          </a:p>
        </p:txBody>
      </p:sp>
      <p:sp>
        <p:nvSpPr>
          <p:cNvPr id="115663013" name="Text 11"/>
          <p:cNvSpPr/>
          <p:nvPr/>
        </p:nvSpPr>
        <p:spPr bwMode="auto">
          <a:xfrm>
            <a:off x="4105656" y="1709928"/>
            <a:ext cx="1883664" cy="338328"/>
          </a:xfrm>
          <a:prstGeom prst="rect">
            <a:avLst/>
          </a:prstGeom>
          <a:noFill/>
          <a:ln/>
        </p:spPr>
        <p:txBody>
          <a:bodyPr wrap="square" lIns="0" tIns="0" rIns="0" bIns="0" rtlCol="0" anchor="ctr"/>
          <a:lstStyle/>
          <a:p>
            <a:pPr marL="0" indent="0">
              <a:buNone/>
              <a:defRPr/>
            </a:pPr>
            <a:r>
              <a:rPr lang="en-US" sz="1050" b="1">
                <a:solidFill>
                  <a:srgbClr val="FFFFFF"/>
                </a:solidFill>
                <a:latin typeface="Cambria"/>
                <a:ea typeface="Cambria"/>
                <a:cs typeface="Cambria"/>
              </a:rPr>
              <a:t>Pôle 2 — Infra, </a:t>
            </a:r>
          </a:p>
          <a:p>
            <a:pPr marL="0" indent="0">
              <a:buNone/>
              <a:defRPr/>
            </a:pPr>
            <a:r>
              <a:rPr lang="en-US" sz="1050" b="1">
                <a:solidFill>
                  <a:srgbClr val="FFFFFF"/>
                </a:solidFill>
                <a:latin typeface="Cambria"/>
                <a:ea typeface="Cambria"/>
                <a:cs typeface="Cambria"/>
              </a:rPr>
              <a:t>Sécurité &amp; Cloud</a:t>
            </a:r>
            <a:endParaRPr lang="en-US" sz="1050"/>
          </a:p>
        </p:txBody>
      </p:sp>
      <p:sp>
        <p:nvSpPr>
          <p:cNvPr id="2089198425" name="Text 12"/>
          <p:cNvSpPr/>
          <p:nvPr/>
        </p:nvSpPr>
        <p:spPr bwMode="auto">
          <a:xfrm>
            <a:off x="3502152" y="2157984"/>
            <a:ext cx="2487168" cy="1097280"/>
          </a:xfrm>
          <a:prstGeom prst="rect">
            <a:avLst/>
          </a:prstGeom>
          <a:noFill/>
          <a:ln/>
        </p:spPr>
        <p:txBody>
          <a:bodyPr wrap="square" rtlCol="0" anchor="ctr"/>
          <a:lstStyle/>
          <a:p>
            <a:pPr marL="0" indent="0">
              <a:buNone/>
              <a:defRPr/>
            </a:pPr>
            <a:r>
              <a:rPr lang="en-US" sz="950">
                <a:solidFill>
                  <a:srgbClr val="A7A2B6"/>
                </a:solidFill>
                <a:latin typeface="Calibri"/>
                <a:ea typeface="Calibri"/>
                <a:cs typeface="Calibri"/>
              </a:rPr>
              <a:t>Chaîne diffusion/détection · mécanisme sécurité réel · reproductibilité locale · modèle de menace</a:t>
            </a:r>
            <a:endParaRPr lang="en-US" sz="950"/>
          </a:p>
        </p:txBody>
      </p:sp>
      <p:sp>
        <p:nvSpPr>
          <p:cNvPr id="1433847210" name="Shape 13"/>
          <p:cNvSpPr/>
          <p:nvPr/>
        </p:nvSpPr>
        <p:spPr bwMode="auto">
          <a:xfrm>
            <a:off x="6263640" y="1572768"/>
            <a:ext cx="2743200" cy="1737360"/>
          </a:xfrm>
          <a:prstGeom prst="roundRect">
            <a:avLst>
              <a:gd name="adj" fmla="val 6316"/>
            </a:avLst>
          </a:prstGeom>
          <a:solidFill>
            <a:srgbClr val="2F2A3E"/>
          </a:solidFill>
          <a:ln w="12700">
            <a:solidFill>
              <a:srgbClr val="3D3750"/>
            </a:solidFill>
            <a:prstDash val="solid"/>
          </a:ln>
        </p:spPr>
      </p:sp>
      <p:pic>
        <p:nvPicPr>
          <p:cNvPr id="712834788" name="Image 5" descr="preencoded.png"/>
          <p:cNvPicPr>
            <a:picLocks noChangeAspect="1"/>
          </p:cNvPicPr>
          <p:nvPr/>
        </p:nvPicPr>
        <p:blipFill rotWithShape="1">
          <a:blip r:embed="rId4"/>
          <a:stretch/>
        </p:blipFill>
        <p:spPr bwMode="auto">
          <a:xfrm>
            <a:off x="6428232" y="1709928"/>
            <a:ext cx="475488" cy="475488"/>
          </a:xfrm>
          <a:prstGeom prst="rect">
            <a:avLst/>
          </a:prstGeom>
        </p:spPr>
      </p:pic>
      <p:pic>
        <p:nvPicPr>
          <p:cNvPr id="1165533264" name="Image 6" descr="preencoded.png"/>
          <p:cNvPicPr>
            <a:picLocks noChangeAspect="1"/>
          </p:cNvPicPr>
          <p:nvPr/>
        </p:nvPicPr>
        <p:blipFill rotWithShape="1">
          <a:blip r:embed="rId7"/>
          <a:stretch/>
        </p:blipFill>
        <p:spPr bwMode="auto">
          <a:xfrm>
            <a:off x="6532839" y="1814535"/>
            <a:ext cx="266273" cy="266273"/>
          </a:xfrm>
          <a:prstGeom prst="rect">
            <a:avLst/>
          </a:prstGeom>
        </p:spPr>
      </p:pic>
      <p:sp>
        <p:nvSpPr>
          <p:cNvPr id="273588369" name="Shape 14"/>
          <p:cNvSpPr/>
          <p:nvPr/>
        </p:nvSpPr>
        <p:spPr bwMode="auto">
          <a:xfrm>
            <a:off x="8257032" y="1709928"/>
            <a:ext cx="594360" cy="338328"/>
          </a:xfrm>
          <a:prstGeom prst="roundRect">
            <a:avLst>
              <a:gd name="adj" fmla="val 21622"/>
            </a:avLst>
          </a:prstGeom>
          <a:solidFill>
            <a:srgbClr val="FFFFFF">
              <a:alpha val="15000"/>
            </a:srgbClr>
          </a:solidFill>
          <a:ln w="12700">
            <a:solidFill>
              <a:srgbClr val="E5187F"/>
            </a:solidFill>
            <a:prstDash val="solid"/>
          </a:ln>
        </p:spPr>
      </p:sp>
      <p:sp>
        <p:nvSpPr>
          <p:cNvPr id="662061626" name="Text 15"/>
          <p:cNvSpPr/>
          <p:nvPr/>
        </p:nvSpPr>
        <p:spPr bwMode="auto">
          <a:xfrm>
            <a:off x="8257032" y="1709928"/>
            <a:ext cx="594360" cy="338328"/>
          </a:xfrm>
          <a:prstGeom prst="rect">
            <a:avLst/>
          </a:prstGeom>
          <a:noFill/>
          <a:ln/>
        </p:spPr>
        <p:txBody>
          <a:bodyPr wrap="square" lIns="0" tIns="0" rIns="0" bIns="0" rtlCol="0" anchor="ctr"/>
          <a:lstStyle/>
          <a:p>
            <a:pPr marL="0" indent="0" algn="ctr">
              <a:buNone/>
              <a:defRPr/>
            </a:pPr>
            <a:r>
              <a:rPr lang="en-US" sz="1000" b="1">
                <a:solidFill>
                  <a:srgbClr val="E5187F"/>
                </a:solidFill>
                <a:latin typeface="Calibri"/>
                <a:ea typeface="Calibri"/>
                <a:cs typeface="Calibri"/>
              </a:rPr>
              <a:t>15 pts</a:t>
            </a:r>
            <a:endParaRPr lang="en-US" sz="1000"/>
          </a:p>
        </p:txBody>
      </p:sp>
      <p:sp>
        <p:nvSpPr>
          <p:cNvPr id="1798118285" name="Text 16"/>
          <p:cNvSpPr/>
          <p:nvPr/>
        </p:nvSpPr>
        <p:spPr bwMode="auto">
          <a:xfrm>
            <a:off x="7031736" y="1709928"/>
            <a:ext cx="1883664" cy="338328"/>
          </a:xfrm>
          <a:prstGeom prst="rect">
            <a:avLst/>
          </a:prstGeom>
          <a:noFill/>
          <a:ln/>
        </p:spPr>
        <p:txBody>
          <a:bodyPr wrap="square" lIns="0" tIns="0" rIns="0" bIns="0" rtlCol="0" anchor="ctr"/>
          <a:lstStyle/>
          <a:p>
            <a:pPr marL="0" indent="0">
              <a:buNone/>
              <a:defRPr/>
            </a:pPr>
            <a:r>
              <a:rPr lang="en-US" sz="1050" b="1">
                <a:solidFill>
                  <a:srgbClr val="FFFFFF"/>
                </a:solidFill>
                <a:latin typeface="Cambria"/>
                <a:ea typeface="Cambria"/>
                <a:cs typeface="Cambria"/>
              </a:rPr>
              <a:t>Pôle 3 — IA &amp; Data</a:t>
            </a:r>
            <a:endParaRPr lang="en-US" sz="1050"/>
          </a:p>
        </p:txBody>
      </p:sp>
      <p:sp>
        <p:nvSpPr>
          <p:cNvPr id="798027280" name="Text 17"/>
          <p:cNvSpPr/>
          <p:nvPr/>
        </p:nvSpPr>
        <p:spPr bwMode="auto">
          <a:xfrm>
            <a:off x="6428232" y="2157984"/>
            <a:ext cx="2487168" cy="1097280"/>
          </a:xfrm>
          <a:prstGeom prst="rect">
            <a:avLst/>
          </a:prstGeom>
          <a:noFill/>
          <a:ln/>
        </p:spPr>
        <p:txBody>
          <a:bodyPr wrap="square" rtlCol="0" anchor="ctr"/>
          <a:lstStyle/>
          <a:p>
            <a:pPr marL="0" indent="0">
              <a:buNone/>
              <a:defRPr/>
            </a:pPr>
            <a:r>
              <a:rPr lang="en-US" sz="950">
                <a:solidFill>
                  <a:srgbClr val="A7A2B6"/>
                </a:solidFill>
                <a:latin typeface="Calibri"/>
                <a:ea typeface="Calibri"/>
                <a:cs typeface="Calibri"/>
              </a:rPr>
              <a:t>Pipeline / modèle opérationnel · pertinence résultats · restitution exploitable · rigueur data</a:t>
            </a:r>
            <a:endParaRPr lang="en-US" sz="950"/>
          </a:p>
        </p:txBody>
      </p:sp>
      <p:sp>
        <p:nvSpPr>
          <p:cNvPr id="1301885683" name="Shape 18"/>
          <p:cNvSpPr/>
          <p:nvPr/>
        </p:nvSpPr>
        <p:spPr bwMode="auto">
          <a:xfrm>
            <a:off x="411480" y="3438144"/>
            <a:ext cx="2743200" cy="1481328"/>
          </a:xfrm>
          <a:prstGeom prst="roundRect">
            <a:avLst>
              <a:gd name="adj" fmla="val 7407"/>
            </a:avLst>
          </a:prstGeom>
          <a:solidFill>
            <a:srgbClr val="2F2A3E"/>
          </a:solidFill>
          <a:ln w="12700">
            <a:solidFill>
              <a:srgbClr val="3D3750"/>
            </a:solidFill>
            <a:prstDash val="solid"/>
          </a:ln>
        </p:spPr>
      </p:sp>
      <p:pic>
        <p:nvPicPr>
          <p:cNvPr id="272186370" name="Image 7" descr="preencoded.png"/>
          <p:cNvPicPr>
            <a:picLocks noChangeAspect="1"/>
          </p:cNvPicPr>
          <p:nvPr/>
        </p:nvPicPr>
        <p:blipFill rotWithShape="1">
          <a:blip r:embed="rId4"/>
          <a:stretch/>
        </p:blipFill>
        <p:spPr bwMode="auto">
          <a:xfrm>
            <a:off x="576072" y="3566160"/>
            <a:ext cx="438912" cy="438912"/>
          </a:xfrm>
          <a:prstGeom prst="rect">
            <a:avLst/>
          </a:prstGeom>
        </p:spPr>
      </p:pic>
      <p:pic>
        <p:nvPicPr>
          <p:cNvPr id="500299072" name="Image 8" descr="preencoded.png"/>
          <p:cNvPicPr>
            <a:picLocks noChangeAspect="1"/>
          </p:cNvPicPr>
          <p:nvPr/>
        </p:nvPicPr>
        <p:blipFill rotWithShape="1">
          <a:blip r:embed="rId8"/>
          <a:stretch/>
        </p:blipFill>
        <p:spPr bwMode="auto">
          <a:xfrm>
            <a:off x="672633" y="3662721"/>
            <a:ext cx="245791" cy="245791"/>
          </a:xfrm>
          <a:prstGeom prst="rect">
            <a:avLst/>
          </a:prstGeom>
        </p:spPr>
      </p:pic>
      <p:sp>
        <p:nvSpPr>
          <p:cNvPr id="84689898" name="Shape 19"/>
          <p:cNvSpPr/>
          <p:nvPr/>
        </p:nvSpPr>
        <p:spPr bwMode="auto">
          <a:xfrm>
            <a:off x="2404872" y="3566160"/>
            <a:ext cx="594360" cy="320040"/>
          </a:xfrm>
          <a:prstGeom prst="roundRect">
            <a:avLst>
              <a:gd name="adj" fmla="val 20000"/>
            </a:avLst>
          </a:prstGeom>
          <a:solidFill>
            <a:srgbClr val="FFFFFF">
              <a:alpha val="15000"/>
            </a:srgbClr>
          </a:solidFill>
          <a:ln w="12700">
            <a:solidFill>
              <a:srgbClr val="E5187F"/>
            </a:solidFill>
            <a:prstDash val="solid"/>
          </a:ln>
        </p:spPr>
      </p:sp>
      <p:sp>
        <p:nvSpPr>
          <p:cNvPr id="110441341" name="Text 20"/>
          <p:cNvSpPr/>
          <p:nvPr/>
        </p:nvSpPr>
        <p:spPr bwMode="auto">
          <a:xfrm>
            <a:off x="2404872" y="3566160"/>
            <a:ext cx="594360" cy="320040"/>
          </a:xfrm>
          <a:prstGeom prst="rect">
            <a:avLst/>
          </a:prstGeom>
          <a:noFill/>
          <a:ln/>
        </p:spPr>
        <p:txBody>
          <a:bodyPr wrap="square" lIns="0" tIns="0" rIns="0" bIns="0" rtlCol="0" anchor="ctr"/>
          <a:lstStyle/>
          <a:p>
            <a:pPr marL="0" indent="0" algn="ctr">
              <a:buNone/>
              <a:defRPr/>
            </a:pPr>
            <a:r>
              <a:rPr lang="en-US" sz="1000" b="1">
                <a:solidFill>
                  <a:srgbClr val="E5187F"/>
                </a:solidFill>
                <a:latin typeface="Calibri"/>
                <a:ea typeface="Calibri"/>
                <a:cs typeface="Calibri"/>
              </a:rPr>
              <a:t>10 pts</a:t>
            </a:r>
            <a:endParaRPr lang="en-US" sz="1000"/>
          </a:p>
        </p:txBody>
      </p:sp>
      <p:sp>
        <p:nvSpPr>
          <p:cNvPr id="247561017" name="Text 21"/>
          <p:cNvSpPr/>
          <p:nvPr/>
        </p:nvSpPr>
        <p:spPr bwMode="auto">
          <a:xfrm>
            <a:off x="1161288" y="3566160"/>
            <a:ext cx="1901952" cy="320040"/>
          </a:xfrm>
          <a:prstGeom prst="rect">
            <a:avLst/>
          </a:prstGeom>
          <a:noFill/>
          <a:ln/>
        </p:spPr>
        <p:txBody>
          <a:bodyPr wrap="square" lIns="0" tIns="0" rIns="0" bIns="0" rtlCol="0" anchor="ctr"/>
          <a:lstStyle/>
          <a:p>
            <a:pPr marL="0" indent="0">
              <a:buNone/>
              <a:defRPr/>
            </a:pPr>
            <a:r>
              <a:rPr lang="en-US" sz="1050" b="1">
                <a:solidFill>
                  <a:srgbClr val="FFFFFF"/>
                </a:solidFill>
                <a:latin typeface="Cambria"/>
                <a:ea typeface="Cambria"/>
                <a:cs typeface="Cambria"/>
              </a:rPr>
              <a:t>B — Intégration </a:t>
            </a:r>
          </a:p>
          <a:p>
            <a:pPr marL="0" indent="0">
              <a:buNone/>
              <a:defRPr/>
            </a:pPr>
            <a:r>
              <a:rPr lang="en-US" sz="1050" b="1">
                <a:solidFill>
                  <a:srgbClr val="FFFFFF"/>
                </a:solidFill>
                <a:latin typeface="Cambria"/>
                <a:ea typeface="Cambria"/>
                <a:cs typeface="Cambria"/>
              </a:rPr>
              <a:t>&amp; cohérence</a:t>
            </a:r>
            <a:endParaRPr lang="en-US" sz="1050"/>
          </a:p>
        </p:txBody>
      </p:sp>
      <p:sp>
        <p:nvSpPr>
          <p:cNvPr id="1781881634" name="Text 22"/>
          <p:cNvSpPr/>
          <p:nvPr/>
        </p:nvSpPr>
        <p:spPr bwMode="auto">
          <a:xfrm>
            <a:off x="576072" y="3950208"/>
            <a:ext cx="2487168" cy="877824"/>
          </a:xfrm>
          <a:prstGeom prst="rect">
            <a:avLst/>
          </a:prstGeom>
          <a:noFill/>
          <a:ln/>
        </p:spPr>
        <p:txBody>
          <a:bodyPr wrap="square" rtlCol="0" anchor="ctr"/>
          <a:lstStyle/>
          <a:p>
            <a:pPr marL="0" indent="0">
              <a:buNone/>
              <a:defRPr/>
            </a:pPr>
            <a:r>
              <a:rPr lang="en-US" sz="950">
                <a:solidFill>
                  <a:srgbClr val="A7A2B6"/>
                </a:solidFill>
                <a:latin typeface="Calibri"/>
                <a:ea typeface="Calibri"/>
                <a:cs typeface="Calibri"/>
              </a:rPr>
              <a:t>Les 3 pôles forment-ils une seule plateforme ? Parcours de bout en bout démontré.</a:t>
            </a:r>
            <a:endParaRPr lang="en-US" sz="950"/>
          </a:p>
        </p:txBody>
      </p:sp>
      <p:sp>
        <p:nvSpPr>
          <p:cNvPr id="1587014897" name="Shape 23"/>
          <p:cNvSpPr/>
          <p:nvPr/>
        </p:nvSpPr>
        <p:spPr bwMode="auto">
          <a:xfrm>
            <a:off x="3337560" y="3438144"/>
            <a:ext cx="2743200" cy="1481328"/>
          </a:xfrm>
          <a:prstGeom prst="roundRect">
            <a:avLst>
              <a:gd name="adj" fmla="val 7407"/>
            </a:avLst>
          </a:prstGeom>
          <a:solidFill>
            <a:srgbClr val="2F2A3E"/>
          </a:solidFill>
          <a:ln w="12700">
            <a:solidFill>
              <a:srgbClr val="3D3750"/>
            </a:solidFill>
            <a:prstDash val="solid"/>
          </a:ln>
        </p:spPr>
      </p:sp>
      <p:pic>
        <p:nvPicPr>
          <p:cNvPr id="609190021" name="Image 9" descr="preencoded.png"/>
          <p:cNvPicPr>
            <a:picLocks noChangeAspect="1"/>
          </p:cNvPicPr>
          <p:nvPr/>
        </p:nvPicPr>
        <p:blipFill rotWithShape="1">
          <a:blip r:embed="rId4"/>
          <a:stretch/>
        </p:blipFill>
        <p:spPr bwMode="auto">
          <a:xfrm>
            <a:off x="3502152" y="3566160"/>
            <a:ext cx="438912" cy="438912"/>
          </a:xfrm>
          <a:prstGeom prst="rect">
            <a:avLst/>
          </a:prstGeom>
        </p:spPr>
      </p:pic>
      <p:pic>
        <p:nvPicPr>
          <p:cNvPr id="2005384188" name="Image 10" descr="preencoded.png"/>
          <p:cNvPicPr>
            <a:picLocks noChangeAspect="1"/>
          </p:cNvPicPr>
          <p:nvPr/>
        </p:nvPicPr>
        <p:blipFill rotWithShape="1">
          <a:blip r:embed="rId9"/>
          <a:stretch/>
        </p:blipFill>
        <p:spPr bwMode="auto">
          <a:xfrm>
            <a:off x="3598713" y="3662721"/>
            <a:ext cx="245791" cy="245791"/>
          </a:xfrm>
          <a:prstGeom prst="rect">
            <a:avLst/>
          </a:prstGeom>
        </p:spPr>
      </p:pic>
      <p:sp>
        <p:nvSpPr>
          <p:cNvPr id="1673683212" name="Shape 24"/>
          <p:cNvSpPr/>
          <p:nvPr/>
        </p:nvSpPr>
        <p:spPr bwMode="auto">
          <a:xfrm>
            <a:off x="5330952" y="3566160"/>
            <a:ext cx="594360" cy="320040"/>
          </a:xfrm>
          <a:prstGeom prst="roundRect">
            <a:avLst>
              <a:gd name="adj" fmla="val 20000"/>
            </a:avLst>
          </a:prstGeom>
          <a:solidFill>
            <a:srgbClr val="FFFFFF">
              <a:alpha val="15000"/>
            </a:srgbClr>
          </a:solidFill>
          <a:ln w="12700">
            <a:solidFill>
              <a:srgbClr val="E5187F"/>
            </a:solidFill>
            <a:prstDash val="solid"/>
          </a:ln>
        </p:spPr>
      </p:sp>
      <p:sp>
        <p:nvSpPr>
          <p:cNvPr id="1865849112" name="Text 25"/>
          <p:cNvSpPr/>
          <p:nvPr/>
        </p:nvSpPr>
        <p:spPr bwMode="auto">
          <a:xfrm>
            <a:off x="5330952" y="3566160"/>
            <a:ext cx="594360" cy="320040"/>
          </a:xfrm>
          <a:prstGeom prst="rect">
            <a:avLst/>
          </a:prstGeom>
          <a:noFill/>
          <a:ln/>
        </p:spPr>
        <p:txBody>
          <a:bodyPr wrap="square" lIns="0" tIns="0" rIns="0" bIns="0" rtlCol="0" anchor="ctr"/>
          <a:lstStyle/>
          <a:p>
            <a:pPr marL="0" indent="0" algn="ctr">
              <a:buNone/>
              <a:defRPr/>
            </a:pPr>
            <a:r>
              <a:rPr lang="en-US" sz="1000" b="1">
                <a:solidFill>
                  <a:srgbClr val="E5187F"/>
                </a:solidFill>
                <a:latin typeface="Calibri"/>
                <a:ea typeface="Calibri"/>
                <a:cs typeface="Calibri"/>
              </a:rPr>
              <a:t>15 pts</a:t>
            </a:r>
            <a:endParaRPr lang="en-US" sz="1000"/>
          </a:p>
        </p:txBody>
      </p:sp>
      <p:sp>
        <p:nvSpPr>
          <p:cNvPr id="336369176" name="Text 26"/>
          <p:cNvSpPr/>
          <p:nvPr/>
        </p:nvSpPr>
        <p:spPr bwMode="auto">
          <a:xfrm>
            <a:off x="4087368" y="3566160"/>
            <a:ext cx="1901952" cy="320040"/>
          </a:xfrm>
          <a:prstGeom prst="rect">
            <a:avLst/>
          </a:prstGeom>
          <a:noFill/>
          <a:ln/>
        </p:spPr>
        <p:txBody>
          <a:bodyPr wrap="square" lIns="0" tIns="0" rIns="0" bIns="0" rtlCol="0" anchor="ctr"/>
          <a:lstStyle/>
          <a:p>
            <a:pPr marL="0" indent="0">
              <a:buNone/>
              <a:defRPr/>
            </a:pPr>
            <a:r>
              <a:rPr lang="en-US" sz="1050" b="1">
                <a:solidFill>
                  <a:srgbClr val="FFFFFF"/>
                </a:solidFill>
                <a:latin typeface="Cambria"/>
                <a:ea typeface="Cambria"/>
                <a:cs typeface="Cambria"/>
              </a:rPr>
              <a:t>C — Démarche</a:t>
            </a:r>
          </a:p>
          <a:p>
            <a:pPr marL="0" indent="0">
              <a:buNone/>
              <a:defRPr/>
            </a:pPr>
            <a:r>
              <a:rPr lang="en-US" sz="1050" b="1">
                <a:solidFill>
                  <a:srgbClr val="FFFFFF"/>
                </a:solidFill>
                <a:latin typeface="Cambria"/>
                <a:ea typeface="Cambria"/>
                <a:cs typeface="Cambria"/>
              </a:rPr>
              <a:t> d'ingénierie</a:t>
            </a:r>
            <a:endParaRPr lang="en-US" sz="1050"/>
          </a:p>
        </p:txBody>
      </p:sp>
      <p:sp>
        <p:nvSpPr>
          <p:cNvPr id="1618186703" name="Text 27"/>
          <p:cNvSpPr/>
          <p:nvPr/>
        </p:nvSpPr>
        <p:spPr bwMode="auto">
          <a:xfrm>
            <a:off x="3502152" y="3950208"/>
            <a:ext cx="2487168" cy="877824"/>
          </a:xfrm>
          <a:prstGeom prst="rect">
            <a:avLst/>
          </a:prstGeom>
          <a:noFill/>
          <a:ln/>
        </p:spPr>
        <p:txBody>
          <a:bodyPr wrap="square" rtlCol="0" anchor="ctr"/>
          <a:lstStyle/>
          <a:p>
            <a:pPr marL="0" indent="0">
              <a:buNone/>
              <a:defRPr/>
            </a:pPr>
            <a:r>
              <a:rPr lang="en-US" sz="950">
                <a:solidFill>
                  <a:srgbClr val="A7A2B6"/>
                </a:solidFill>
                <a:latin typeface="Calibri"/>
                <a:ea typeface="Calibri"/>
                <a:cs typeface="Calibri"/>
              </a:rPr>
              <a:t>Analyse du besoin (5) · Architecture argumentée (5) · Plan de réalisation (5).</a:t>
            </a:r>
            <a:endParaRPr lang="en-US" sz="950"/>
          </a:p>
        </p:txBody>
      </p:sp>
      <p:sp>
        <p:nvSpPr>
          <p:cNvPr id="89266147" name="Shape 28"/>
          <p:cNvSpPr/>
          <p:nvPr/>
        </p:nvSpPr>
        <p:spPr bwMode="auto">
          <a:xfrm>
            <a:off x="6263640" y="3438144"/>
            <a:ext cx="2743200" cy="1481328"/>
          </a:xfrm>
          <a:prstGeom prst="roundRect">
            <a:avLst>
              <a:gd name="adj" fmla="val 7407"/>
            </a:avLst>
          </a:prstGeom>
          <a:solidFill>
            <a:srgbClr val="2F2A3E"/>
          </a:solidFill>
          <a:ln w="12700">
            <a:solidFill>
              <a:srgbClr val="3D3750"/>
            </a:solidFill>
            <a:prstDash val="solid"/>
          </a:ln>
        </p:spPr>
      </p:sp>
      <p:pic>
        <p:nvPicPr>
          <p:cNvPr id="1743687572" name="Image 11" descr="preencoded.png"/>
          <p:cNvPicPr>
            <a:picLocks noChangeAspect="1"/>
          </p:cNvPicPr>
          <p:nvPr/>
        </p:nvPicPr>
        <p:blipFill rotWithShape="1">
          <a:blip r:embed="rId4"/>
          <a:stretch/>
        </p:blipFill>
        <p:spPr bwMode="auto">
          <a:xfrm>
            <a:off x="6428232" y="3566160"/>
            <a:ext cx="438912" cy="438912"/>
          </a:xfrm>
          <a:prstGeom prst="rect">
            <a:avLst/>
          </a:prstGeom>
        </p:spPr>
      </p:pic>
      <p:pic>
        <p:nvPicPr>
          <p:cNvPr id="2082739462" name="Image 12" descr="preencoded.png"/>
          <p:cNvPicPr>
            <a:picLocks noChangeAspect="1"/>
          </p:cNvPicPr>
          <p:nvPr/>
        </p:nvPicPr>
        <p:blipFill rotWithShape="1">
          <a:blip r:embed="rId10"/>
          <a:stretch/>
        </p:blipFill>
        <p:spPr bwMode="auto">
          <a:xfrm>
            <a:off x="6524793" y="3662721"/>
            <a:ext cx="245791" cy="245791"/>
          </a:xfrm>
          <a:prstGeom prst="rect">
            <a:avLst/>
          </a:prstGeom>
        </p:spPr>
      </p:pic>
      <p:sp>
        <p:nvSpPr>
          <p:cNvPr id="1808947992" name="Shape 29"/>
          <p:cNvSpPr/>
          <p:nvPr/>
        </p:nvSpPr>
        <p:spPr bwMode="auto">
          <a:xfrm>
            <a:off x="8257032" y="3566160"/>
            <a:ext cx="594360" cy="320040"/>
          </a:xfrm>
          <a:prstGeom prst="roundRect">
            <a:avLst>
              <a:gd name="adj" fmla="val 20000"/>
            </a:avLst>
          </a:prstGeom>
          <a:solidFill>
            <a:srgbClr val="FFFFFF">
              <a:alpha val="15000"/>
            </a:srgbClr>
          </a:solidFill>
          <a:ln w="12700">
            <a:solidFill>
              <a:srgbClr val="E5187F"/>
            </a:solidFill>
            <a:prstDash val="solid"/>
          </a:ln>
        </p:spPr>
      </p:sp>
      <p:sp>
        <p:nvSpPr>
          <p:cNvPr id="1140296615" name="Text 30"/>
          <p:cNvSpPr/>
          <p:nvPr/>
        </p:nvSpPr>
        <p:spPr bwMode="auto">
          <a:xfrm>
            <a:off x="8257032" y="3566160"/>
            <a:ext cx="594360" cy="320040"/>
          </a:xfrm>
          <a:prstGeom prst="rect">
            <a:avLst/>
          </a:prstGeom>
          <a:noFill/>
          <a:ln/>
        </p:spPr>
        <p:txBody>
          <a:bodyPr wrap="square" lIns="0" tIns="0" rIns="0" bIns="0" rtlCol="0" anchor="ctr"/>
          <a:lstStyle/>
          <a:p>
            <a:pPr marL="0" indent="0" algn="ctr">
              <a:buNone/>
              <a:defRPr/>
            </a:pPr>
            <a:r>
              <a:rPr lang="en-US" sz="1000" b="1">
                <a:solidFill>
                  <a:srgbClr val="E5187F"/>
                </a:solidFill>
                <a:latin typeface="Calibri"/>
                <a:ea typeface="Calibri"/>
                <a:cs typeface="Calibri"/>
              </a:rPr>
              <a:t>10 pts</a:t>
            </a:r>
            <a:endParaRPr lang="en-US" sz="1000"/>
          </a:p>
        </p:txBody>
      </p:sp>
      <p:sp>
        <p:nvSpPr>
          <p:cNvPr id="1578768485" name="Text 31"/>
          <p:cNvSpPr/>
          <p:nvPr/>
        </p:nvSpPr>
        <p:spPr bwMode="auto">
          <a:xfrm>
            <a:off x="7013448" y="3566160"/>
            <a:ext cx="1901952" cy="320040"/>
          </a:xfrm>
          <a:prstGeom prst="rect">
            <a:avLst/>
          </a:prstGeom>
          <a:noFill/>
          <a:ln/>
        </p:spPr>
        <p:txBody>
          <a:bodyPr wrap="square" lIns="0" tIns="0" rIns="0" bIns="0" rtlCol="0" anchor="ctr"/>
          <a:lstStyle/>
          <a:p>
            <a:pPr marL="0" indent="0">
              <a:buNone/>
              <a:defRPr/>
            </a:pPr>
            <a:r>
              <a:rPr lang="en-US" sz="1050" b="1">
                <a:solidFill>
                  <a:srgbClr val="FFFFFF"/>
                </a:solidFill>
                <a:latin typeface="Cambria"/>
                <a:ea typeface="Cambria"/>
                <a:cs typeface="Cambria"/>
              </a:rPr>
              <a:t>D — Innovation </a:t>
            </a:r>
          </a:p>
          <a:p>
            <a:pPr marL="0" indent="0">
              <a:buNone/>
              <a:defRPr/>
            </a:pPr>
            <a:r>
              <a:rPr lang="en-US" sz="1050" b="1">
                <a:solidFill>
                  <a:srgbClr val="FFFFFF"/>
                </a:solidFill>
                <a:latin typeface="Cambria"/>
                <a:ea typeface="Cambria"/>
                <a:cs typeface="Cambria"/>
              </a:rPr>
              <a:t>&amp; valeur produit</a:t>
            </a:r>
            <a:endParaRPr lang="en-US" sz="1050"/>
          </a:p>
        </p:txBody>
      </p:sp>
      <p:sp>
        <p:nvSpPr>
          <p:cNvPr id="2099747242" name="Text 32"/>
          <p:cNvSpPr/>
          <p:nvPr/>
        </p:nvSpPr>
        <p:spPr bwMode="auto">
          <a:xfrm>
            <a:off x="6428232" y="3950208"/>
            <a:ext cx="2487168" cy="877824"/>
          </a:xfrm>
          <a:prstGeom prst="rect">
            <a:avLst/>
          </a:prstGeom>
          <a:noFill/>
          <a:ln/>
        </p:spPr>
        <p:txBody>
          <a:bodyPr wrap="square" rtlCol="0" anchor="ctr"/>
          <a:lstStyle/>
          <a:p>
            <a:pPr marL="0" indent="0">
              <a:buNone/>
              <a:defRPr/>
            </a:pPr>
            <a:r>
              <a:rPr lang="en-US" sz="950">
                <a:solidFill>
                  <a:srgbClr val="A7A2B6"/>
                </a:solidFill>
                <a:latin typeface="Calibri"/>
                <a:ea typeface="Calibri"/>
                <a:cs typeface="Calibri"/>
              </a:rPr>
              <a:t>Idées au-delà du minimum : auto-modération, watermarking forensic, recommandation…</a:t>
            </a:r>
            <a:endParaRPr lang="en-US" sz="95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name="Slide 8">
    <p:spTree>
      <p:nvGrpSpPr>
        <p:cNvPr id="1" name=""/>
        <p:cNvGrpSpPr/>
        <p:nvPr/>
      </p:nvGrpSpPr>
      <p:grpSpPr bwMode="auto">
        <a:xfrm>
          <a:off x="0" y="0"/>
          <a:ext cx="0" cy="0"/>
          <a:chOff x="0" y="0"/>
          <a:chExt cx="0" cy="0"/>
        </a:xfrm>
      </p:grpSpPr>
      <p:pic>
        <p:nvPicPr>
          <p:cNvPr id="1972691582" name="Image 0" descr="preencoded.png"/>
          <p:cNvPicPr>
            <a:picLocks noChangeAspect="1"/>
          </p:cNvPicPr>
          <p:nvPr/>
        </p:nvPicPr>
        <p:blipFill rotWithShape="1">
          <a:blip r:embed="rId3"/>
          <a:stretch/>
        </p:blipFill>
        <p:spPr bwMode="auto">
          <a:xfrm>
            <a:off x="0" y="0"/>
            <a:ext cx="9144000" cy="5143500"/>
          </a:xfrm>
          <a:prstGeom prst="rect">
            <a:avLst/>
          </a:prstGeom>
        </p:spPr>
      </p:pic>
      <p:sp>
        <p:nvSpPr>
          <p:cNvPr id="814922794" name="Text 0"/>
          <p:cNvSpPr/>
          <p:nvPr/>
        </p:nvSpPr>
        <p:spPr bwMode="auto">
          <a:xfrm>
            <a:off x="502920" y="347472"/>
            <a:ext cx="2011680" cy="256032"/>
          </a:xfrm>
          <a:prstGeom prst="rect">
            <a:avLst/>
          </a:prstGeom>
          <a:noFill/>
          <a:ln/>
        </p:spPr>
        <p:txBody>
          <a:bodyPr wrap="square" lIns="0" tIns="0" rIns="0" bIns="0" rtlCol="0" anchor="ctr"/>
          <a:lstStyle/>
          <a:p>
            <a:pPr marL="0" indent="0">
              <a:buNone/>
              <a:defRPr/>
            </a:pPr>
            <a:r>
              <a:rPr lang="en-US" sz="900" b="1" spc="200">
                <a:solidFill>
                  <a:srgbClr val="E5187F"/>
                </a:solidFill>
                <a:latin typeface="Calibri"/>
                <a:ea typeface="Calibri"/>
                <a:cs typeface="Calibri"/>
              </a:rPr>
              <a:t>• RÉCAPITULATIF</a:t>
            </a:r>
            <a:endParaRPr lang="en-US" sz="900"/>
          </a:p>
        </p:txBody>
      </p:sp>
      <p:sp>
        <p:nvSpPr>
          <p:cNvPr id="2107824922" name="Text 1"/>
          <p:cNvSpPr/>
          <p:nvPr/>
        </p:nvSpPr>
        <p:spPr bwMode="auto">
          <a:xfrm>
            <a:off x="502920" y="640080"/>
            <a:ext cx="8229600" cy="548640"/>
          </a:xfrm>
          <a:prstGeom prst="rect">
            <a:avLst/>
          </a:prstGeom>
          <a:noFill/>
          <a:ln/>
        </p:spPr>
        <p:txBody>
          <a:bodyPr wrap="square" lIns="0" tIns="0" rIns="0" bIns="0" rtlCol="0" anchor="ctr"/>
          <a:lstStyle/>
          <a:p>
            <a:pPr marL="0" indent="0">
              <a:buNone/>
              <a:defRPr/>
            </a:pPr>
            <a:r>
              <a:rPr lang="en-US" sz="3000" b="1">
                <a:solidFill>
                  <a:srgbClr val="FFFFFF"/>
                </a:solidFill>
                <a:latin typeface="Cambria"/>
                <a:ea typeface="Cambria"/>
                <a:cs typeface="Cambria"/>
              </a:rPr>
              <a:t>Vue d'ensemble</a:t>
            </a:r>
            <a:endParaRPr lang="en-US" sz="3000"/>
          </a:p>
        </p:txBody>
      </p:sp>
      <p:sp>
        <p:nvSpPr>
          <p:cNvPr id="1054595347" name="Text 2"/>
          <p:cNvSpPr/>
          <p:nvPr/>
        </p:nvSpPr>
        <p:spPr bwMode="auto">
          <a:xfrm>
            <a:off x="521208" y="1325880"/>
            <a:ext cx="795528" cy="347472"/>
          </a:xfrm>
          <a:prstGeom prst="rect">
            <a:avLst/>
          </a:prstGeom>
          <a:noFill/>
          <a:ln/>
        </p:spPr>
        <p:txBody>
          <a:bodyPr wrap="square" lIns="0" tIns="0" rIns="0" bIns="0" rtlCol="0" anchor="ctr"/>
          <a:lstStyle/>
          <a:p>
            <a:pPr marL="0" indent="0">
              <a:buNone/>
              <a:defRPr/>
            </a:pPr>
            <a:r>
              <a:rPr lang="en-US" sz="950" b="1" spc="100">
                <a:solidFill>
                  <a:srgbClr val="E5187F"/>
                </a:solidFill>
                <a:latin typeface="Calibri"/>
                <a:ea typeface="Calibri"/>
                <a:cs typeface="Calibri"/>
              </a:rPr>
              <a:t>PÔLE</a:t>
            </a:r>
            <a:endParaRPr lang="en-US" sz="950"/>
          </a:p>
        </p:txBody>
      </p:sp>
      <p:sp>
        <p:nvSpPr>
          <p:cNvPr id="881699986" name="Text 3"/>
          <p:cNvSpPr/>
          <p:nvPr/>
        </p:nvSpPr>
        <p:spPr bwMode="auto">
          <a:xfrm>
            <a:off x="1481328" y="1325880"/>
            <a:ext cx="2624328" cy="347472"/>
          </a:xfrm>
          <a:prstGeom prst="rect">
            <a:avLst/>
          </a:prstGeom>
          <a:noFill/>
          <a:ln/>
        </p:spPr>
        <p:txBody>
          <a:bodyPr wrap="square" lIns="0" tIns="0" rIns="0" bIns="0" rtlCol="0" anchor="ctr"/>
          <a:lstStyle/>
          <a:p>
            <a:pPr marL="0" indent="0">
              <a:buNone/>
              <a:defRPr/>
            </a:pPr>
            <a:r>
              <a:rPr lang="en-US" sz="950" b="1" spc="100">
                <a:solidFill>
                  <a:srgbClr val="E5187F"/>
                </a:solidFill>
                <a:latin typeface="Calibri"/>
                <a:ea typeface="Calibri"/>
                <a:cs typeface="Calibri"/>
              </a:rPr>
              <a:t>SUJET A</a:t>
            </a:r>
            <a:endParaRPr lang="en-US" sz="950"/>
          </a:p>
        </p:txBody>
      </p:sp>
      <p:sp>
        <p:nvSpPr>
          <p:cNvPr id="1960972935" name="Text 4"/>
          <p:cNvSpPr/>
          <p:nvPr/>
        </p:nvSpPr>
        <p:spPr bwMode="auto">
          <a:xfrm>
            <a:off x="4270248" y="1325880"/>
            <a:ext cx="2624328" cy="347472"/>
          </a:xfrm>
          <a:prstGeom prst="rect">
            <a:avLst/>
          </a:prstGeom>
          <a:noFill/>
          <a:ln/>
        </p:spPr>
        <p:txBody>
          <a:bodyPr wrap="square" lIns="0" tIns="0" rIns="0" bIns="0" rtlCol="0" anchor="ctr"/>
          <a:lstStyle/>
          <a:p>
            <a:pPr marL="0" indent="0">
              <a:buNone/>
              <a:defRPr/>
            </a:pPr>
            <a:r>
              <a:rPr lang="en-US" sz="950" b="1" spc="100">
                <a:solidFill>
                  <a:srgbClr val="E5187F"/>
                </a:solidFill>
                <a:latin typeface="Calibri"/>
                <a:ea typeface="Calibri"/>
                <a:cs typeface="Calibri"/>
              </a:rPr>
              <a:t>SUJET B</a:t>
            </a:r>
            <a:endParaRPr lang="en-US" sz="950"/>
          </a:p>
        </p:txBody>
      </p:sp>
      <p:sp>
        <p:nvSpPr>
          <p:cNvPr id="1955676521" name="Text 5"/>
          <p:cNvSpPr/>
          <p:nvPr/>
        </p:nvSpPr>
        <p:spPr bwMode="auto">
          <a:xfrm>
            <a:off x="7059168" y="1325880"/>
            <a:ext cx="1938528" cy="347472"/>
          </a:xfrm>
          <a:prstGeom prst="rect">
            <a:avLst/>
          </a:prstGeom>
          <a:noFill/>
          <a:ln/>
        </p:spPr>
        <p:txBody>
          <a:bodyPr wrap="square" lIns="0" tIns="0" rIns="0" bIns="0" rtlCol="0" anchor="ctr"/>
          <a:lstStyle/>
          <a:p>
            <a:pPr marL="0" indent="0">
              <a:buNone/>
              <a:defRPr/>
            </a:pPr>
            <a:r>
              <a:rPr lang="en-US" sz="950" b="1" spc="100">
                <a:solidFill>
                  <a:srgbClr val="E5187F"/>
                </a:solidFill>
                <a:latin typeface="Calibri"/>
                <a:ea typeface="Calibri"/>
                <a:cs typeface="Calibri"/>
              </a:rPr>
              <a:t>TECHNOS CLÉS</a:t>
            </a:r>
            <a:endParaRPr lang="en-US" sz="950"/>
          </a:p>
        </p:txBody>
      </p:sp>
      <p:sp>
        <p:nvSpPr>
          <p:cNvPr id="1553595950" name="Shape 6"/>
          <p:cNvSpPr/>
          <p:nvPr/>
        </p:nvSpPr>
        <p:spPr bwMode="auto">
          <a:xfrm>
            <a:off x="411480" y="1737360"/>
            <a:ext cx="960120" cy="914400"/>
          </a:xfrm>
          <a:prstGeom prst="roundRect">
            <a:avLst>
              <a:gd name="adj" fmla="val 12000"/>
            </a:avLst>
          </a:prstGeom>
          <a:solidFill>
            <a:srgbClr val="2F2A3E"/>
          </a:solidFill>
          <a:ln w="12700">
            <a:solidFill>
              <a:srgbClr val="3D3750"/>
            </a:solidFill>
            <a:prstDash val="solid"/>
          </a:ln>
        </p:spPr>
      </p:sp>
      <p:sp>
        <p:nvSpPr>
          <p:cNvPr id="2058532249" name="Text 7"/>
          <p:cNvSpPr/>
          <p:nvPr/>
        </p:nvSpPr>
        <p:spPr bwMode="auto">
          <a:xfrm>
            <a:off x="521208" y="1737360"/>
            <a:ext cx="795528" cy="914400"/>
          </a:xfrm>
          <a:prstGeom prst="rect">
            <a:avLst/>
          </a:prstGeom>
          <a:noFill/>
          <a:ln/>
        </p:spPr>
        <p:txBody>
          <a:bodyPr wrap="square" lIns="0" tIns="0" rIns="0" bIns="0" rtlCol="0" anchor="ctr"/>
          <a:lstStyle/>
          <a:p>
            <a:pPr marL="0" indent="0" algn="ctr">
              <a:buNone/>
              <a:defRPr/>
            </a:pPr>
            <a:r>
              <a:rPr lang="en-US" sz="1300" b="1">
                <a:solidFill>
                  <a:srgbClr val="FFFFFF"/>
                </a:solidFill>
                <a:latin typeface="Cambria"/>
                <a:ea typeface="Cambria"/>
                <a:cs typeface="Cambria"/>
              </a:rPr>
              <a:t>PÔLE 1</a:t>
            </a:r>
            <a:endParaRPr lang="en-US" sz="1300"/>
          </a:p>
        </p:txBody>
      </p:sp>
      <p:sp>
        <p:nvSpPr>
          <p:cNvPr id="1712105415" name="Shape 8"/>
          <p:cNvSpPr/>
          <p:nvPr/>
        </p:nvSpPr>
        <p:spPr bwMode="auto">
          <a:xfrm>
            <a:off x="1371600" y="1737360"/>
            <a:ext cx="2788920" cy="914400"/>
          </a:xfrm>
          <a:prstGeom prst="roundRect">
            <a:avLst>
              <a:gd name="adj" fmla="val 12000"/>
            </a:avLst>
          </a:prstGeom>
          <a:solidFill>
            <a:srgbClr val="2F2A3E"/>
          </a:solidFill>
          <a:ln w="12700">
            <a:solidFill>
              <a:srgbClr val="3D3750"/>
            </a:solidFill>
            <a:prstDash val="solid"/>
          </a:ln>
        </p:spPr>
      </p:sp>
      <p:sp>
        <p:nvSpPr>
          <p:cNvPr id="1640999067" name="Text 9"/>
          <p:cNvSpPr/>
          <p:nvPr/>
        </p:nvSpPr>
        <p:spPr bwMode="auto">
          <a:xfrm>
            <a:off x="1481328" y="1737360"/>
            <a:ext cx="2624328" cy="914400"/>
          </a:xfrm>
          <a:prstGeom prst="rect">
            <a:avLst/>
          </a:prstGeom>
          <a:noFill/>
          <a:ln/>
        </p:spPr>
        <p:txBody>
          <a:bodyPr wrap="square" lIns="0" tIns="0" rIns="0" bIns="0" rtlCol="0" anchor="ctr"/>
          <a:lstStyle/>
          <a:p>
            <a:pPr marL="0" indent="0" algn="l">
              <a:buNone/>
              <a:defRPr/>
            </a:pPr>
            <a:r>
              <a:rPr lang="en-US" sz="1100">
                <a:solidFill>
                  <a:srgbClr val="FFFFFF"/>
                </a:solidFill>
                <a:latin typeface="Calibri"/>
                <a:ea typeface="Calibri"/>
                <a:cs typeface="Calibri"/>
              </a:rPr>
              <a:t>Lecteur de Revue Augmenté</a:t>
            </a:r>
            <a:endParaRPr lang="en-US" sz="1100"/>
          </a:p>
        </p:txBody>
      </p:sp>
      <p:sp>
        <p:nvSpPr>
          <p:cNvPr id="1535228879" name="Shape 10"/>
          <p:cNvSpPr/>
          <p:nvPr/>
        </p:nvSpPr>
        <p:spPr bwMode="auto">
          <a:xfrm>
            <a:off x="4160519" y="1737360"/>
            <a:ext cx="2788920" cy="914400"/>
          </a:xfrm>
          <a:prstGeom prst="roundRect">
            <a:avLst>
              <a:gd name="adj" fmla="val 12000"/>
            </a:avLst>
          </a:prstGeom>
          <a:solidFill>
            <a:srgbClr val="2F2A3E"/>
          </a:solidFill>
          <a:ln w="12700">
            <a:solidFill>
              <a:srgbClr val="3D3750"/>
            </a:solidFill>
            <a:prstDash val="solid"/>
          </a:ln>
        </p:spPr>
      </p:sp>
      <p:sp>
        <p:nvSpPr>
          <p:cNvPr id="912682411" name="Text 11"/>
          <p:cNvSpPr/>
          <p:nvPr/>
        </p:nvSpPr>
        <p:spPr bwMode="auto">
          <a:xfrm>
            <a:off x="4270248" y="1737360"/>
            <a:ext cx="2624328" cy="914400"/>
          </a:xfrm>
          <a:prstGeom prst="rect">
            <a:avLst/>
          </a:prstGeom>
          <a:noFill/>
          <a:ln/>
        </p:spPr>
        <p:txBody>
          <a:bodyPr wrap="square" lIns="0" tIns="0" rIns="0" bIns="0" rtlCol="0" anchor="ctr"/>
          <a:lstStyle/>
          <a:p>
            <a:pPr marL="0" indent="0" algn="l">
              <a:buNone/>
              <a:defRPr/>
            </a:pPr>
            <a:r>
              <a:rPr lang="en-US" sz="1100">
                <a:solidFill>
                  <a:srgbClr val="FFFFFF"/>
                </a:solidFill>
                <a:latin typeface="Calibri"/>
                <a:ea typeface="Calibri"/>
                <a:cs typeface="Calibri"/>
              </a:rPr>
              <a:t>Watch Together</a:t>
            </a:r>
            <a:endParaRPr lang="en-US" sz="1100"/>
          </a:p>
        </p:txBody>
      </p:sp>
      <p:sp>
        <p:nvSpPr>
          <p:cNvPr id="79690762" name="Shape 12"/>
          <p:cNvSpPr/>
          <p:nvPr/>
        </p:nvSpPr>
        <p:spPr bwMode="auto">
          <a:xfrm>
            <a:off x="6949440" y="1737360"/>
            <a:ext cx="2103120" cy="914400"/>
          </a:xfrm>
          <a:prstGeom prst="roundRect">
            <a:avLst>
              <a:gd name="adj" fmla="val 12000"/>
            </a:avLst>
          </a:prstGeom>
          <a:solidFill>
            <a:srgbClr val="2F2A3E"/>
          </a:solidFill>
          <a:ln w="12700">
            <a:solidFill>
              <a:srgbClr val="3D3750"/>
            </a:solidFill>
            <a:prstDash val="solid"/>
          </a:ln>
        </p:spPr>
      </p:sp>
      <p:sp>
        <p:nvSpPr>
          <p:cNvPr id="1119852035" name="Text 13"/>
          <p:cNvSpPr/>
          <p:nvPr/>
        </p:nvSpPr>
        <p:spPr bwMode="auto">
          <a:xfrm>
            <a:off x="7059168" y="1737360"/>
            <a:ext cx="1938528" cy="914400"/>
          </a:xfrm>
          <a:prstGeom prst="rect">
            <a:avLst/>
          </a:prstGeom>
          <a:noFill/>
          <a:ln/>
        </p:spPr>
        <p:txBody>
          <a:bodyPr wrap="square" lIns="0" tIns="0" rIns="0" bIns="0" rtlCol="0" anchor="ctr"/>
          <a:lstStyle/>
          <a:p>
            <a:pPr marL="0" indent="0" algn="l">
              <a:buNone/>
              <a:defRPr/>
            </a:pPr>
            <a:r>
              <a:rPr lang="en-US" sz="1100">
                <a:solidFill>
                  <a:srgbClr val="E5187F"/>
                </a:solidFill>
                <a:latin typeface="Calibri"/>
                <a:ea typeface="Calibri"/>
                <a:cs typeface="Calibri"/>
              </a:rPr>
              <a:t>React · Video.js · WebSockets</a:t>
            </a:r>
            <a:endParaRPr lang="en-US" sz="1100"/>
          </a:p>
        </p:txBody>
      </p:sp>
      <p:sp>
        <p:nvSpPr>
          <p:cNvPr id="466613777" name="Shape 14"/>
          <p:cNvSpPr/>
          <p:nvPr/>
        </p:nvSpPr>
        <p:spPr bwMode="auto">
          <a:xfrm>
            <a:off x="411480" y="2761488"/>
            <a:ext cx="960120" cy="914400"/>
          </a:xfrm>
          <a:prstGeom prst="roundRect">
            <a:avLst>
              <a:gd name="adj" fmla="val 12000"/>
            </a:avLst>
          </a:prstGeom>
          <a:solidFill>
            <a:srgbClr val="2F2A3E"/>
          </a:solidFill>
          <a:ln w="12700">
            <a:solidFill>
              <a:srgbClr val="3D3750"/>
            </a:solidFill>
            <a:prstDash val="solid"/>
          </a:ln>
        </p:spPr>
      </p:sp>
      <p:sp>
        <p:nvSpPr>
          <p:cNvPr id="1838845326" name="Text 15"/>
          <p:cNvSpPr/>
          <p:nvPr/>
        </p:nvSpPr>
        <p:spPr bwMode="auto">
          <a:xfrm>
            <a:off x="521208" y="2761488"/>
            <a:ext cx="795528" cy="914400"/>
          </a:xfrm>
          <a:prstGeom prst="rect">
            <a:avLst/>
          </a:prstGeom>
          <a:noFill/>
          <a:ln/>
        </p:spPr>
        <p:txBody>
          <a:bodyPr wrap="square" lIns="0" tIns="0" rIns="0" bIns="0" rtlCol="0" anchor="ctr"/>
          <a:lstStyle/>
          <a:p>
            <a:pPr marL="0" indent="0" algn="ctr">
              <a:buNone/>
              <a:defRPr/>
            </a:pPr>
            <a:r>
              <a:rPr lang="en-US" sz="1300" b="1">
                <a:solidFill>
                  <a:srgbClr val="FFFFFF"/>
                </a:solidFill>
                <a:latin typeface="Cambria"/>
                <a:ea typeface="Cambria"/>
                <a:cs typeface="Cambria"/>
              </a:rPr>
              <a:t>PÔLE 2</a:t>
            </a:r>
            <a:endParaRPr lang="en-US" sz="1300"/>
          </a:p>
        </p:txBody>
      </p:sp>
      <p:sp>
        <p:nvSpPr>
          <p:cNvPr id="1602678074" name="Shape 16"/>
          <p:cNvSpPr/>
          <p:nvPr/>
        </p:nvSpPr>
        <p:spPr bwMode="auto">
          <a:xfrm>
            <a:off x="1371600" y="2761488"/>
            <a:ext cx="2788920" cy="914400"/>
          </a:xfrm>
          <a:prstGeom prst="roundRect">
            <a:avLst>
              <a:gd name="adj" fmla="val 12000"/>
            </a:avLst>
          </a:prstGeom>
          <a:solidFill>
            <a:srgbClr val="2F2A3E"/>
          </a:solidFill>
          <a:ln w="12700">
            <a:solidFill>
              <a:srgbClr val="3D3750"/>
            </a:solidFill>
            <a:prstDash val="solid"/>
          </a:ln>
        </p:spPr>
      </p:sp>
      <p:sp>
        <p:nvSpPr>
          <p:cNvPr id="1867727102" name="Text 17"/>
          <p:cNvSpPr/>
          <p:nvPr/>
        </p:nvSpPr>
        <p:spPr bwMode="auto">
          <a:xfrm>
            <a:off x="1481328" y="2761488"/>
            <a:ext cx="2624328" cy="914400"/>
          </a:xfrm>
          <a:prstGeom prst="rect">
            <a:avLst/>
          </a:prstGeom>
          <a:noFill/>
          <a:ln/>
        </p:spPr>
        <p:txBody>
          <a:bodyPr wrap="square" lIns="0" tIns="0" rIns="0" bIns="0" rtlCol="0" anchor="ctr"/>
          <a:lstStyle/>
          <a:p>
            <a:pPr marL="0" indent="0" algn="l">
              <a:buNone/>
              <a:defRPr/>
            </a:pPr>
            <a:r>
              <a:rPr lang="en-US" sz="1100">
                <a:solidFill>
                  <a:srgbClr val="FFFFFF"/>
                </a:solidFill>
                <a:latin typeface="Calibri"/>
                <a:ea typeface="Calibri"/>
                <a:cs typeface="Calibri"/>
              </a:rPr>
              <a:t>Architecture Zero-Trust (CDN+HLS)</a:t>
            </a:r>
            <a:endParaRPr lang="en-US" sz="1100"/>
          </a:p>
        </p:txBody>
      </p:sp>
      <p:sp>
        <p:nvSpPr>
          <p:cNvPr id="2017518401" name="Shape 18"/>
          <p:cNvSpPr/>
          <p:nvPr/>
        </p:nvSpPr>
        <p:spPr bwMode="auto">
          <a:xfrm>
            <a:off x="4160519" y="2761488"/>
            <a:ext cx="2788920" cy="914400"/>
          </a:xfrm>
          <a:prstGeom prst="roundRect">
            <a:avLst>
              <a:gd name="adj" fmla="val 12000"/>
            </a:avLst>
          </a:prstGeom>
          <a:solidFill>
            <a:srgbClr val="2F2A3E"/>
          </a:solidFill>
          <a:ln w="12700">
            <a:solidFill>
              <a:srgbClr val="3D3750"/>
            </a:solidFill>
            <a:prstDash val="solid"/>
          </a:ln>
        </p:spPr>
      </p:sp>
      <p:sp>
        <p:nvSpPr>
          <p:cNvPr id="2012431894" name="Text 19"/>
          <p:cNvSpPr/>
          <p:nvPr/>
        </p:nvSpPr>
        <p:spPr bwMode="auto">
          <a:xfrm>
            <a:off x="4270248" y="2761488"/>
            <a:ext cx="2624328" cy="914400"/>
          </a:xfrm>
          <a:prstGeom prst="rect">
            <a:avLst/>
          </a:prstGeom>
          <a:noFill/>
          <a:ln/>
        </p:spPr>
        <p:txBody>
          <a:bodyPr wrap="square" lIns="0" tIns="0" rIns="0" bIns="0" rtlCol="0" anchor="ctr"/>
          <a:lstStyle/>
          <a:p>
            <a:pPr marL="0" indent="0" algn="l">
              <a:buNone/>
              <a:defRPr/>
            </a:pPr>
            <a:r>
              <a:rPr lang="en-US" sz="1100">
                <a:solidFill>
                  <a:srgbClr val="FFFFFF"/>
                </a:solidFill>
                <a:latin typeface="Calibri"/>
                <a:ea typeface="Calibri"/>
                <a:cs typeface="Calibri"/>
              </a:rPr>
              <a:t>Détection Menaces &amp; Anti-Scraping</a:t>
            </a:r>
            <a:endParaRPr lang="en-US" sz="1100"/>
          </a:p>
        </p:txBody>
      </p:sp>
      <p:sp>
        <p:nvSpPr>
          <p:cNvPr id="54076048" name="Shape 20"/>
          <p:cNvSpPr/>
          <p:nvPr/>
        </p:nvSpPr>
        <p:spPr bwMode="auto">
          <a:xfrm>
            <a:off x="6949440" y="2761488"/>
            <a:ext cx="2103120" cy="914400"/>
          </a:xfrm>
          <a:prstGeom prst="roundRect">
            <a:avLst>
              <a:gd name="adj" fmla="val 12000"/>
            </a:avLst>
          </a:prstGeom>
          <a:solidFill>
            <a:srgbClr val="2F2A3E"/>
          </a:solidFill>
          <a:ln w="12700">
            <a:solidFill>
              <a:srgbClr val="3D3750"/>
            </a:solidFill>
            <a:prstDash val="solid"/>
          </a:ln>
        </p:spPr>
      </p:sp>
      <p:sp>
        <p:nvSpPr>
          <p:cNvPr id="222177178" name="Text 21"/>
          <p:cNvSpPr/>
          <p:nvPr/>
        </p:nvSpPr>
        <p:spPr bwMode="auto">
          <a:xfrm>
            <a:off x="7059168" y="2761488"/>
            <a:ext cx="1938528" cy="914400"/>
          </a:xfrm>
          <a:prstGeom prst="rect">
            <a:avLst/>
          </a:prstGeom>
          <a:noFill/>
          <a:ln/>
        </p:spPr>
        <p:txBody>
          <a:bodyPr wrap="square" lIns="0" tIns="0" rIns="0" bIns="0" rtlCol="0" anchor="ctr"/>
          <a:lstStyle/>
          <a:p>
            <a:pPr marL="0" indent="0" algn="l">
              <a:buNone/>
              <a:defRPr/>
            </a:pPr>
            <a:r>
              <a:rPr lang="en-US" sz="1100">
                <a:solidFill>
                  <a:srgbClr val="E5187F"/>
                </a:solidFill>
                <a:latin typeface="Calibri"/>
                <a:ea typeface="Calibri"/>
                <a:cs typeface="Calibri"/>
              </a:rPr>
              <a:t>Terraform · Docker · Python</a:t>
            </a:r>
            <a:endParaRPr lang="en-US" sz="1100"/>
          </a:p>
        </p:txBody>
      </p:sp>
      <p:sp>
        <p:nvSpPr>
          <p:cNvPr id="1376788695" name="Shape 22"/>
          <p:cNvSpPr/>
          <p:nvPr/>
        </p:nvSpPr>
        <p:spPr bwMode="auto">
          <a:xfrm>
            <a:off x="411480" y="3785616"/>
            <a:ext cx="960120" cy="914400"/>
          </a:xfrm>
          <a:prstGeom prst="roundRect">
            <a:avLst>
              <a:gd name="adj" fmla="val 12000"/>
            </a:avLst>
          </a:prstGeom>
          <a:solidFill>
            <a:srgbClr val="2F2A3E"/>
          </a:solidFill>
          <a:ln w="12700">
            <a:solidFill>
              <a:srgbClr val="3D3750"/>
            </a:solidFill>
            <a:prstDash val="solid"/>
          </a:ln>
        </p:spPr>
      </p:sp>
      <p:sp>
        <p:nvSpPr>
          <p:cNvPr id="540525722" name="Text 23"/>
          <p:cNvSpPr/>
          <p:nvPr/>
        </p:nvSpPr>
        <p:spPr bwMode="auto">
          <a:xfrm>
            <a:off x="521208" y="3785616"/>
            <a:ext cx="795528" cy="914400"/>
          </a:xfrm>
          <a:prstGeom prst="rect">
            <a:avLst/>
          </a:prstGeom>
          <a:noFill/>
          <a:ln/>
        </p:spPr>
        <p:txBody>
          <a:bodyPr wrap="square" lIns="0" tIns="0" rIns="0" bIns="0" rtlCol="0" anchor="ctr"/>
          <a:lstStyle/>
          <a:p>
            <a:pPr marL="0" indent="0" algn="ctr">
              <a:buNone/>
              <a:defRPr/>
            </a:pPr>
            <a:r>
              <a:rPr lang="en-US" sz="1300" b="1">
                <a:solidFill>
                  <a:srgbClr val="FFFFFF"/>
                </a:solidFill>
                <a:latin typeface="Cambria"/>
                <a:ea typeface="Cambria"/>
                <a:cs typeface="Cambria"/>
              </a:rPr>
              <a:t>PÔLE 3</a:t>
            </a:r>
            <a:endParaRPr lang="en-US" sz="1300"/>
          </a:p>
        </p:txBody>
      </p:sp>
      <p:sp>
        <p:nvSpPr>
          <p:cNvPr id="1406773130" name="Shape 24"/>
          <p:cNvSpPr/>
          <p:nvPr/>
        </p:nvSpPr>
        <p:spPr bwMode="auto">
          <a:xfrm>
            <a:off x="1371600" y="3785616"/>
            <a:ext cx="2788920" cy="914400"/>
          </a:xfrm>
          <a:prstGeom prst="roundRect">
            <a:avLst>
              <a:gd name="adj" fmla="val 12000"/>
            </a:avLst>
          </a:prstGeom>
          <a:solidFill>
            <a:srgbClr val="2F2A3E"/>
          </a:solidFill>
          <a:ln w="12700">
            <a:solidFill>
              <a:srgbClr val="3D3750"/>
            </a:solidFill>
            <a:prstDash val="solid"/>
          </a:ln>
        </p:spPr>
      </p:sp>
      <p:sp>
        <p:nvSpPr>
          <p:cNvPr id="1639190096" name="Text 25"/>
          <p:cNvSpPr/>
          <p:nvPr/>
        </p:nvSpPr>
        <p:spPr bwMode="auto">
          <a:xfrm>
            <a:off x="1481328" y="3785616"/>
            <a:ext cx="2624328" cy="914400"/>
          </a:xfrm>
          <a:prstGeom prst="rect">
            <a:avLst/>
          </a:prstGeom>
          <a:noFill/>
          <a:ln/>
        </p:spPr>
        <p:txBody>
          <a:bodyPr wrap="square" lIns="0" tIns="0" rIns="0" bIns="0" rtlCol="0" anchor="ctr"/>
          <a:lstStyle/>
          <a:p>
            <a:pPr marL="0" indent="0" algn="l">
              <a:buNone/>
              <a:defRPr/>
            </a:pPr>
            <a:r>
              <a:rPr lang="en-US" sz="1100">
                <a:solidFill>
                  <a:srgbClr val="FFFFFF"/>
                </a:solidFill>
                <a:latin typeface="Calibri"/>
                <a:ea typeface="Calibri"/>
                <a:cs typeface="Calibri"/>
              </a:rPr>
              <a:t>Pipeline Indexation Sémantique</a:t>
            </a:r>
            <a:endParaRPr lang="en-US" sz="1100"/>
          </a:p>
        </p:txBody>
      </p:sp>
      <p:sp>
        <p:nvSpPr>
          <p:cNvPr id="266828366" name="Shape 26"/>
          <p:cNvSpPr/>
          <p:nvPr/>
        </p:nvSpPr>
        <p:spPr bwMode="auto">
          <a:xfrm>
            <a:off x="4160519" y="3785616"/>
            <a:ext cx="2788920" cy="914400"/>
          </a:xfrm>
          <a:prstGeom prst="roundRect">
            <a:avLst>
              <a:gd name="adj" fmla="val 12000"/>
            </a:avLst>
          </a:prstGeom>
          <a:solidFill>
            <a:srgbClr val="2F2A3E"/>
          </a:solidFill>
          <a:ln w="12700">
            <a:solidFill>
              <a:srgbClr val="3D3750"/>
            </a:solidFill>
            <a:prstDash val="solid"/>
          </a:ln>
        </p:spPr>
      </p:sp>
      <p:sp>
        <p:nvSpPr>
          <p:cNvPr id="315691635" name="Text 27"/>
          <p:cNvSpPr/>
          <p:nvPr/>
        </p:nvSpPr>
        <p:spPr bwMode="auto">
          <a:xfrm>
            <a:off x="4270248" y="3785616"/>
            <a:ext cx="2624328" cy="914400"/>
          </a:xfrm>
          <a:prstGeom prst="rect">
            <a:avLst/>
          </a:prstGeom>
          <a:noFill/>
          <a:ln/>
        </p:spPr>
        <p:txBody>
          <a:bodyPr wrap="square" lIns="0" tIns="0" rIns="0" bIns="0" rtlCol="0" anchor="ctr"/>
          <a:lstStyle/>
          <a:p>
            <a:pPr marL="0" indent="0" algn="l">
              <a:buNone/>
              <a:defRPr/>
            </a:pPr>
            <a:r>
              <a:rPr lang="en-US" sz="1100">
                <a:solidFill>
                  <a:srgbClr val="FFFFFF"/>
                </a:solidFill>
                <a:latin typeface="Calibri"/>
                <a:ea typeface="Calibri"/>
                <a:cs typeface="Calibri"/>
              </a:rPr>
              <a:t>Analyse Audience &amp; Prédiction</a:t>
            </a:r>
            <a:endParaRPr lang="en-US" sz="1100"/>
          </a:p>
        </p:txBody>
      </p:sp>
      <p:sp>
        <p:nvSpPr>
          <p:cNvPr id="1963759127" name="Shape 28"/>
          <p:cNvSpPr/>
          <p:nvPr/>
        </p:nvSpPr>
        <p:spPr bwMode="auto">
          <a:xfrm>
            <a:off x="6949440" y="3785616"/>
            <a:ext cx="2103120" cy="914400"/>
          </a:xfrm>
          <a:prstGeom prst="roundRect">
            <a:avLst>
              <a:gd name="adj" fmla="val 12000"/>
            </a:avLst>
          </a:prstGeom>
          <a:solidFill>
            <a:srgbClr val="2F2A3E"/>
          </a:solidFill>
          <a:ln w="12700">
            <a:solidFill>
              <a:srgbClr val="3D3750"/>
            </a:solidFill>
            <a:prstDash val="solid"/>
          </a:ln>
        </p:spPr>
      </p:sp>
      <p:sp>
        <p:nvSpPr>
          <p:cNvPr id="1497280229" name="Text 29"/>
          <p:cNvSpPr/>
          <p:nvPr/>
        </p:nvSpPr>
        <p:spPr bwMode="auto">
          <a:xfrm>
            <a:off x="7059168" y="3785616"/>
            <a:ext cx="1938528" cy="914400"/>
          </a:xfrm>
          <a:prstGeom prst="rect">
            <a:avLst/>
          </a:prstGeom>
          <a:noFill/>
          <a:ln/>
        </p:spPr>
        <p:txBody>
          <a:bodyPr wrap="square" lIns="0" tIns="0" rIns="0" bIns="0" rtlCol="0" anchor="ctr"/>
          <a:lstStyle/>
          <a:p>
            <a:pPr marL="0" indent="0" algn="l">
              <a:buNone/>
              <a:defRPr/>
            </a:pPr>
            <a:r>
              <a:rPr lang="en-US" sz="1100">
                <a:solidFill>
                  <a:srgbClr val="E5187F"/>
                </a:solidFill>
                <a:latin typeface="Calibri"/>
                <a:ea typeface="Calibri"/>
                <a:cs typeface="Calibri"/>
              </a:rPr>
              <a:t>Python · Whisper · Streamlit</a:t>
            </a:r>
            <a:endParaRPr lang="en-US" sz="110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name="Slide 10">
    <p:spTree>
      <p:nvGrpSpPr>
        <p:cNvPr id="1" name=""/>
        <p:cNvGrpSpPr/>
        <p:nvPr/>
      </p:nvGrpSpPr>
      <p:grpSpPr bwMode="auto">
        <a:xfrm>
          <a:off x="0" y="0"/>
          <a:ext cx="0" cy="0"/>
          <a:chOff x="0" y="0"/>
          <a:chExt cx="0" cy="0"/>
        </a:xfrm>
      </p:grpSpPr>
      <p:pic>
        <p:nvPicPr>
          <p:cNvPr id="1608230174" name="Image 0" descr="preencoded.png"/>
          <p:cNvPicPr>
            <a:picLocks noChangeAspect="1"/>
          </p:cNvPicPr>
          <p:nvPr/>
        </p:nvPicPr>
        <p:blipFill rotWithShape="1">
          <a:blip r:embed="rId3"/>
          <a:stretch/>
        </p:blipFill>
        <p:spPr bwMode="auto">
          <a:xfrm>
            <a:off x="0" y="0"/>
            <a:ext cx="9144000" cy="5143500"/>
          </a:xfrm>
          <a:prstGeom prst="rect">
            <a:avLst/>
          </a:prstGeom>
        </p:spPr>
      </p:pic>
      <p:sp>
        <p:nvSpPr>
          <p:cNvPr id="1231161720" name="Text 0"/>
          <p:cNvSpPr/>
          <p:nvPr/>
        </p:nvSpPr>
        <p:spPr bwMode="auto">
          <a:xfrm>
            <a:off x="502920" y="347472"/>
            <a:ext cx="2011680" cy="256032"/>
          </a:xfrm>
          <a:prstGeom prst="rect">
            <a:avLst/>
          </a:prstGeom>
          <a:noFill/>
          <a:ln/>
        </p:spPr>
        <p:txBody>
          <a:bodyPr wrap="square" lIns="0" tIns="0" rIns="0" bIns="0" rtlCol="0" anchor="ctr"/>
          <a:lstStyle/>
          <a:p>
            <a:pPr marL="0" indent="0">
              <a:buNone/>
              <a:defRPr/>
            </a:pPr>
            <a:r>
              <a:rPr lang="en-US" sz="900" b="1" spc="200">
                <a:solidFill>
                  <a:srgbClr val="E5187F"/>
                </a:solidFill>
                <a:latin typeface="Calibri"/>
                <a:ea typeface="Calibri"/>
                <a:cs typeface="Calibri"/>
              </a:rPr>
              <a:t>• BARÈME — BLOCS TRANSVERSAUX, JOKERS &amp; BONUS</a:t>
            </a:r>
            <a:endParaRPr lang="en-US" sz="900"/>
          </a:p>
        </p:txBody>
      </p:sp>
      <p:sp>
        <p:nvSpPr>
          <p:cNvPr id="1970031628" name="Text 1"/>
          <p:cNvSpPr/>
          <p:nvPr/>
        </p:nvSpPr>
        <p:spPr bwMode="auto">
          <a:xfrm>
            <a:off x="502920" y="658368"/>
            <a:ext cx="5486400" cy="475488"/>
          </a:xfrm>
          <a:prstGeom prst="rect">
            <a:avLst/>
          </a:prstGeom>
          <a:noFill/>
          <a:ln/>
        </p:spPr>
        <p:txBody>
          <a:bodyPr wrap="square" lIns="0" tIns="0" rIns="0" bIns="0" rtlCol="0" anchor="ctr"/>
          <a:lstStyle/>
          <a:p>
            <a:pPr marL="0" indent="0">
              <a:buNone/>
              <a:defRPr/>
            </a:pPr>
            <a:r>
              <a:rPr lang="en-US" sz="2600" b="1">
                <a:solidFill>
                  <a:srgbClr val="FFFFFF"/>
                </a:solidFill>
                <a:latin typeface="Cambria"/>
                <a:ea typeface="Cambria"/>
                <a:cs typeface="Cambria"/>
              </a:rPr>
              <a:t>Barème — suite</a:t>
            </a:r>
            <a:endParaRPr lang="en-US" sz="2600"/>
          </a:p>
        </p:txBody>
      </p:sp>
      <p:sp>
        <p:nvSpPr>
          <p:cNvPr id="1176731884" name="Shape 2"/>
          <p:cNvSpPr/>
          <p:nvPr/>
        </p:nvSpPr>
        <p:spPr bwMode="auto">
          <a:xfrm>
            <a:off x="411480" y="1261872"/>
            <a:ext cx="5577840" cy="786384"/>
          </a:xfrm>
          <a:prstGeom prst="roundRect">
            <a:avLst>
              <a:gd name="adj" fmla="val 13953"/>
            </a:avLst>
          </a:prstGeom>
          <a:solidFill>
            <a:srgbClr val="2F2A3E"/>
          </a:solidFill>
          <a:ln w="12700">
            <a:solidFill>
              <a:srgbClr val="3D3750"/>
            </a:solidFill>
            <a:prstDash val="solid"/>
          </a:ln>
        </p:spPr>
      </p:sp>
      <p:pic>
        <p:nvPicPr>
          <p:cNvPr id="1686900217" name="Image 1" descr="preencoded.png"/>
          <p:cNvPicPr>
            <a:picLocks noChangeAspect="1"/>
          </p:cNvPicPr>
          <p:nvPr/>
        </p:nvPicPr>
        <p:blipFill rotWithShape="1">
          <a:blip r:embed="rId4"/>
          <a:stretch/>
        </p:blipFill>
        <p:spPr bwMode="auto">
          <a:xfrm>
            <a:off x="548640" y="1408176"/>
            <a:ext cx="475488" cy="475488"/>
          </a:xfrm>
          <a:prstGeom prst="rect">
            <a:avLst/>
          </a:prstGeom>
        </p:spPr>
      </p:pic>
      <p:pic>
        <p:nvPicPr>
          <p:cNvPr id="1380935100" name="Image 2" descr="preencoded.png"/>
          <p:cNvPicPr>
            <a:picLocks noChangeAspect="1"/>
          </p:cNvPicPr>
          <p:nvPr/>
        </p:nvPicPr>
        <p:blipFill rotWithShape="1">
          <a:blip r:embed="rId5"/>
          <a:stretch/>
        </p:blipFill>
        <p:spPr bwMode="auto">
          <a:xfrm>
            <a:off x="653247" y="1512783"/>
            <a:ext cx="266273" cy="266273"/>
          </a:xfrm>
          <a:prstGeom prst="rect">
            <a:avLst/>
          </a:prstGeom>
        </p:spPr>
      </p:pic>
      <p:sp>
        <p:nvSpPr>
          <p:cNvPr id="464578902" name="Shape 3"/>
          <p:cNvSpPr/>
          <p:nvPr/>
        </p:nvSpPr>
        <p:spPr bwMode="auto">
          <a:xfrm>
            <a:off x="1143000" y="1444752"/>
            <a:ext cx="777240" cy="402336"/>
          </a:xfrm>
          <a:prstGeom prst="roundRect">
            <a:avLst>
              <a:gd name="adj" fmla="val 18182"/>
            </a:avLst>
          </a:prstGeom>
          <a:solidFill>
            <a:srgbClr val="FFFFFF">
              <a:alpha val="15000"/>
            </a:srgbClr>
          </a:solidFill>
          <a:ln w="12700">
            <a:solidFill>
              <a:srgbClr val="E5187F"/>
            </a:solidFill>
            <a:prstDash val="solid"/>
          </a:ln>
        </p:spPr>
      </p:sp>
      <p:sp>
        <p:nvSpPr>
          <p:cNvPr id="1830715824" name="Text 4"/>
          <p:cNvSpPr/>
          <p:nvPr/>
        </p:nvSpPr>
        <p:spPr bwMode="auto">
          <a:xfrm>
            <a:off x="1143000" y="1444752"/>
            <a:ext cx="777240" cy="402336"/>
          </a:xfrm>
          <a:prstGeom prst="rect">
            <a:avLst/>
          </a:prstGeom>
          <a:noFill/>
          <a:ln/>
        </p:spPr>
        <p:txBody>
          <a:bodyPr wrap="square" lIns="0" tIns="0" rIns="0" bIns="0" rtlCol="0" anchor="ctr"/>
          <a:lstStyle/>
          <a:p>
            <a:pPr marL="0" indent="0" algn="ctr">
              <a:buNone/>
              <a:defRPr/>
            </a:pPr>
            <a:r>
              <a:rPr lang="en-US" sz="1000" b="1">
                <a:solidFill>
                  <a:srgbClr val="E5187F"/>
                </a:solidFill>
                <a:latin typeface="Calibri"/>
                <a:ea typeface="Calibri"/>
                <a:cs typeface="Calibri"/>
              </a:rPr>
              <a:t>10 pts</a:t>
            </a:r>
            <a:endParaRPr lang="en-US" sz="1000"/>
          </a:p>
        </p:txBody>
      </p:sp>
      <p:sp>
        <p:nvSpPr>
          <p:cNvPr id="1979843139" name="Text 5"/>
          <p:cNvSpPr/>
          <p:nvPr/>
        </p:nvSpPr>
        <p:spPr bwMode="auto">
          <a:xfrm>
            <a:off x="2057400" y="1353312"/>
            <a:ext cx="3767328" cy="274320"/>
          </a:xfrm>
          <a:prstGeom prst="rect">
            <a:avLst/>
          </a:prstGeom>
          <a:noFill/>
          <a:ln/>
        </p:spPr>
        <p:txBody>
          <a:bodyPr wrap="square" lIns="0" tIns="0" rIns="0" bIns="0" rtlCol="0" anchor="ctr"/>
          <a:lstStyle/>
          <a:p>
            <a:pPr marL="0" indent="0">
              <a:buNone/>
              <a:defRPr/>
            </a:pPr>
            <a:r>
              <a:rPr lang="en-US" sz="1150" b="1">
                <a:solidFill>
                  <a:srgbClr val="FFFFFF"/>
                </a:solidFill>
                <a:latin typeface="Cambria"/>
                <a:ea typeface="Cambria"/>
                <a:cs typeface="Cambria"/>
              </a:rPr>
              <a:t>E — Présentation &amp; soutenance</a:t>
            </a:r>
            <a:endParaRPr lang="en-US" sz="1150"/>
          </a:p>
        </p:txBody>
      </p:sp>
      <p:sp>
        <p:nvSpPr>
          <p:cNvPr id="1084079643" name="Text 6"/>
          <p:cNvSpPr/>
          <p:nvPr/>
        </p:nvSpPr>
        <p:spPr bwMode="auto">
          <a:xfrm>
            <a:off x="2057400" y="1664208"/>
            <a:ext cx="3767328" cy="329184"/>
          </a:xfrm>
          <a:prstGeom prst="rect">
            <a:avLst/>
          </a:prstGeom>
          <a:noFill/>
          <a:ln/>
        </p:spPr>
        <p:txBody>
          <a:bodyPr wrap="square" lIns="0" tIns="0" rIns="0" bIns="0" rtlCol="0" anchor="ctr"/>
          <a:lstStyle/>
          <a:p>
            <a:pPr marL="0" indent="0">
              <a:buNone/>
              <a:defRPr/>
            </a:pPr>
            <a:r>
              <a:rPr lang="en-US" sz="1000">
                <a:solidFill>
                  <a:srgbClr val="A7A2B6"/>
                </a:solidFill>
                <a:latin typeface="Calibri"/>
                <a:ea typeface="Calibri"/>
                <a:cs typeface="Calibri"/>
              </a:rPr>
              <a:t>Clarté du pitch &amp; démo (5) · Profondeur des réponses aux questions (5).</a:t>
            </a:r>
            <a:endParaRPr lang="en-US" sz="1000"/>
          </a:p>
        </p:txBody>
      </p:sp>
      <p:sp>
        <p:nvSpPr>
          <p:cNvPr id="97604108" name="Shape 7"/>
          <p:cNvSpPr/>
          <p:nvPr/>
        </p:nvSpPr>
        <p:spPr bwMode="auto">
          <a:xfrm>
            <a:off x="411480" y="2167128"/>
            <a:ext cx="5577840" cy="786384"/>
          </a:xfrm>
          <a:prstGeom prst="roundRect">
            <a:avLst>
              <a:gd name="adj" fmla="val 13953"/>
            </a:avLst>
          </a:prstGeom>
          <a:solidFill>
            <a:srgbClr val="2F2A3E"/>
          </a:solidFill>
          <a:ln w="12700">
            <a:solidFill>
              <a:srgbClr val="3D3750"/>
            </a:solidFill>
            <a:prstDash val="solid"/>
          </a:ln>
        </p:spPr>
      </p:sp>
      <p:pic>
        <p:nvPicPr>
          <p:cNvPr id="277793432" name="Image 3" descr="preencoded.png"/>
          <p:cNvPicPr>
            <a:picLocks noChangeAspect="1"/>
          </p:cNvPicPr>
          <p:nvPr/>
        </p:nvPicPr>
        <p:blipFill rotWithShape="1">
          <a:blip r:embed="rId4"/>
          <a:stretch/>
        </p:blipFill>
        <p:spPr bwMode="auto">
          <a:xfrm>
            <a:off x="548640" y="2313432"/>
            <a:ext cx="475488" cy="475488"/>
          </a:xfrm>
          <a:prstGeom prst="rect">
            <a:avLst/>
          </a:prstGeom>
        </p:spPr>
      </p:pic>
      <p:pic>
        <p:nvPicPr>
          <p:cNvPr id="1378008317" name="Image 4" descr="preencoded.png"/>
          <p:cNvPicPr>
            <a:picLocks noChangeAspect="1"/>
          </p:cNvPicPr>
          <p:nvPr/>
        </p:nvPicPr>
        <p:blipFill rotWithShape="1">
          <a:blip r:embed="rId6"/>
          <a:stretch/>
        </p:blipFill>
        <p:spPr bwMode="auto">
          <a:xfrm>
            <a:off x="653247" y="2418039"/>
            <a:ext cx="266273" cy="266273"/>
          </a:xfrm>
          <a:prstGeom prst="rect">
            <a:avLst/>
          </a:prstGeom>
        </p:spPr>
      </p:pic>
      <p:sp>
        <p:nvSpPr>
          <p:cNvPr id="1360623051" name="Shape 8"/>
          <p:cNvSpPr/>
          <p:nvPr/>
        </p:nvSpPr>
        <p:spPr bwMode="auto">
          <a:xfrm>
            <a:off x="1143000" y="2350008"/>
            <a:ext cx="777240" cy="402336"/>
          </a:xfrm>
          <a:prstGeom prst="roundRect">
            <a:avLst>
              <a:gd name="adj" fmla="val 18182"/>
            </a:avLst>
          </a:prstGeom>
          <a:solidFill>
            <a:srgbClr val="FFFFFF">
              <a:alpha val="15000"/>
            </a:srgbClr>
          </a:solidFill>
          <a:ln w="12700">
            <a:solidFill>
              <a:srgbClr val="E5187F"/>
            </a:solidFill>
            <a:prstDash val="solid"/>
          </a:ln>
        </p:spPr>
      </p:sp>
      <p:sp>
        <p:nvSpPr>
          <p:cNvPr id="535783584" name="Text 9"/>
          <p:cNvSpPr/>
          <p:nvPr/>
        </p:nvSpPr>
        <p:spPr bwMode="auto">
          <a:xfrm>
            <a:off x="1143000" y="2350008"/>
            <a:ext cx="777240" cy="402336"/>
          </a:xfrm>
          <a:prstGeom prst="rect">
            <a:avLst/>
          </a:prstGeom>
          <a:noFill/>
          <a:ln/>
        </p:spPr>
        <p:txBody>
          <a:bodyPr wrap="square" lIns="0" tIns="0" rIns="0" bIns="0" rtlCol="0" anchor="ctr"/>
          <a:lstStyle/>
          <a:p>
            <a:pPr marL="0" indent="0" algn="ctr">
              <a:buNone/>
              <a:defRPr/>
            </a:pPr>
            <a:r>
              <a:rPr lang="en-US" sz="1000" b="1">
                <a:solidFill>
                  <a:srgbClr val="E5187F"/>
                </a:solidFill>
                <a:latin typeface="Calibri"/>
                <a:ea typeface="Calibri"/>
                <a:cs typeface="Calibri"/>
              </a:rPr>
              <a:t>10 pts</a:t>
            </a:r>
            <a:endParaRPr lang="en-US" sz="1000"/>
          </a:p>
        </p:txBody>
      </p:sp>
      <p:sp>
        <p:nvSpPr>
          <p:cNvPr id="481152069" name="Text 10"/>
          <p:cNvSpPr/>
          <p:nvPr/>
        </p:nvSpPr>
        <p:spPr bwMode="auto">
          <a:xfrm>
            <a:off x="2057400" y="2258568"/>
            <a:ext cx="3767328" cy="274320"/>
          </a:xfrm>
          <a:prstGeom prst="rect">
            <a:avLst/>
          </a:prstGeom>
          <a:noFill/>
          <a:ln/>
        </p:spPr>
        <p:txBody>
          <a:bodyPr wrap="square" lIns="0" tIns="0" rIns="0" bIns="0" rtlCol="0" anchor="ctr"/>
          <a:lstStyle/>
          <a:p>
            <a:pPr marL="0" indent="0">
              <a:buNone/>
              <a:defRPr/>
            </a:pPr>
            <a:r>
              <a:rPr lang="en-US" sz="1150" b="1">
                <a:solidFill>
                  <a:srgbClr val="FFFFFF"/>
                </a:solidFill>
                <a:latin typeface="Cambria"/>
                <a:ea typeface="Cambria"/>
                <a:cs typeface="Cambria"/>
              </a:rPr>
              <a:t>F — Collaboration &amp; gestion d'équipe</a:t>
            </a:r>
            <a:endParaRPr lang="en-US" sz="1150"/>
          </a:p>
        </p:txBody>
      </p:sp>
      <p:sp>
        <p:nvSpPr>
          <p:cNvPr id="776753134" name="Text 11"/>
          <p:cNvSpPr/>
          <p:nvPr/>
        </p:nvSpPr>
        <p:spPr bwMode="auto">
          <a:xfrm>
            <a:off x="2057400" y="2569464"/>
            <a:ext cx="3767328" cy="329184"/>
          </a:xfrm>
          <a:prstGeom prst="rect">
            <a:avLst/>
          </a:prstGeom>
          <a:noFill/>
          <a:ln/>
        </p:spPr>
        <p:txBody>
          <a:bodyPr wrap="square" lIns="0" tIns="0" rIns="0" bIns="0" rtlCol="0" anchor="ctr"/>
          <a:lstStyle/>
          <a:p>
            <a:pPr marL="0" indent="0">
              <a:buNone/>
              <a:defRPr/>
            </a:pPr>
            <a:r>
              <a:rPr lang="en-US" sz="1000">
                <a:solidFill>
                  <a:srgbClr val="A7A2B6"/>
                </a:solidFill>
                <a:latin typeface="Calibri"/>
                <a:ea typeface="Calibri"/>
                <a:cs typeface="Calibri"/>
              </a:rPr>
              <a:t>Organisation &amp; répartition des rôles (5) · Traçabilité Git — commits répartis (5).</a:t>
            </a:r>
            <a:endParaRPr lang="en-US" sz="1000"/>
          </a:p>
        </p:txBody>
      </p:sp>
      <p:sp>
        <p:nvSpPr>
          <p:cNvPr id="1595409979" name="Shape 12"/>
          <p:cNvSpPr/>
          <p:nvPr/>
        </p:nvSpPr>
        <p:spPr bwMode="auto">
          <a:xfrm>
            <a:off x="411480" y="3072384"/>
            <a:ext cx="5577840" cy="786384"/>
          </a:xfrm>
          <a:prstGeom prst="roundRect">
            <a:avLst>
              <a:gd name="adj" fmla="val 13953"/>
            </a:avLst>
          </a:prstGeom>
          <a:solidFill>
            <a:srgbClr val="2F2A3E"/>
          </a:solidFill>
          <a:ln w="12700">
            <a:solidFill>
              <a:srgbClr val="3D3750"/>
            </a:solidFill>
            <a:prstDash val="solid"/>
          </a:ln>
        </p:spPr>
      </p:sp>
      <p:pic>
        <p:nvPicPr>
          <p:cNvPr id="452941877" name="Image 5" descr="preencoded.png"/>
          <p:cNvPicPr>
            <a:picLocks noChangeAspect="1"/>
          </p:cNvPicPr>
          <p:nvPr/>
        </p:nvPicPr>
        <p:blipFill rotWithShape="1">
          <a:blip r:embed="rId4"/>
          <a:stretch/>
        </p:blipFill>
        <p:spPr bwMode="auto">
          <a:xfrm>
            <a:off x="548640" y="3218688"/>
            <a:ext cx="475488" cy="475488"/>
          </a:xfrm>
          <a:prstGeom prst="rect">
            <a:avLst/>
          </a:prstGeom>
        </p:spPr>
      </p:pic>
      <p:pic>
        <p:nvPicPr>
          <p:cNvPr id="2021088885" name="Image 6" descr="preencoded.png"/>
          <p:cNvPicPr>
            <a:picLocks noChangeAspect="1"/>
          </p:cNvPicPr>
          <p:nvPr/>
        </p:nvPicPr>
        <p:blipFill rotWithShape="1">
          <a:blip r:embed="rId7"/>
          <a:stretch/>
        </p:blipFill>
        <p:spPr bwMode="auto">
          <a:xfrm>
            <a:off x="653247" y="3323295"/>
            <a:ext cx="266273" cy="266273"/>
          </a:xfrm>
          <a:prstGeom prst="rect">
            <a:avLst/>
          </a:prstGeom>
        </p:spPr>
      </p:pic>
      <p:sp>
        <p:nvSpPr>
          <p:cNvPr id="668024426" name="Shape 13"/>
          <p:cNvSpPr/>
          <p:nvPr/>
        </p:nvSpPr>
        <p:spPr bwMode="auto">
          <a:xfrm>
            <a:off x="1143000" y="3255264"/>
            <a:ext cx="777240" cy="402336"/>
          </a:xfrm>
          <a:prstGeom prst="roundRect">
            <a:avLst>
              <a:gd name="adj" fmla="val 18182"/>
            </a:avLst>
          </a:prstGeom>
          <a:solidFill>
            <a:srgbClr val="FFFFFF">
              <a:alpha val="15000"/>
            </a:srgbClr>
          </a:solidFill>
          <a:ln w="12700">
            <a:solidFill>
              <a:srgbClr val="A7A2B6"/>
            </a:solidFill>
            <a:prstDash val="solid"/>
          </a:ln>
        </p:spPr>
      </p:sp>
      <p:sp>
        <p:nvSpPr>
          <p:cNvPr id="1958164516" name="Text 14"/>
          <p:cNvSpPr/>
          <p:nvPr/>
        </p:nvSpPr>
        <p:spPr bwMode="auto">
          <a:xfrm>
            <a:off x="1143000" y="3255264"/>
            <a:ext cx="777240" cy="402336"/>
          </a:xfrm>
          <a:prstGeom prst="rect">
            <a:avLst/>
          </a:prstGeom>
          <a:noFill/>
          <a:ln/>
        </p:spPr>
        <p:txBody>
          <a:bodyPr wrap="square" lIns="0" tIns="0" rIns="0" bIns="0" rtlCol="0" anchor="ctr"/>
          <a:lstStyle/>
          <a:p>
            <a:pPr marL="0" indent="0" algn="ctr">
              <a:buNone/>
              <a:defRPr/>
            </a:pPr>
            <a:r>
              <a:rPr lang="en-US" sz="1000" b="1">
                <a:solidFill>
                  <a:srgbClr val="A7A2B6"/>
                </a:solidFill>
                <a:latin typeface="Calibri"/>
                <a:ea typeface="Calibri"/>
                <a:cs typeface="Calibri"/>
              </a:rPr>
              <a:t>0 pt</a:t>
            </a:r>
            <a:endParaRPr lang="en-US" sz="1000"/>
          </a:p>
        </p:txBody>
      </p:sp>
      <p:sp>
        <p:nvSpPr>
          <p:cNvPr id="1769620795" name="Text 15"/>
          <p:cNvSpPr/>
          <p:nvPr/>
        </p:nvSpPr>
        <p:spPr bwMode="auto">
          <a:xfrm>
            <a:off x="2057400" y="3163824"/>
            <a:ext cx="3767328" cy="274320"/>
          </a:xfrm>
          <a:prstGeom prst="rect">
            <a:avLst/>
          </a:prstGeom>
          <a:noFill/>
          <a:ln/>
        </p:spPr>
        <p:txBody>
          <a:bodyPr wrap="square" lIns="0" tIns="0" rIns="0" bIns="0" rtlCol="0" anchor="ctr"/>
          <a:lstStyle/>
          <a:p>
            <a:pPr marL="0" indent="0">
              <a:buNone/>
              <a:defRPr/>
            </a:pPr>
            <a:r>
              <a:rPr lang="en-US" sz="1150" b="1">
                <a:solidFill>
                  <a:srgbClr val="FFFFFF"/>
                </a:solidFill>
                <a:latin typeface="Cambria"/>
                <a:ea typeface="Cambria"/>
                <a:cs typeface="Cambria"/>
              </a:rPr>
              <a:t>G — Jokers / aides journalisées</a:t>
            </a:r>
            <a:endParaRPr lang="en-US" sz="1150"/>
          </a:p>
        </p:txBody>
      </p:sp>
      <p:sp>
        <p:nvSpPr>
          <p:cNvPr id="1347202328" name="Text 16"/>
          <p:cNvSpPr/>
          <p:nvPr/>
        </p:nvSpPr>
        <p:spPr bwMode="auto">
          <a:xfrm>
            <a:off x="2057400" y="3474720"/>
            <a:ext cx="3767328" cy="329184"/>
          </a:xfrm>
          <a:prstGeom prst="rect">
            <a:avLst/>
          </a:prstGeom>
          <a:noFill/>
          <a:ln/>
        </p:spPr>
        <p:txBody>
          <a:bodyPr wrap="square" lIns="0" tIns="0" rIns="0" bIns="0" rtlCol="0" anchor="ctr"/>
          <a:lstStyle/>
          <a:p>
            <a:pPr marL="0" indent="0">
              <a:buNone/>
              <a:defRPr/>
            </a:pPr>
            <a:r>
              <a:rPr lang="en-US" sz="1000">
                <a:solidFill>
                  <a:srgbClr val="A7A2B6"/>
                </a:solidFill>
                <a:latin typeface="Calibri"/>
                <a:ea typeface="Calibri"/>
                <a:cs typeface="Calibri"/>
              </a:rPr>
              <a:t>Aucun point retiré. Les aides sont tracées (coup de pouce léger ou aide substantielle). Sert uniquement au départage en délibération entre deux groupes à note égale.</a:t>
            </a:r>
            <a:endParaRPr lang="en-US" sz="1000"/>
          </a:p>
        </p:txBody>
      </p:sp>
      <p:sp>
        <p:nvSpPr>
          <p:cNvPr id="1570341258" name="Shape 17"/>
          <p:cNvSpPr/>
          <p:nvPr/>
        </p:nvSpPr>
        <p:spPr bwMode="auto">
          <a:xfrm>
            <a:off x="411480" y="3977640"/>
            <a:ext cx="5577840" cy="786384"/>
          </a:xfrm>
          <a:prstGeom prst="roundRect">
            <a:avLst>
              <a:gd name="adj" fmla="val 13953"/>
            </a:avLst>
          </a:prstGeom>
          <a:solidFill>
            <a:srgbClr val="2F2A3E"/>
          </a:solidFill>
          <a:ln w="12700">
            <a:solidFill>
              <a:srgbClr val="3D3750"/>
            </a:solidFill>
            <a:prstDash val="solid"/>
          </a:ln>
        </p:spPr>
      </p:sp>
      <p:pic>
        <p:nvPicPr>
          <p:cNvPr id="1271785855" name="Image 7" descr="preencoded.png"/>
          <p:cNvPicPr>
            <a:picLocks noChangeAspect="1"/>
          </p:cNvPicPr>
          <p:nvPr/>
        </p:nvPicPr>
        <p:blipFill rotWithShape="1">
          <a:blip r:embed="rId4"/>
          <a:stretch/>
        </p:blipFill>
        <p:spPr bwMode="auto">
          <a:xfrm>
            <a:off x="548640" y="4123944"/>
            <a:ext cx="475488" cy="475488"/>
          </a:xfrm>
          <a:prstGeom prst="rect">
            <a:avLst/>
          </a:prstGeom>
        </p:spPr>
      </p:pic>
      <p:pic>
        <p:nvPicPr>
          <p:cNvPr id="742534177" name="Image 8" descr="preencoded.png"/>
          <p:cNvPicPr>
            <a:picLocks noChangeAspect="1"/>
          </p:cNvPicPr>
          <p:nvPr/>
        </p:nvPicPr>
        <p:blipFill rotWithShape="1">
          <a:blip r:embed="rId8"/>
          <a:stretch/>
        </p:blipFill>
        <p:spPr bwMode="auto">
          <a:xfrm>
            <a:off x="653247" y="4228551"/>
            <a:ext cx="266273" cy="266273"/>
          </a:xfrm>
          <a:prstGeom prst="rect">
            <a:avLst/>
          </a:prstGeom>
        </p:spPr>
      </p:pic>
      <p:sp>
        <p:nvSpPr>
          <p:cNvPr id="697060400" name="Shape 18"/>
          <p:cNvSpPr/>
          <p:nvPr/>
        </p:nvSpPr>
        <p:spPr bwMode="auto">
          <a:xfrm>
            <a:off x="1143000" y="4160519"/>
            <a:ext cx="777240" cy="402336"/>
          </a:xfrm>
          <a:prstGeom prst="roundRect">
            <a:avLst>
              <a:gd name="adj" fmla="val 18182"/>
            </a:avLst>
          </a:prstGeom>
          <a:solidFill>
            <a:srgbClr val="FFFFFF">
              <a:alpha val="15000"/>
            </a:srgbClr>
          </a:solidFill>
          <a:ln w="12700">
            <a:solidFill>
              <a:srgbClr val="A7A2B6"/>
            </a:solidFill>
            <a:prstDash val="solid"/>
          </a:ln>
        </p:spPr>
      </p:sp>
      <p:sp>
        <p:nvSpPr>
          <p:cNvPr id="66060465" name="Text 19"/>
          <p:cNvSpPr/>
          <p:nvPr/>
        </p:nvSpPr>
        <p:spPr bwMode="auto">
          <a:xfrm>
            <a:off x="1143000" y="4160519"/>
            <a:ext cx="777240" cy="402336"/>
          </a:xfrm>
          <a:prstGeom prst="rect">
            <a:avLst/>
          </a:prstGeom>
          <a:noFill/>
          <a:ln/>
        </p:spPr>
        <p:txBody>
          <a:bodyPr wrap="square" lIns="0" tIns="0" rIns="0" bIns="0" rtlCol="0" anchor="ctr"/>
          <a:lstStyle/>
          <a:p>
            <a:pPr marL="0" indent="0" algn="ctr">
              <a:buNone/>
              <a:defRPr/>
            </a:pPr>
            <a:r>
              <a:rPr lang="en-US" sz="1000" b="1">
                <a:solidFill>
                  <a:srgbClr val="E5187F"/>
                </a:solidFill>
                <a:latin typeface="Calibri"/>
                <a:ea typeface="Calibri"/>
                <a:cs typeface="Calibri"/>
              </a:rPr>
              <a:t>0 à +2</a:t>
            </a:r>
            <a:endParaRPr lang="en-US" sz="1000"/>
          </a:p>
        </p:txBody>
      </p:sp>
      <p:sp>
        <p:nvSpPr>
          <p:cNvPr id="918275962" name="Text 20"/>
          <p:cNvSpPr/>
          <p:nvPr/>
        </p:nvSpPr>
        <p:spPr bwMode="auto">
          <a:xfrm>
            <a:off x="2057400" y="4069080"/>
            <a:ext cx="3767328" cy="274320"/>
          </a:xfrm>
          <a:prstGeom prst="rect">
            <a:avLst/>
          </a:prstGeom>
          <a:noFill/>
          <a:ln/>
        </p:spPr>
        <p:txBody>
          <a:bodyPr wrap="square" lIns="0" tIns="0" rIns="0" bIns="0" rtlCol="0" anchor="ctr"/>
          <a:lstStyle/>
          <a:p>
            <a:pPr marL="0" indent="0">
              <a:buNone/>
              <a:defRPr/>
            </a:pPr>
            <a:r>
              <a:rPr lang="en-US" sz="1150" b="1">
                <a:solidFill>
                  <a:srgbClr val="FFFFFF"/>
                </a:solidFill>
                <a:latin typeface="Cambria"/>
                <a:ea typeface="Cambria"/>
                <a:cs typeface="Cambria"/>
              </a:rPr>
              <a:t>H — Bonus autonomie (sur /20)</a:t>
            </a:r>
            <a:endParaRPr lang="en-US" sz="1150"/>
          </a:p>
        </p:txBody>
      </p:sp>
      <p:sp>
        <p:nvSpPr>
          <p:cNvPr id="1115131781" name="Text 21"/>
          <p:cNvSpPr/>
          <p:nvPr/>
        </p:nvSpPr>
        <p:spPr bwMode="auto">
          <a:xfrm>
            <a:off x="2057400" y="4379976"/>
            <a:ext cx="3767328" cy="329184"/>
          </a:xfrm>
          <a:prstGeom prst="rect">
            <a:avLst/>
          </a:prstGeom>
          <a:noFill/>
          <a:ln/>
        </p:spPr>
        <p:txBody>
          <a:bodyPr wrap="square" lIns="0" tIns="0" rIns="0" bIns="0" rtlCol="0" anchor="ctr"/>
          <a:lstStyle/>
          <a:p>
            <a:pPr marL="0" indent="0">
              <a:buNone/>
              <a:defRPr/>
            </a:pPr>
            <a:r>
              <a:rPr lang="en-US" sz="1000">
                <a:solidFill>
                  <a:srgbClr val="A7A2B6"/>
                </a:solidFill>
                <a:latin typeface="Calibri"/>
                <a:ea typeface="Calibri"/>
                <a:cs typeface="Calibri"/>
              </a:rPr>
              <a:t>+2 : aucune aide substantielle · +1 : recours ponctuel · 0 : recours fréquent (sans pénalité). Fondé sur le journal de sollicitations (bloc G).</a:t>
            </a:r>
            <a:endParaRPr lang="en-US" sz="1000"/>
          </a:p>
        </p:txBody>
      </p:sp>
      <p:sp>
        <p:nvSpPr>
          <p:cNvPr id="1245670042" name="Shape 22"/>
          <p:cNvSpPr/>
          <p:nvPr/>
        </p:nvSpPr>
        <p:spPr bwMode="auto">
          <a:xfrm>
            <a:off x="6217920" y="1261872"/>
            <a:ext cx="2514600" cy="3657600"/>
          </a:xfrm>
          <a:prstGeom prst="roundRect">
            <a:avLst>
              <a:gd name="adj" fmla="val 4364"/>
            </a:avLst>
          </a:prstGeom>
          <a:solidFill>
            <a:srgbClr val="2F2A3E"/>
          </a:solidFill>
          <a:ln w="12700">
            <a:solidFill>
              <a:srgbClr val="3D3750"/>
            </a:solidFill>
            <a:prstDash val="solid"/>
          </a:ln>
        </p:spPr>
      </p:sp>
      <p:sp>
        <p:nvSpPr>
          <p:cNvPr id="2130312970" name="Text 23"/>
          <p:cNvSpPr/>
          <p:nvPr/>
        </p:nvSpPr>
        <p:spPr bwMode="auto">
          <a:xfrm>
            <a:off x="6355080" y="1371600"/>
            <a:ext cx="2240280" cy="274320"/>
          </a:xfrm>
          <a:prstGeom prst="rect">
            <a:avLst/>
          </a:prstGeom>
          <a:noFill/>
          <a:ln/>
        </p:spPr>
        <p:txBody>
          <a:bodyPr wrap="square" lIns="0" tIns="0" rIns="0" bIns="0" rtlCol="0" anchor="ctr"/>
          <a:lstStyle/>
          <a:p>
            <a:pPr marL="0" indent="0">
              <a:buNone/>
              <a:defRPr/>
            </a:pPr>
            <a:r>
              <a:rPr lang="en-US" sz="1200" b="1">
                <a:solidFill>
                  <a:srgbClr val="E5187F"/>
                </a:solidFill>
                <a:latin typeface="Cambria"/>
                <a:ea typeface="Cambria"/>
                <a:cs typeface="Cambria"/>
              </a:rPr>
              <a:t>Exemple chiffré</a:t>
            </a:r>
            <a:endParaRPr lang="en-US" sz="1200"/>
          </a:p>
        </p:txBody>
      </p:sp>
      <p:sp>
        <p:nvSpPr>
          <p:cNvPr id="1955902369" name="Text 24"/>
          <p:cNvSpPr/>
          <p:nvPr/>
        </p:nvSpPr>
        <p:spPr bwMode="auto">
          <a:xfrm>
            <a:off x="6327648" y="1719072"/>
            <a:ext cx="1481328" cy="246888"/>
          </a:xfrm>
          <a:prstGeom prst="rect">
            <a:avLst/>
          </a:prstGeom>
          <a:noFill/>
          <a:ln/>
        </p:spPr>
        <p:txBody>
          <a:bodyPr wrap="square" lIns="0" tIns="0" rIns="0" bIns="0" rtlCol="0" anchor="ctr"/>
          <a:lstStyle/>
          <a:p>
            <a:pPr marL="0" indent="0">
              <a:buNone/>
              <a:defRPr/>
            </a:pPr>
            <a:r>
              <a:rPr lang="en-US" sz="900">
                <a:solidFill>
                  <a:srgbClr val="A7A2B6"/>
                </a:solidFill>
                <a:latin typeface="Calibri"/>
                <a:ea typeface="Calibri"/>
                <a:cs typeface="Calibri"/>
              </a:rPr>
              <a:t>Pôle 1</a:t>
            </a:r>
            <a:endParaRPr lang="en-US" sz="900"/>
          </a:p>
        </p:txBody>
      </p:sp>
      <p:sp>
        <p:nvSpPr>
          <p:cNvPr id="6230485" name="Text 25"/>
          <p:cNvSpPr/>
          <p:nvPr/>
        </p:nvSpPr>
        <p:spPr bwMode="auto">
          <a:xfrm>
            <a:off x="7699248" y="1719072"/>
            <a:ext cx="987552" cy="246888"/>
          </a:xfrm>
          <a:prstGeom prst="rect">
            <a:avLst/>
          </a:prstGeom>
          <a:noFill/>
          <a:ln/>
        </p:spPr>
        <p:txBody>
          <a:bodyPr wrap="square" lIns="0" tIns="0" rIns="0" bIns="0" rtlCol="0" anchor="ctr"/>
          <a:lstStyle/>
          <a:p>
            <a:pPr marL="0" indent="0" algn="r">
              <a:buNone/>
              <a:defRPr/>
            </a:pPr>
            <a:r>
              <a:rPr lang="en-US" sz="900">
                <a:solidFill>
                  <a:srgbClr val="FFFFFF"/>
                </a:solidFill>
                <a:latin typeface="Calibri"/>
                <a:ea typeface="Calibri"/>
                <a:cs typeface="Calibri"/>
              </a:rPr>
              <a:t>12 / 15</a:t>
            </a:r>
            <a:endParaRPr lang="en-US" sz="900"/>
          </a:p>
        </p:txBody>
      </p:sp>
      <p:sp>
        <p:nvSpPr>
          <p:cNvPr id="69414608" name="Text 26"/>
          <p:cNvSpPr/>
          <p:nvPr/>
        </p:nvSpPr>
        <p:spPr bwMode="auto">
          <a:xfrm>
            <a:off x="6327648" y="1979676"/>
            <a:ext cx="1481328" cy="246888"/>
          </a:xfrm>
          <a:prstGeom prst="rect">
            <a:avLst/>
          </a:prstGeom>
          <a:noFill/>
          <a:ln/>
        </p:spPr>
        <p:txBody>
          <a:bodyPr wrap="square" lIns="0" tIns="0" rIns="0" bIns="0" rtlCol="0" anchor="ctr"/>
          <a:lstStyle/>
          <a:p>
            <a:pPr marL="0" indent="0">
              <a:buNone/>
              <a:defRPr/>
            </a:pPr>
            <a:r>
              <a:rPr lang="en-US" sz="900">
                <a:solidFill>
                  <a:srgbClr val="A7A2B6"/>
                </a:solidFill>
                <a:latin typeface="Calibri"/>
                <a:ea typeface="Calibri"/>
                <a:cs typeface="Calibri"/>
              </a:rPr>
              <a:t>Pôle 2</a:t>
            </a:r>
            <a:endParaRPr lang="en-US" sz="900"/>
          </a:p>
        </p:txBody>
      </p:sp>
      <p:sp>
        <p:nvSpPr>
          <p:cNvPr id="88578488" name="Text 27"/>
          <p:cNvSpPr/>
          <p:nvPr/>
        </p:nvSpPr>
        <p:spPr bwMode="auto">
          <a:xfrm>
            <a:off x="7699248" y="1979676"/>
            <a:ext cx="987552" cy="246888"/>
          </a:xfrm>
          <a:prstGeom prst="rect">
            <a:avLst/>
          </a:prstGeom>
          <a:noFill/>
          <a:ln/>
        </p:spPr>
        <p:txBody>
          <a:bodyPr wrap="square" lIns="0" tIns="0" rIns="0" bIns="0" rtlCol="0" anchor="ctr"/>
          <a:lstStyle/>
          <a:p>
            <a:pPr marL="0" indent="0" algn="r">
              <a:buNone/>
              <a:defRPr/>
            </a:pPr>
            <a:r>
              <a:rPr lang="en-US" sz="900">
                <a:solidFill>
                  <a:srgbClr val="FFFFFF"/>
                </a:solidFill>
                <a:latin typeface="Calibri"/>
                <a:ea typeface="Calibri"/>
                <a:cs typeface="Calibri"/>
              </a:rPr>
              <a:t>11 / 15</a:t>
            </a:r>
            <a:endParaRPr lang="en-US" sz="900"/>
          </a:p>
        </p:txBody>
      </p:sp>
      <p:sp>
        <p:nvSpPr>
          <p:cNvPr id="1508992558" name="Text 28"/>
          <p:cNvSpPr/>
          <p:nvPr/>
        </p:nvSpPr>
        <p:spPr bwMode="auto">
          <a:xfrm>
            <a:off x="6327648" y="2240280"/>
            <a:ext cx="1481328" cy="246888"/>
          </a:xfrm>
          <a:prstGeom prst="rect">
            <a:avLst/>
          </a:prstGeom>
          <a:noFill/>
          <a:ln/>
        </p:spPr>
        <p:txBody>
          <a:bodyPr wrap="square" lIns="0" tIns="0" rIns="0" bIns="0" rtlCol="0" anchor="ctr"/>
          <a:lstStyle/>
          <a:p>
            <a:pPr marL="0" indent="0">
              <a:buNone/>
              <a:defRPr/>
            </a:pPr>
            <a:r>
              <a:rPr lang="en-US" sz="900">
                <a:solidFill>
                  <a:srgbClr val="A7A2B6"/>
                </a:solidFill>
                <a:latin typeface="Calibri"/>
                <a:ea typeface="Calibri"/>
                <a:cs typeface="Calibri"/>
              </a:rPr>
              <a:t>Pôle 3</a:t>
            </a:r>
            <a:endParaRPr lang="en-US" sz="900"/>
          </a:p>
        </p:txBody>
      </p:sp>
      <p:sp>
        <p:nvSpPr>
          <p:cNvPr id="945565850" name="Text 29"/>
          <p:cNvSpPr/>
          <p:nvPr/>
        </p:nvSpPr>
        <p:spPr bwMode="auto">
          <a:xfrm>
            <a:off x="7699248" y="2240280"/>
            <a:ext cx="987552" cy="246888"/>
          </a:xfrm>
          <a:prstGeom prst="rect">
            <a:avLst/>
          </a:prstGeom>
          <a:noFill/>
          <a:ln/>
        </p:spPr>
        <p:txBody>
          <a:bodyPr wrap="square" lIns="0" tIns="0" rIns="0" bIns="0" rtlCol="0" anchor="ctr"/>
          <a:lstStyle/>
          <a:p>
            <a:pPr marL="0" indent="0" algn="r">
              <a:buNone/>
              <a:defRPr/>
            </a:pPr>
            <a:r>
              <a:rPr lang="en-US" sz="900">
                <a:solidFill>
                  <a:srgbClr val="FFFFFF"/>
                </a:solidFill>
                <a:latin typeface="Calibri"/>
                <a:ea typeface="Calibri"/>
                <a:cs typeface="Calibri"/>
              </a:rPr>
              <a:t>10 / 15</a:t>
            </a:r>
            <a:endParaRPr lang="en-US" sz="900"/>
          </a:p>
        </p:txBody>
      </p:sp>
      <p:sp>
        <p:nvSpPr>
          <p:cNvPr id="412699036" name="Text 30"/>
          <p:cNvSpPr/>
          <p:nvPr/>
        </p:nvSpPr>
        <p:spPr bwMode="auto">
          <a:xfrm>
            <a:off x="6327648" y="2500884"/>
            <a:ext cx="1481328" cy="246888"/>
          </a:xfrm>
          <a:prstGeom prst="rect">
            <a:avLst/>
          </a:prstGeom>
          <a:noFill/>
          <a:ln/>
        </p:spPr>
        <p:txBody>
          <a:bodyPr wrap="square" lIns="0" tIns="0" rIns="0" bIns="0" rtlCol="0" anchor="ctr"/>
          <a:lstStyle/>
          <a:p>
            <a:pPr marL="0" indent="0">
              <a:buNone/>
              <a:defRPr/>
            </a:pPr>
            <a:r>
              <a:rPr lang="en-US" sz="900">
                <a:solidFill>
                  <a:srgbClr val="A7A2B6"/>
                </a:solidFill>
                <a:latin typeface="Calibri"/>
                <a:ea typeface="Calibri"/>
                <a:cs typeface="Calibri"/>
              </a:rPr>
              <a:t>Intégration</a:t>
            </a:r>
            <a:endParaRPr lang="en-US" sz="900"/>
          </a:p>
        </p:txBody>
      </p:sp>
      <p:sp>
        <p:nvSpPr>
          <p:cNvPr id="1731226993" name="Text 31"/>
          <p:cNvSpPr/>
          <p:nvPr/>
        </p:nvSpPr>
        <p:spPr bwMode="auto">
          <a:xfrm>
            <a:off x="7699248" y="2500884"/>
            <a:ext cx="987552" cy="246888"/>
          </a:xfrm>
          <a:prstGeom prst="rect">
            <a:avLst/>
          </a:prstGeom>
          <a:noFill/>
          <a:ln/>
        </p:spPr>
        <p:txBody>
          <a:bodyPr wrap="square" lIns="0" tIns="0" rIns="0" bIns="0" rtlCol="0" anchor="ctr"/>
          <a:lstStyle/>
          <a:p>
            <a:pPr marL="0" indent="0" algn="r">
              <a:buNone/>
              <a:defRPr/>
            </a:pPr>
            <a:r>
              <a:rPr lang="en-US" sz="900">
                <a:solidFill>
                  <a:srgbClr val="FFFFFF"/>
                </a:solidFill>
                <a:latin typeface="Calibri"/>
                <a:ea typeface="Calibri"/>
                <a:cs typeface="Calibri"/>
              </a:rPr>
              <a:t>4 / 10</a:t>
            </a:r>
            <a:endParaRPr lang="en-US" sz="900"/>
          </a:p>
        </p:txBody>
      </p:sp>
      <p:sp>
        <p:nvSpPr>
          <p:cNvPr id="2011060463" name="Text 32"/>
          <p:cNvSpPr/>
          <p:nvPr/>
        </p:nvSpPr>
        <p:spPr bwMode="auto">
          <a:xfrm>
            <a:off x="6327648" y="2761488"/>
            <a:ext cx="1481328" cy="246888"/>
          </a:xfrm>
          <a:prstGeom prst="rect">
            <a:avLst/>
          </a:prstGeom>
          <a:noFill/>
          <a:ln/>
        </p:spPr>
        <p:txBody>
          <a:bodyPr wrap="square" lIns="0" tIns="0" rIns="0" bIns="0" rtlCol="0" anchor="ctr"/>
          <a:lstStyle/>
          <a:p>
            <a:pPr marL="0" indent="0">
              <a:buNone/>
              <a:defRPr/>
            </a:pPr>
            <a:r>
              <a:rPr lang="en-US" sz="900">
                <a:solidFill>
                  <a:srgbClr val="A7A2B6"/>
                </a:solidFill>
                <a:latin typeface="Calibri"/>
                <a:ea typeface="Calibri"/>
                <a:cs typeface="Calibri"/>
              </a:rPr>
              <a:t>Démarche</a:t>
            </a:r>
            <a:endParaRPr lang="en-US" sz="900"/>
          </a:p>
        </p:txBody>
      </p:sp>
      <p:sp>
        <p:nvSpPr>
          <p:cNvPr id="1327598578" name="Text 33"/>
          <p:cNvSpPr/>
          <p:nvPr/>
        </p:nvSpPr>
        <p:spPr bwMode="auto">
          <a:xfrm>
            <a:off x="7699248" y="2761488"/>
            <a:ext cx="987552" cy="246888"/>
          </a:xfrm>
          <a:prstGeom prst="rect">
            <a:avLst/>
          </a:prstGeom>
          <a:noFill/>
          <a:ln/>
        </p:spPr>
        <p:txBody>
          <a:bodyPr wrap="square" lIns="0" tIns="0" rIns="0" bIns="0" rtlCol="0" anchor="ctr"/>
          <a:lstStyle/>
          <a:p>
            <a:pPr marL="0" indent="0" algn="r">
              <a:buNone/>
              <a:defRPr/>
            </a:pPr>
            <a:r>
              <a:rPr lang="en-US" sz="900">
                <a:solidFill>
                  <a:srgbClr val="FFFFFF"/>
                </a:solidFill>
                <a:latin typeface="Calibri"/>
                <a:ea typeface="Calibri"/>
                <a:cs typeface="Calibri"/>
              </a:rPr>
              <a:t>12 / 15</a:t>
            </a:r>
            <a:endParaRPr lang="en-US" sz="900"/>
          </a:p>
        </p:txBody>
      </p:sp>
      <p:sp>
        <p:nvSpPr>
          <p:cNvPr id="932321524" name="Text 34"/>
          <p:cNvSpPr/>
          <p:nvPr/>
        </p:nvSpPr>
        <p:spPr bwMode="auto">
          <a:xfrm>
            <a:off x="6327648" y="3022092"/>
            <a:ext cx="1481328" cy="246888"/>
          </a:xfrm>
          <a:prstGeom prst="rect">
            <a:avLst/>
          </a:prstGeom>
          <a:noFill/>
          <a:ln/>
        </p:spPr>
        <p:txBody>
          <a:bodyPr wrap="square" lIns="0" tIns="0" rIns="0" bIns="0" rtlCol="0" anchor="ctr"/>
          <a:lstStyle/>
          <a:p>
            <a:pPr marL="0" indent="0">
              <a:buNone/>
              <a:defRPr/>
            </a:pPr>
            <a:r>
              <a:rPr lang="en-US" sz="900">
                <a:solidFill>
                  <a:srgbClr val="A7A2B6"/>
                </a:solidFill>
                <a:latin typeface="Calibri"/>
                <a:ea typeface="Calibri"/>
                <a:cs typeface="Calibri"/>
              </a:rPr>
              <a:t>Innovation</a:t>
            </a:r>
            <a:endParaRPr lang="en-US" sz="900"/>
          </a:p>
        </p:txBody>
      </p:sp>
      <p:sp>
        <p:nvSpPr>
          <p:cNvPr id="146074157" name="Text 35"/>
          <p:cNvSpPr/>
          <p:nvPr/>
        </p:nvSpPr>
        <p:spPr bwMode="auto">
          <a:xfrm>
            <a:off x="7699248" y="3022092"/>
            <a:ext cx="987552" cy="246888"/>
          </a:xfrm>
          <a:prstGeom prst="rect">
            <a:avLst/>
          </a:prstGeom>
          <a:noFill/>
          <a:ln/>
        </p:spPr>
        <p:txBody>
          <a:bodyPr wrap="square" lIns="0" tIns="0" rIns="0" bIns="0" rtlCol="0" anchor="ctr"/>
          <a:lstStyle/>
          <a:p>
            <a:pPr marL="0" indent="0" algn="r">
              <a:buNone/>
              <a:defRPr/>
            </a:pPr>
            <a:r>
              <a:rPr lang="en-US" sz="900">
                <a:solidFill>
                  <a:srgbClr val="FFFFFF"/>
                </a:solidFill>
                <a:latin typeface="Calibri"/>
                <a:ea typeface="Calibri"/>
                <a:cs typeface="Calibri"/>
              </a:rPr>
              <a:t>6 / 10</a:t>
            </a:r>
            <a:endParaRPr lang="en-US" sz="900"/>
          </a:p>
        </p:txBody>
      </p:sp>
      <p:sp>
        <p:nvSpPr>
          <p:cNvPr id="1702276501" name="Text 36"/>
          <p:cNvSpPr/>
          <p:nvPr/>
        </p:nvSpPr>
        <p:spPr bwMode="auto">
          <a:xfrm>
            <a:off x="6327648" y="3282696"/>
            <a:ext cx="1481328" cy="246888"/>
          </a:xfrm>
          <a:prstGeom prst="rect">
            <a:avLst/>
          </a:prstGeom>
          <a:noFill/>
          <a:ln/>
        </p:spPr>
        <p:txBody>
          <a:bodyPr wrap="square" lIns="0" tIns="0" rIns="0" bIns="0" rtlCol="0" anchor="ctr"/>
          <a:lstStyle/>
          <a:p>
            <a:pPr marL="0" indent="0">
              <a:buNone/>
              <a:defRPr/>
            </a:pPr>
            <a:r>
              <a:rPr lang="en-US" sz="900">
                <a:solidFill>
                  <a:srgbClr val="A7A2B6"/>
                </a:solidFill>
                <a:latin typeface="Calibri"/>
                <a:ea typeface="Calibri"/>
                <a:cs typeface="Calibri"/>
              </a:rPr>
              <a:t>Soutenance</a:t>
            </a:r>
            <a:endParaRPr lang="en-US" sz="900"/>
          </a:p>
        </p:txBody>
      </p:sp>
      <p:sp>
        <p:nvSpPr>
          <p:cNvPr id="2081196713" name="Text 37"/>
          <p:cNvSpPr/>
          <p:nvPr/>
        </p:nvSpPr>
        <p:spPr bwMode="auto">
          <a:xfrm>
            <a:off x="7699248" y="3282696"/>
            <a:ext cx="987552" cy="246888"/>
          </a:xfrm>
          <a:prstGeom prst="rect">
            <a:avLst/>
          </a:prstGeom>
          <a:noFill/>
          <a:ln/>
        </p:spPr>
        <p:txBody>
          <a:bodyPr wrap="square" lIns="0" tIns="0" rIns="0" bIns="0" rtlCol="0" anchor="ctr"/>
          <a:lstStyle/>
          <a:p>
            <a:pPr marL="0" indent="0" algn="r">
              <a:buNone/>
              <a:defRPr/>
            </a:pPr>
            <a:r>
              <a:rPr lang="en-US" sz="900">
                <a:solidFill>
                  <a:srgbClr val="FFFFFF"/>
                </a:solidFill>
                <a:latin typeface="Calibri"/>
                <a:ea typeface="Calibri"/>
                <a:cs typeface="Calibri"/>
              </a:rPr>
              <a:t>7 / 10</a:t>
            </a:r>
            <a:endParaRPr lang="en-US" sz="900"/>
          </a:p>
        </p:txBody>
      </p:sp>
      <p:sp>
        <p:nvSpPr>
          <p:cNvPr id="2100534838" name="Text 38"/>
          <p:cNvSpPr/>
          <p:nvPr/>
        </p:nvSpPr>
        <p:spPr bwMode="auto">
          <a:xfrm>
            <a:off x="6327648" y="3543300"/>
            <a:ext cx="1481328" cy="246888"/>
          </a:xfrm>
          <a:prstGeom prst="rect">
            <a:avLst/>
          </a:prstGeom>
          <a:noFill/>
          <a:ln/>
        </p:spPr>
        <p:txBody>
          <a:bodyPr wrap="square" lIns="0" tIns="0" rIns="0" bIns="0" rtlCol="0" anchor="ctr"/>
          <a:lstStyle/>
          <a:p>
            <a:pPr marL="0" indent="0">
              <a:buNone/>
              <a:defRPr/>
            </a:pPr>
            <a:r>
              <a:rPr lang="en-US" sz="900">
                <a:solidFill>
                  <a:srgbClr val="A7A2B6"/>
                </a:solidFill>
                <a:latin typeface="Calibri"/>
                <a:ea typeface="Calibri"/>
                <a:cs typeface="Calibri"/>
              </a:rPr>
              <a:t>Équipe</a:t>
            </a:r>
            <a:endParaRPr lang="en-US" sz="900"/>
          </a:p>
        </p:txBody>
      </p:sp>
      <p:sp>
        <p:nvSpPr>
          <p:cNvPr id="1247200726" name="Text 39"/>
          <p:cNvSpPr/>
          <p:nvPr/>
        </p:nvSpPr>
        <p:spPr bwMode="auto">
          <a:xfrm>
            <a:off x="7699248" y="3543300"/>
            <a:ext cx="987552" cy="246888"/>
          </a:xfrm>
          <a:prstGeom prst="rect">
            <a:avLst/>
          </a:prstGeom>
          <a:noFill/>
          <a:ln/>
        </p:spPr>
        <p:txBody>
          <a:bodyPr wrap="square" lIns="0" tIns="0" rIns="0" bIns="0" rtlCol="0" anchor="ctr"/>
          <a:lstStyle/>
          <a:p>
            <a:pPr marL="0" indent="0" algn="r">
              <a:buNone/>
              <a:defRPr/>
            </a:pPr>
            <a:r>
              <a:rPr lang="en-US" sz="900">
                <a:solidFill>
                  <a:srgbClr val="FFFFFF"/>
                </a:solidFill>
                <a:latin typeface="Calibri"/>
                <a:ea typeface="Calibri"/>
                <a:cs typeface="Calibri"/>
              </a:rPr>
              <a:t>7 / 10</a:t>
            </a:r>
            <a:endParaRPr lang="en-US" sz="900"/>
          </a:p>
        </p:txBody>
      </p:sp>
      <p:sp>
        <p:nvSpPr>
          <p:cNvPr id="2033866571" name="Shape 40"/>
          <p:cNvSpPr/>
          <p:nvPr/>
        </p:nvSpPr>
        <p:spPr bwMode="auto">
          <a:xfrm>
            <a:off x="6263640" y="3790188"/>
            <a:ext cx="2423160" cy="914"/>
          </a:xfrm>
          <a:prstGeom prst="rect">
            <a:avLst/>
          </a:prstGeom>
          <a:solidFill>
            <a:srgbClr val="3D3750"/>
          </a:solidFill>
          <a:ln w="12700">
            <a:solidFill>
              <a:srgbClr val="3D3750"/>
            </a:solidFill>
            <a:prstDash val="solid"/>
          </a:ln>
        </p:spPr>
      </p:sp>
      <p:sp>
        <p:nvSpPr>
          <p:cNvPr id="395874705" name="Text 41"/>
          <p:cNvSpPr/>
          <p:nvPr/>
        </p:nvSpPr>
        <p:spPr bwMode="auto">
          <a:xfrm>
            <a:off x="6327648" y="3803904"/>
            <a:ext cx="1481328" cy="246888"/>
          </a:xfrm>
          <a:prstGeom prst="rect">
            <a:avLst/>
          </a:prstGeom>
          <a:noFill/>
          <a:ln/>
        </p:spPr>
        <p:txBody>
          <a:bodyPr wrap="square" lIns="0" tIns="0" rIns="0" bIns="0" rtlCol="0" anchor="ctr"/>
          <a:lstStyle/>
          <a:p>
            <a:pPr marL="0" indent="0">
              <a:buNone/>
              <a:defRPr/>
            </a:pPr>
            <a:r>
              <a:rPr lang="en-US" sz="1000" b="1">
                <a:solidFill>
                  <a:srgbClr val="FFFFFF"/>
                </a:solidFill>
                <a:latin typeface="Calibri"/>
                <a:ea typeface="Calibri"/>
                <a:cs typeface="Calibri"/>
              </a:rPr>
              <a:t>Total brut</a:t>
            </a:r>
            <a:endParaRPr lang="en-US" sz="1000"/>
          </a:p>
        </p:txBody>
      </p:sp>
      <p:sp>
        <p:nvSpPr>
          <p:cNvPr id="865271001" name="Text 42"/>
          <p:cNvSpPr/>
          <p:nvPr/>
        </p:nvSpPr>
        <p:spPr bwMode="auto">
          <a:xfrm>
            <a:off x="7699248" y="3803904"/>
            <a:ext cx="987552" cy="246888"/>
          </a:xfrm>
          <a:prstGeom prst="rect">
            <a:avLst/>
          </a:prstGeom>
          <a:noFill/>
          <a:ln/>
        </p:spPr>
        <p:txBody>
          <a:bodyPr wrap="square" lIns="0" tIns="0" rIns="0" bIns="0" rtlCol="0" anchor="ctr"/>
          <a:lstStyle/>
          <a:p>
            <a:pPr marL="0" indent="0" algn="r">
              <a:buNone/>
              <a:defRPr/>
            </a:pPr>
            <a:r>
              <a:rPr lang="en-US" sz="1000" b="1">
                <a:solidFill>
                  <a:srgbClr val="E5187F"/>
                </a:solidFill>
                <a:latin typeface="Calibri"/>
                <a:ea typeface="Calibri"/>
                <a:cs typeface="Calibri"/>
              </a:rPr>
              <a:t>69 / 100</a:t>
            </a:r>
            <a:endParaRPr lang="en-US" sz="1000"/>
          </a:p>
        </p:txBody>
      </p:sp>
      <p:sp>
        <p:nvSpPr>
          <p:cNvPr id="711680342" name="Text 43"/>
          <p:cNvSpPr/>
          <p:nvPr/>
        </p:nvSpPr>
        <p:spPr bwMode="auto">
          <a:xfrm>
            <a:off x="6327648" y="4064508"/>
            <a:ext cx="1481328" cy="246888"/>
          </a:xfrm>
          <a:prstGeom prst="rect">
            <a:avLst/>
          </a:prstGeom>
          <a:noFill/>
          <a:ln/>
        </p:spPr>
        <p:txBody>
          <a:bodyPr wrap="square" lIns="0" tIns="0" rIns="0" bIns="0" rtlCol="0" anchor="ctr"/>
          <a:lstStyle/>
          <a:p>
            <a:pPr marL="0" indent="0">
              <a:buNone/>
              <a:defRPr/>
            </a:pPr>
            <a:r>
              <a:rPr lang="en-US" sz="900">
                <a:solidFill>
                  <a:srgbClr val="A7A2B6"/>
                </a:solidFill>
                <a:latin typeface="Calibri"/>
                <a:ea typeface="Calibri"/>
                <a:cs typeface="Calibri"/>
              </a:rPr>
              <a:t>Sur 20 (÷ 5)</a:t>
            </a:r>
            <a:endParaRPr lang="en-US" sz="900"/>
          </a:p>
        </p:txBody>
      </p:sp>
      <p:sp>
        <p:nvSpPr>
          <p:cNvPr id="1673020834" name="Text 44"/>
          <p:cNvSpPr/>
          <p:nvPr/>
        </p:nvSpPr>
        <p:spPr bwMode="auto">
          <a:xfrm>
            <a:off x="7699248" y="4064508"/>
            <a:ext cx="987552" cy="246888"/>
          </a:xfrm>
          <a:prstGeom prst="rect">
            <a:avLst/>
          </a:prstGeom>
          <a:noFill/>
          <a:ln/>
        </p:spPr>
        <p:txBody>
          <a:bodyPr wrap="square" lIns="0" tIns="0" rIns="0" bIns="0" rtlCol="0" anchor="ctr"/>
          <a:lstStyle/>
          <a:p>
            <a:pPr marL="0" indent="0" algn="r">
              <a:buNone/>
              <a:defRPr/>
            </a:pPr>
            <a:r>
              <a:rPr lang="en-US" sz="900">
                <a:solidFill>
                  <a:srgbClr val="FFFFFF"/>
                </a:solidFill>
                <a:latin typeface="Calibri"/>
                <a:ea typeface="Calibri"/>
                <a:cs typeface="Calibri"/>
              </a:rPr>
              <a:t>13,8 / 20</a:t>
            </a:r>
            <a:endParaRPr lang="en-US" sz="900"/>
          </a:p>
        </p:txBody>
      </p:sp>
      <p:sp>
        <p:nvSpPr>
          <p:cNvPr id="1646307029" name="Text 45"/>
          <p:cNvSpPr/>
          <p:nvPr/>
        </p:nvSpPr>
        <p:spPr bwMode="auto">
          <a:xfrm>
            <a:off x="6327648" y="4325112"/>
            <a:ext cx="1481328" cy="246888"/>
          </a:xfrm>
          <a:prstGeom prst="rect">
            <a:avLst/>
          </a:prstGeom>
          <a:noFill/>
          <a:ln/>
        </p:spPr>
        <p:txBody>
          <a:bodyPr wrap="square" lIns="0" tIns="0" rIns="0" bIns="0" rtlCol="0" anchor="ctr"/>
          <a:lstStyle/>
          <a:p>
            <a:pPr marL="0" indent="0">
              <a:buNone/>
              <a:defRPr/>
            </a:pPr>
            <a:r>
              <a:rPr lang="en-US" sz="900">
                <a:solidFill>
                  <a:srgbClr val="A7A2B6"/>
                </a:solidFill>
                <a:latin typeface="Calibri"/>
                <a:ea typeface="Calibri"/>
                <a:cs typeface="Calibri"/>
              </a:rPr>
              <a:t>Jokers (G)</a:t>
            </a:r>
            <a:endParaRPr lang="en-US" sz="900"/>
          </a:p>
        </p:txBody>
      </p:sp>
      <p:sp>
        <p:nvSpPr>
          <p:cNvPr id="1419712113" name="Text 46"/>
          <p:cNvSpPr/>
          <p:nvPr/>
        </p:nvSpPr>
        <p:spPr bwMode="auto">
          <a:xfrm>
            <a:off x="7699248" y="4325112"/>
            <a:ext cx="987552" cy="246888"/>
          </a:xfrm>
          <a:prstGeom prst="rect">
            <a:avLst/>
          </a:prstGeom>
          <a:noFill/>
          <a:ln/>
        </p:spPr>
        <p:txBody>
          <a:bodyPr wrap="square" lIns="0" tIns="0" rIns="0" bIns="0" rtlCol="0" anchor="ctr"/>
          <a:lstStyle/>
          <a:p>
            <a:pPr marL="0" indent="0" algn="r">
              <a:buNone/>
              <a:defRPr/>
            </a:pPr>
            <a:r>
              <a:rPr lang="en-US" sz="900">
                <a:solidFill>
                  <a:srgbClr val="FFFFFF"/>
                </a:solidFill>
                <a:latin typeface="Calibri"/>
                <a:ea typeface="Calibri"/>
                <a:cs typeface="Calibri"/>
              </a:rPr>
              <a:t>1 journalisé</a:t>
            </a:r>
            <a:endParaRPr lang="en-US" sz="900"/>
          </a:p>
        </p:txBody>
      </p:sp>
      <p:sp>
        <p:nvSpPr>
          <p:cNvPr id="1763102815" name="Shape 49"/>
          <p:cNvSpPr/>
          <p:nvPr/>
        </p:nvSpPr>
        <p:spPr bwMode="auto">
          <a:xfrm>
            <a:off x="6263640" y="4832604"/>
            <a:ext cx="2423160" cy="914"/>
          </a:xfrm>
          <a:prstGeom prst="rect">
            <a:avLst/>
          </a:prstGeom>
          <a:solidFill>
            <a:srgbClr val="3D3750"/>
          </a:solidFill>
          <a:ln w="12700">
            <a:solidFill>
              <a:srgbClr val="3D3750"/>
            </a:solidFill>
            <a:prstDash val="solid"/>
          </a:ln>
        </p:spPr>
      </p:sp>
      <p:sp>
        <p:nvSpPr>
          <p:cNvPr id="1115995624" name="Text 50"/>
          <p:cNvSpPr/>
          <p:nvPr/>
        </p:nvSpPr>
        <p:spPr bwMode="auto">
          <a:xfrm>
            <a:off x="6327648" y="4544568"/>
            <a:ext cx="1481328" cy="246888"/>
          </a:xfrm>
          <a:prstGeom prst="rect">
            <a:avLst/>
          </a:prstGeom>
          <a:noFill/>
          <a:ln/>
        </p:spPr>
        <p:txBody>
          <a:bodyPr wrap="square" lIns="0" tIns="0" rIns="0" bIns="0" rtlCol="0" anchor="ctr"/>
          <a:lstStyle/>
          <a:p>
            <a:pPr marL="0" indent="0">
              <a:buNone/>
              <a:defRPr/>
            </a:pPr>
            <a:r>
              <a:rPr lang="en-US" sz="1000" b="1">
                <a:solidFill>
                  <a:srgbClr val="FFFFFF"/>
                </a:solidFill>
                <a:latin typeface="Calibri"/>
                <a:ea typeface="Calibri"/>
                <a:cs typeface="Calibri"/>
              </a:rPr>
              <a:t>Note finale</a:t>
            </a:r>
            <a:endParaRPr lang="en-US" sz="1000"/>
          </a:p>
        </p:txBody>
      </p:sp>
      <p:sp>
        <p:nvSpPr>
          <p:cNvPr id="1213280741" name="Text 51"/>
          <p:cNvSpPr/>
          <p:nvPr/>
        </p:nvSpPr>
        <p:spPr bwMode="auto">
          <a:xfrm>
            <a:off x="7699248" y="4544568"/>
            <a:ext cx="987552" cy="246888"/>
          </a:xfrm>
          <a:prstGeom prst="rect">
            <a:avLst/>
          </a:prstGeom>
          <a:noFill/>
          <a:ln/>
        </p:spPr>
        <p:txBody>
          <a:bodyPr wrap="square" lIns="0" tIns="0" rIns="0" bIns="0" rtlCol="0" anchor="ctr"/>
          <a:lstStyle/>
          <a:p>
            <a:pPr marL="0" indent="0" algn="r">
              <a:buNone/>
              <a:defRPr/>
            </a:pPr>
            <a:r>
              <a:rPr lang="en-US" sz="1000" b="1">
                <a:solidFill>
                  <a:srgbClr val="E5187F"/>
                </a:solidFill>
                <a:latin typeface="Calibri"/>
                <a:ea typeface="Calibri"/>
                <a:cs typeface="Calibri"/>
              </a:rPr>
              <a:t>1</a:t>
            </a:r>
            <a:r>
              <a:rPr lang="fr-FR" sz="1000" b="1">
                <a:solidFill>
                  <a:srgbClr val="E5187F"/>
                </a:solidFill>
                <a:latin typeface="Calibri"/>
                <a:ea typeface="Calibri"/>
                <a:cs typeface="Calibri"/>
              </a:rPr>
              <a:t>3</a:t>
            </a:r>
            <a:r>
              <a:rPr lang="en-US" sz="1000" b="1">
                <a:solidFill>
                  <a:srgbClr val="E5187F"/>
                </a:solidFill>
                <a:latin typeface="Calibri"/>
                <a:ea typeface="Calibri"/>
                <a:cs typeface="Calibri"/>
              </a:rPr>
              <a:t>,8 / 20</a:t>
            </a:r>
            <a:endParaRPr lang="en-US" sz="100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name="Slide 11">
    <p:spTree>
      <p:nvGrpSpPr>
        <p:cNvPr id="1" name=""/>
        <p:cNvGrpSpPr/>
        <p:nvPr/>
      </p:nvGrpSpPr>
      <p:grpSpPr bwMode="auto">
        <a:xfrm>
          <a:off x="0" y="0"/>
          <a:ext cx="0" cy="0"/>
          <a:chOff x="0" y="0"/>
          <a:chExt cx="0" cy="0"/>
        </a:xfrm>
      </p:grpSpPr>
      <p:pic>
        <p:nvPicPr>
          <p:cNvPr id="280372091" name="Image 0" descr="preencoded.png"/>
          <p:cNvPicPr>
            <a:picLocks noChangeAspect="1"/>
          </p:cNvPicPr>
          <p:nvPr/>
        </p:nvPicPr>
        <p:blipFill rotWithShape="1">
          <a:blip r:embed="rId3"/>
          <a:stretch/>
        </p:blipFill>
        <p:spPr bwMode="auto">
          <a:xfrm>
            <a:off x="0" y="0"/>
            <a:ext cx="9144000" cy="5143500"/>
          </a:xfrm>
          <a:prstGeom prst="rect">
            <a:avLst/>
          </a:prstGeom>
        </p:spPr>
      </p:pic>
      <p:sp>
        <p:nvSpPr>
          <p:cNvPr id="884949889" name="Text 0"/>
          <p:cNvSpPr/>
          <p:nvPr/>
        </p:nvSpPr>
        <p:spPr bwMode="auto">
          <a:xfrm>
            <a:off x="502920" y="347472"/>
            <a:ext cx="2011680" cy="256032"/>
          </a:xfrm>
          <a:prstGeom prst="rect">
            <a:avLst/>
          </a:prstGeom>
          <a:noFill/>
          <a:ln/>
        </p:spPr>
        <p:txBody>
          <a:bodyPr wrap="square" lIns="0" tIns="0" rIns="0" bIns="0" rtlCol="0" anchor="ctr"/>
          <a:lstStyle/>
          <a:p>
            <a:pPr marL="0" indent="0">
              <a:buNone/>
              <a:defRPr/>
            </a:pPr>
            <a:r>
              <a:rPr lang="en-US" sz="900" b="1" spc="200">
                <a:solidFill>
                  <a:srgbClr val="E5187F"/>
                </a:solidFill>
                <a:latin typeface="Calibri"/>
                <a:ea typeface="Calibri"/>
                <a:cs typeface="Calibri"/>
              </a:rPr>
              <a:t>• PROGRAMME</a:t>
            </a:r>
            <a:endParaRPr lang="en-US" sz="900"/>
          </a:p>
        </p:txBody>
      </p:sp>
      <p:sp>
        <p:nvSpPr>
          <p:cNvPr id="953432070" name="Text 1"/>
          <p:cNvSpPr/>
          <p:nvPr/>
        </p:nvSpPr>
        <p:spPr bwMode="auto">
          <a:xfrm>
            <a:off x="502920" y="658368"/>
            <a:ext cx="8229600" cy="502920"/>
          </a:xfrm>
          <a:prstGeom prst="rect">
            <a:avLst/>
          </a:prstGeom>
          <a:noFill/>
          <a:ln/>
        </p:spPr>
        <p:txBody>
          <a:bodyPr wrap="square" lIns="0" tIns="0" rIns="0" bIns="0" rtlCol="0" anchor="ctr"/>
          <a:lstStyle/>
          <a:p>
            <a:pPr marL="0" indent="0">
              <a:buNone/>
              <a:defRPr/>
            </a:pPr>
            <a:r>
              <a:rPr lang="en-US" sz="2800" b="1">
                <a:solidFill>
                  <a:srgbClr val="FFFFFF"/>
                </a:solidFill>
                <a:latin typeface="Cambria"/>
                <a:ea typeface="Cambria"/>
                <a:cs typeface="Cambria"/>
              </a:rPr>
              <a:t>Programme du Hackathon</a:t>
            </a:r>
            <a:endParaRPr lang="en-US" sz="2800"/>
          </a:p>
        </p:txBody>
      </p:sp>
      <p:sp>
        <p:nvSpPr>
          <p:cNvPr id="1039337759" name="Text 2"/>
          <p:cNvSpPr/>
          <p:nvPr/>
        </p:nvSpPr>
        <p:spPr bwMode="auto">
          <a:xfrm>
            <a:off x="502920" y="1188720"/>
            <a:ext cx="8229600" cy="274320"/>
          </a:xfrm>
          <a:prstGeom prst="rect">
            <a:avLst/>
          </a:prstGeom>
          <a:noFill/>
          <a:ln/>
        </p:spPr>
        <p:txBody>
          <a:bodyPr wrap="square" lIns="0" tIns="0" rIns="0" bIns="0" rtlCol="0" anchor="ctr"/>
          <a:lstStyle/>
          <a:p>
            <a:pPr marL="0" indent="0">
              <a:buNone/>
              <a:defRPr/>
            </a:pPr>
            <a:r>
              <a:rPr lang="en-US" sz="1150" b="1">
                <a:solidFill>
                  <a:srgbClr val="E5187F"/>
                </a:solidFill>
                <a:latin typeface="Calibri"/>
                <a:ea typeface="Calibri"/>
                <a:cs typeface="Calibri"/>
              </a:rPr>
              <a:t>Mardi 30 </a:t>
            </a:r>
            <a:r>
              <a:rPr lang="fr-FR" sz="1150" b="1">
                <a:solidFill>
                  <a:srgbClr val="E5187F"/>
                </a:solidFill>
                <a:latin typeface="Calibri"/>
                <a:ea typeface="Calibri"/>
                <a:cs typeface="Calibri"/>
              </a:rPr>
              <a:t>juin </a:t>
            </a:r>
            <a:r>
              <a:rPr lang="en-US" sz="1150" b="1">
                <a:solidFill>
                  <a:srgbClr val="E5187F"/>
                </a:solidFill>
                <a:latin typeface="Calibri"/>
                <a:ea typeface="Calibri"/>
                <a:cs typeface="Calibri"/>
              </a:rPr>
              <a:t>→ Jeudi </a:t>
            </a:r>
            <a:r>
              <a:rPr lang="fr-FR" sz="1150" b="1">
                <a:solidFill>
                  <a:srgbClr val="E5187F"/>
                </a:solidFill>
                <a:latin typeface="Calibri"/>
                <a:ea typeface="Calibri"/>
                <a:cs typeface="Calibri"/>
              </a:rPr>
              <a:t>2 juillet </a:t>
            </a:r>
            <a:r>
              <a:rPr lang="en-US" sz="1150" b="1">
                <a:solidFill>
                  <a:srgbClr val="E5187F"/>
                </a:solidFill>
                <a:latin typeface="Calibri"/>
                <a:ea typeface="Calibri"/>
                <a:cs typeface="Calibri"/>
              </a:rPr>
              <a:t>2026  ·  2 jours et demi</a:t>
            </a:r>
            <a:endParaRPr lang="en-US" sz="1150"/>
          </a:p>
        </p:txBody>
      </p:sp>
      <p:sp>
        <p:nvSpPr>
          <p:cNvPr id="2100780206" name="Shape 3"/>
          <p:cNvSpPr/>
          <p:nvPr/>
        </p:nvSpPr>
        <p:spPr bwMode="auto">
          <a:xfrm>
            <a:off x="411480" y="1572768"/>
            <a:ext cx="8321039" cy="768096"/>
          </a:xfrm>
          <a:prstGeom prst="roundRect">
            <a:avLst>
              <a:gd name="adj" fmla="val 14286"/>
            </a:avLst>
          </a:prstGeom>
          <a:solidFill>
            <a:srgbClr val="2F2A3E"/>
          </a:solidFill>
          <a:ln w="12700">
            <a:solidFill>
              <a:srgbClr val="3D3750"/>
            </a:solidFill>
            <a:prstDash val="solid"/>
          </a:ln>
        </p:spPr>
      </p:sp>
      <p:pic>
        <p:nvPicPr>
          <p:cNvPr id="1653256393" name="Image 1" descr="preencoded.png"/>
          <p:cNvPicPr>
            <a:picLocks noChangeAspect="1"/>
          </p:cNvPicPr>
          <p:nvPr/>
        </p:nvPicPr>
        <p:blipFill rotWithShape="1">
          <a:blip r:embed="rId4"/>
          <a:stretch/>
        </p:blipFill>
        <p:spPr bwMode="auto">
          <a:xfrm>
            <a:off x="530352" y="1719072"/>
            <a:ext cx="475488" cy="475488"/>
          </a:xfrm>
          <a:prstGeom prst="rect">
            <a:avLst/>
          </a:prstGeom>
        </p:spPr>
      </p:pic>
      <p:sp>
        <p:nvSpPr>
          <p:cNvPr id="994081276" name="Text 4"/>
          <p:cNvSpPr/>
          <p:nvPr/>
        </p:nvSpPr>
        <p:spPr bwMode="auto">
          <a:xfrm>
            <a:off x="530352" y="1719072"/>
            <a:ext cx="475488" cy="475488"/>
          </a:xfrm>
          <a:prstGeom prst="rect">
            <a:avLst/>
          </a:prstGeom>
          <a:noFill/>
          <a:ln/>
        </p:spPr>
        <p:txBody>
          <a:bodyPr wrap="square" lIns="0" tIns="0" rIns="0" bIns="0" rtlCol="0" anchor="ctr"/>
          <a:lstStyle/>
          <a:p>
            <a:pPr marL="0" indent="0" algn="ctr">
              <a:buNone/>
              <a:defRPr/>
            </a:pPr>
            <a:r>
              <a:rPr lang="en-US" sz="1800" b="1">
                <a:solidFill>
                  <a:srgbClr val="FFFFFF"/>
                </a:solidFill>
                <a:latin typeface="Cambria"/>
                <a:ea typeface="Cambria"/>
                <a:cs typeface="Cambria"/>
              </a:rPr>
              <a:t>1</a:t>
            </a:r>
            <a:endParaRPr lang="en-US" sz="1800"/>
          </a:p>
        </p:txBody>
      </p:sp>
      <p:sp>
        <p:nvSpPr>
          <p:cNvPr id="2095496224" name="Text 5"/>
          <p:cNvSpPr/>
          <p:nvPr/>
        </p:nvSpPr>
        <p:spPr bwMode="auto">
          <a:xfrm>
            <a:off x="1143000" y="1664208"/>
            <a:ext cx="3840480" cy="228600"/>
          </a:xfrm>
          <a:prstGeom prst="rect">
            <a:avLst/>
          </a:prstGeom>
          <a:noFill/>
          <a:ln/>
        </p:spPr>
        <p:txBody>
          <a:bodyPr wrap="square" lIns="0" tIns="0" rIns="0" bIns="0" rtlCol="0" anchor="ctr"/>
          <a:lstStyle/>
          <a:p>
            <a:pPr marL="0" indent="0">
              <a:buNone/>
              <a:defRPr/>
            </a:pPr>
            <a:r>
              <a:rPr lang="en-US" sz="900" b="1">
                <a:solidFill>
                  <a:srgbClr val="E5187F"/>
                </a:solidFill>
                <a:latin typeface="Calibri"/>
                <a:ea typeface="Calibri"/>
                <a:cs typeface="Calibri"/>
              </a:rPr>
              <a:t>Mardi 30 </a:t>
            </a:r>
            <a:r>
              <a:rPr lang="fr-FR" sz="900" b="1">
                <a:solidFill>
                  <a:srgbClr val="E5187F"/>
                </a:solidFill>
                <a:latin typeface="Calibri"/>
                <a:ea typeface="Calibri"/>
                <a:cs typeface="Calibri"/>
              </a:rPr>
              <a:t>juin </a:t>
            </a:r>
            <a:r>
              <a:rPr lang="en-US" sz="900" b="1">
                <a:solidFill>
                  <a:srgbClr val="E5187F"/>
                </a:solidFill>
                <a:latin typeface="Calibri"/>
                <a:ea typeface="Calibri"/>
                <a:cs typeface="Calibri"/>
              </a:rPr>
              <a:t>— matin</a:t>
            </a:r>
            <a:endParaRPr lang="en-US" sz="900"/>
          </a:p>
        </p:txBody>
      </p:sp>
      <p:sp>
        <p:nvSpPr>
          <p:cNvPr id="660776048" name="Text 6"/>
          <p:cNvSpPr/>
          <p:nvPr/>
        </p:nvSpPr>
        <p:spPr bwMode="auto">
          <a:xfrm>
            <a:off x="1143000" y="1865376"/>
            <a:ext cx="3566160" cy="256032"/>
          </a:xfrm>
          <a:prstGeom prst="rect">
            <a:avLst/>
          </a:prstGeom>
          <a:noFill/>
          <a:ln/>
        </p:spPr>
        <p:txBody>
          <a:bodyPr wrap="square" lIns="0" tIns="0" rIns="0" bIns="0" rtlCol="0" anchor="ctr"/>
          <a:lstStyle/>
          <a:p>
            <a:pPr marL="0" indent="0">
              <a:buNone/>
              <a:defRPr/>
            </a:pPr>
            <a:r>
              <a:rPr lang="en-US" sz="1300" b="1">
                <a:solidFill>
                  <a:srgbClr val="FFFFFF"/>
                </a:solidFill>
                <a:latin typeface="Cambria"/>
                <a:ea typeface="Cambria"/>
                <a:cs typeface="Cambria"/>
              </a:rPr>
              <a:t>Ouverture et lancement</a:t>
            </a:r>
            <a:endParaRPr lang="en-US" sz="1300"/>
          </a:p>
        </p:txBody>
      </p:sp>
      <p:sp>
        <p:nvSpPr>
          <p:cNvPr id="627895209" name="Text 7"/>
          <p:cNvSpPr/>
          <p:nvPr/>
        </p:nvSpPr>
        <p:spPr bwMode="auto">
          <a:xfrm>
            <a:off x="4983480" y="1655063"/>
            <a:ext cx="3547872" cy="603504"/>
          </a:xfrm>
          <a:prstGeom prst="rect">
            <a:avLst/>
          </a:prstGeom>
          <a:noFill/>
          <a:ln/>
        </p:spPr>
        <p:txBody>
          <a:bodyPr wrap="square" rtlCol="0" anchor="ctr"/>
          <a:lstStyle/>
          <a:p>
            <a:pPr marL="0" indent="0">
              <a:buNone/>
              <a:defRPr/>
            </a:pPr>
            <a:r>
              <a:rPr lang="en-US" sz="950">
                <a:solidFill>
                  <a:srgbClr val="A7A2B6"/>
                </a:solidFill>
                <a:latin typeface="Calibri"/>
                <a:ea typeface="Calibri"/>
                <a:cs typeface="Calibri"/>
              </a:rPr>
              <a:t>Présentation des équipes, des pôles et des sujets · </a:t>
            </a:r>
          </a:p>
          <a:p>
            <a:pPr marL="0" indent="0">
              <a:buNone/>
              <a:defRPr/>
            </a:pPr>
            <a:r>
              <a:rPr lang="en-US" sz="950">
                <a:solidFill>
                  <a:srgbClr val="A7A2B6"/>
                </a:solidFill>
                <a:latin typeface="Calibri"/>
                <a:ea typeface="Calibri"/>
                <a:cs typeface="Calibri"/>
              </a:rPr>
              <a:t>Constitution des groupes </a:t>
            </a:r>
          </a:p>
          <a:p>
            <a:pPr marL="0" indent="0">
              <a:buNone/>
              <a:defRPr/>
            </a:pPr>
            <a:r>
              <a:rPr lang="en-US" sz="950">
                <a:solidFill>
                  <a:srgbClr val="A7A2B6"/>
                </a:solidFill>
                <a:latin typeface="Calibri"/>
                <a:ea typeface="Calibri"/>
                <a:cs typeface="Calibri"/>
              </a:rPr>
              <a:t>Choix du sujet A ou B </a:t>
            </a:r>
            <a:r>
              <a:rPr lang="fr-FR" sz="950">
                <a:solidFill>
                  <a:srgbClr val="A7A2B6"/>
                </a:solidFill>
                <a:latin typeface="Calibri"/>
                <a:ea typeface="Calibri"/>
                <a:cs typeface="Calibri"/>
              </a:rPr>
              <a:t>(ou les deux) </a:t>
            </a:r>
            <a:r>
              <a:rPr lang="en-US" sz="950">
                <a:solidFill>
                  <a:srgbClr val="A7A2B6"/>
                </a:solidFill>
                <a:latin typeface="Calibri"/>
                <a:ea typeface="Calibri"/>
                <a:cs typeface="Calibri"/>
              </a:rPr>
              <a:t>par pôle · Kick-off</a:t>
            </a:r>
            <a:endParaRPr lang="en-US" sz="950"/>
          </a:p>
        </p:txBody>
      </p:sp>
      <p:pic>
        <p:nvPicPr>
          <p:cNvPr id="1717522781" name="Image 2" descr="preencoded.png"/>
          <p:cNvPicPr>
            <a:picLocks noChangeAspect="1"/>
          </p:cNvPicPr>
          <p:nvPr/>
        </p:nvPicPr>
        <p:blipFill rotWithShape="1">
          <a:blip r:embed="rId5"/>
          <a:stretch/>
        </p:blipFill>
        <p:spPr bwMode="auto">
          <a:xfrm>
            <a:off x="8394192" y="1719072"/>
            <a:ext cx="475488" cy="475488"/>
          </a:xfrm>
          <a:prstGeom prst="rect">
            <a:avLst/>
          </a:prstGeom>
        </p:spPr>
      </p:pic>
      <p:pic>
        <p:nvPicPr>
          <p:cNvPr id="546100552" name="Image 3" descr="preencoded.png"/>
          <p:cNvPicPr>
            <a:picLocks noChangeAspect="1"/>
          </p:cNvPicPr>
          <p:nvPr/>
        </p:nvPicPr>
        <p:blipFill rotWithShape="1">
          <a:blip r:embed="rId6"/>
          <a:stretch/>
        </p:blipFill>
        <p:spPr bwMode="auto">
          <a:xfrm>
            <a:off x="8498799" y="1823679"/>
            <a:ext cx="266273" cy="266273"/>
          </a:xfrm>
          <a:prstGeom prst="rect">
            <a:avLst/>
          </a:prstGeom>
        </p:spPr>
      </p:pic>
      <p:sp>
        <p:nvSpPr>
          <p:cNvPr id="274246375" name="Shape 8"/>
          <p:cNvSpPr/>
          <p:nvPr/>
        </p:nvSpPr>
        <p:spPr bwMode="auto">
          <a:xfrm>
            <a:off x="411480" y="2450592"/>
            <a:ext cx="8321039" cy="768096"/>
          </a:xfrm>
          <a:prstGeom prst="roundRect">
            <a:avLst>
              <a:gd name="adj" fmla="val 14286"/>
            </a:avLst>
          </a:prstGeom>
          <a:solidFill>
            <a:srgbClr val="2F2A3E"/>
          </a:solidFill>
          <a:ln w="12700">
            <a:solidFill>
              <a:srgbClr val="3D3750"/>
            </a:solidFill>
            <a:prstDash val="solid"/>
          </a:ln>
        </p:spPr>
      </p:sp>
      <p:pic>
        <p:nvPicPr>
          <p:cNvPr id="2018409390" name="Image 4" descr="preencoded.png"/>
          <p:cNvPicPr>
            <a:picLocks noChangeAspect="1"/>
          </p:cNvPicPr>
          <p:nvPr/>
        </p:nvPicPr>
        <p:blipFill rotWithShape="1">
          <a:blip r:embed="rId4"/>
          <a:stretch/>
        </p:blipFill>
        <p:spPr bwMode="auto">
          <a:xfrm>
            <a:off x="530352" y="2596896"/>
            <a:ext cx="475488" cy="475488"/>
          </a:xfrm>
          <a:prstGeom prst="rect">
            <a:avLst/>
          </a:prstGeom>
        </p:spPr>
      </p:pic>
      <p:sp>
        <p:nvSpPr>
          <p:cNvPr id="1523500918" name="Text 9"/>
          <p:cNvSpPr/>
          <p:nvPr/>
        </p:nvSpPr>
        <p:spPr bwMode="auto">
          <a:xfrm>
            <a:off x="530352" y="2596896"/>
            <a:ext cx="475488" cy="475488"/>
          </a:xfrm>
          <a:prstGeom prst="rect">
            <a:avLst/>
          </a:prstGeom>
          <a:noFill/>
          <a:ln/>
        </p:spPr>
        <p:txBody>
          <a:bodyPr wrap="square" lIns="0" tIns="0" rIns="0" bIns="0" rtlCol="0" anchor="ctr"/>
          <a:lstStyle/>
          <a:p>
            <a:pPr marL="0" indent="0" algn="ctr">
              <a:buNone/>
              <a:defRPr/>
            </a:pPr>
            <a:r>
              <a:rPr lang="en-US" sz="1800" b="1">
                <a:solidFill>
                  <a:srgbClr val="FFFFFF"/>
                </a:solidFill>
                <a:latin typeface="Cambria"/>
                <a:ea typeface="Cambria"/>
                <a:cs typeface="Cambria"/>
              </a:rPr>
              <a:t>2</a:t>
            </a:r>
            <a:endParaRPr lang="en-US" sz="1800"/>
          </a:p>
        </p:txBody>
      </p:sp>
      <p:sp>
        <p:nvSpPr>
          <p:cNvPr id="1704744260" name="Text 10"/>
          <p:cNvSpPr/>
          <p:nvPr/>
        </p:nvSpPr>
        <p:spPr bwMode="auto">
          <a:xfrm>
            <a:off x="1143000" y="2542032"/>
            <a:ext cx="3840480" cy="228600"/>
          </a:xfrm>
          <a:prstGeom prst="rect">
            <a:avLst/>
          </a:prstGeom>
          <a:noFill/>
          <a:ln/>
        </p:spPr>
        <p:txBody>
          <a:bodyPr wrap="square" lIns="0" tIns="0" rIns="0" bIns="0" rtlCol="0" anchor="ctr"/>
          <a:lstStyle/>
          <a:p>
            <a:pPr marL="0" indent="0">
              <a:buNone/>
              <a:defRPr/>
            </a:pPr>
            <a:r>
              <a:rPr lang="en-US" sz="900" b="1">
                <a:solidFill>
                  <a:srgbClr val="E5187F"/>
                </a:solidFill>
                <a:latin typeface="Calibri"/>
                <a:ea typeface="Calibri"/>
                <a:cs typeface="Calibri"/>
              </a:rPr>
              <a:t>Mardi 30 </a:t>
            </a:r>
            <a:r>
              <a:rPr lang="fr-FR" sz="900" b="1">
                <a:solidFill>
                  <a:srgbClr val="E5187F"/>
                </a:solidFill>
                <a:latin typeface="Calibri"/>
                <a:ea typeface="Calibri"/>
                <a:cs typeface="Calibri"/>
              </a:rPr>
              <a:t>juin</a:t>
            </a:r>
            <a:r>
              <a:rPr lang="en-US" sz="900" b="1">
                <a:solidFill>
                  <a:srgbClr val="E5187F"/>
                </a:solidFill>
                <a:latin typeface="Calibri"/>
                <a:ea typeface="Calibri"/>
                <a:cs typeface="Calibri"/>
              </a:rPr>
              <a:t> (après-midi) → Mercredi 31 juil. (journée complète)</a:t>
            </a:r>
            <a:endParaRPr lang="en-US" sz="900"/>
          </a:p>
        </p:txBody>
      </p:sp>
      <p:sp>
        <p:nvSpPr>
          <p:cNvPr id="2108748995" name="Text 11"/>
          <p:cNvSpPr/>
          <p:nvPr/>
        </p:nvSpPr>
        <p:spPr bwMode="auto">
          <a:xfrm>
            <a:off x="1143000" y="2743200"/>
            <a:ext cx="3566160" cy="256032"/>
          </a:xfrm>
          <a:prstGeom prst="rect">
            <a:avLst/>
          </a:prstGeom>
          <a:noFill/>
          <a:ln/>
        </p:spPr>
        <p:txBody>
          <a:bodyPr wrap="square" lIns="0" tIns="0" rIns="0" bIns="0" rtlCol="0" anchor="ctr"/>
          <a:lstStyle/>
          <a:p>
            <a:pPr marL="0" indent="0">
              <a:buNone/>
              <a:defRPr/>
            </a:pPr>
            <a:r>
              <a:rPr lang="en-US" sz="1300" b="1">
                <a:solidFill>
                  <a:srgbClr val="FFFFFF"/>
                </a:solidFill>
                <a:latin typeface="Cambria"/>
                <a:ea typeface="Cambria"/>
                <a:cs typeface="Cambria"/>
              </a:rPr>
              <a:t>Phase de développement encadrée</a:t>
            </a:r>
            <a:endParaRPr lang="en-US" sz="1300"/>
          </a:p>
        </p:txBody>
      </p:sp>
      <p:sp>
        <p:nvSpPr>
          <p:cNvPr id="976193625" name="Text 12"/>
          <p:cNvSpPr/>
          <p:nvPr/>
        </p:nvSpPr>
        <p:spPr bwMode="auto">
          <a:xfrm>
            <a:off x="4983480" y="2532888"/>
            <a:ext cx="3547872" cy="603504"/>
          </a:xfrm>
          <a:prstGeom prst="rect">
            <a:avLst/>
          </a:prstGeom>
          <a:noFill/>
          <a:ln/>
        </p:spPr>
        <p:txBody>
          <a:bodyPr wrap="square" rtlCol="0" anchor="ctr"/>
          <a:lstStyle/>
          <a:p>
            <a:pPr marL="0" indent="0">
              <a:buNone/>
              <a:defRPr/>
            </a:pPr>
            <a:r>
              <a:rPr lang="en-US" sz="950">
                <a:solidFill>
                  <a:srgbClr val="A7A2B6"/>
                </a:solidFill>
                <a:latin typeface="Calibri"/>
                <a:ea typeface="Calibri"/>
                <a:cs typeface="Calibri"/>
              </a:rPr>
              <a:t>Sprint actif sur les 3 pôles · Mentors disponibles pour accompagner et débloquer · Jokers/aides tracés · Conception, code, tests, itérations</a:t>
            </a:r>
            <a:endParaRPr lang="en-US" sz="950"/>
          </a:p>
        </p:txBody>
      </p:sp>
      <p:pic>
        <p:nvPicPr>
          <p:cNvPr id="75244581" name="Image 5" descr="preencoded.png"/>
          <p:cNvPicPr>
            <a:picLocks noChangeAspect="1"/>
          </p:cNvPicPr>
          <p:nvPr/>
        </p:nvPicPr>
        <p:blipFill rotWithShape="1">
          <a:blip r:embed="rId5"/>
          <a:stretch/>
        </p:blipFill>
        <p:spPr bwMode="auto">
          <a:xfrm>
            <a:off x="8394192" y="2596896"/>
            <a:ext cx="475488" cy="475488"/>
          </a:xfrm>
          <a:prstGeom prst="rect">
            <a:avLst/>
          </a:prstGeom>
        </p:spPr>
      </p:pic>
      <p:pic>
        <p:nvPicPr>
          <p:cNvPr id="1170417674" name="Image 6" descr="preencoded.png"/>
          <p:cNvPicPr>
            <a:picLocks noChangeAspect="1"/>
          </p:cNvPicPr>
          <p:nvPr/>
        </p:nvPicPr>
        <p:blipFill rotWithShape="1">
          <a:blip r:embed="rId7"/>
          <a:stretch/>
        </p:blipFill>
        <p:spPr bwMode="auto">
          <a:xfrm>
            <a:off x="8498799" y="2701502"/>
            <a:ext cx="266273" cy="266273"/>
          </a:xfrm>
          <a:prstGeom prst="rect">
            <a:avLst/>
          </a:prstGeom>
        </p:spPr>
      </p:pic>
      <p:sp>
        <p:nvSpPr>
          <p:cNvPr id="412377466" name="Shape 13"/>
          <p:cNvSpPr/>
          <p:nvPr/>
        </p:nvSpPr>
        <p:spPr bwMode="auto">
          <a:xfrm>
            <a:off x="411480" y="3328416"/>
            <a:ext cx="8321039" cy="768096"/>
          </a:xfrm>
          <a:prstGeom prst="roundRect">
            <a:avLst>
              <a:gd name="adj" fmla="val 14286"/>
            </a:avLst>
          </a:prstGeom>
          <a:solidFill>
            <a:srgbClr val="2F2A3E"/>
          </a:solidFill>
          <a:ln w="12700">
            <a:solidFill>
              <a:srgbClr val="3D3750"/>
            </a:solidFill>
            <a:prstDash val="solid"/>
          </a:ln>
        </p:spPr>
      </p:sp>
      <p:pic>
        <p:nvPicPr>
          <p:cNvPr id="791912839" name="Image 7" descr="preencoded.png"/>
          <p:cNvPicPr>
            <a:picLocks noChangeAspect="1"/>
          </p:cNvPicPr>
          <p:nvPr/>
        </p:nvPicPr>
        <p:blipFill rotWithShape="1">
          <a:blip r:embed="rId4"/>
          <a:stretch/>
        </p:blipFill>
        <p:spPr bwMode="auto">
          <a:xfrm>
            <a:off x="530352" y="3474720"/>
            <a:ext cx="475488" cy="475488"/>
          </a:xfrm>
          <a:prstGeom prst="rect">
            <a:avLst/>
          </a:prstGeom>
        </p:spPr>
      </p:pic>
      <p:sp>
        <p:nvSpPr>
          <p:cNvPr id="716097159" name="Text 14"/>
          <p:cNvSpPr/>
          <p:nvPr/>
        </p:nvSpPr>
        <p:spPr bwMode="auto">
          <a:xfrm>
            <a:off x="530352" y="3474720"/>
            <a:ext cx="475488" cy="475488"/>
          </a:xfrm>
          <a:prstGeom prst="rect">
            <a:avLst/>
          </a:prstGeom>
          <a:noFill/>
          <a:ln/>
        </p:spPr>
        <p:txBody>
          <a:bodyPr wrap="square" lIns="0" tIns="0" rIns="0" bIns="0" rtlCol="0" anchor="ctr"/>
          <a:lstStyle/>
          <a:p>
            <a:pPr marL="0" indent="0" algn="ctr">
              <a:buNone/>
              <a:defRPr/>
            </a:pPr>
            <a:r>
              <a:rPr lang="en-US" sz="1800" b="1">
                <a:solidFill>
                  <a:srgbClr val="FFFFFF"/>
                </a:solidFill>
                <a:latin typeface="Cambria"/>
                <a:ea typeface="Cambria"/>
                <a:cs typeface="Cambria"/>
              </a:rPr>
              <a:t>3</a:t>
            </a:r>
            <a:endParaRPr lang="en-US" sz="1800"/>
          </a:p>
        </p:txBody>
      </p:sp>
      <p:sp>
        <p:nvSpPr>
          <p:cNvPr id="1364724506" name="Text 15"/>
          <p:cNvSpPr/>
          <p:nvPr/>
        </p:nvSpPr>
        <p:spPr bwMode="auto">
          <a:xfrm>
            <a:off x="1143000" y="3419856"/>
            <a:ext cx="3840480" cy="228600"/>
          </a:xfrm>
          <a:prstGeom prst="rect">
            <a:avLst/>
          </a:prstGeom>
          <a:noFill/>
          <a:ln/>
        </p:spPr>
        <p:txBody>
          <a:bodyPr wrap="square" lIns="0" tIns="0" rIns="0" bIns="0" rtlCol="0" anchor="ctr"/>
          <a:lstStyle/>
          <a:p>
            <a:pPr marL="0" indent="0">
              <a:buNone/>
              <a:defRPr/>
            </a:pPr>
            <a:r>
              <a:rPr lang="en-US" sz="900" b="1">
                <a:solidFill>
                  <a:srgbClr val="E5187F"/>
                </a:solidFill>
                <a:latin typeface="Calibri"/>
                <a:ea typeface="Calibri"/>
                <a:cs typeface="Calibri"/>
              </a:rPr>
              <a:t>Jeudi </a:t>
            </a:r>
            <a:r>
              <a:rPr lang="fr-FR" sz="900" b="1">
                <a:solidFill>
                  <a:srgbClr val="E5187F"/>
                </a:solidFill>
                <a:latin typeface="Calibri"/>
                <a:ea typeface="Calibri"/>
                <a:cs typeface="Calibri"/>
              </a:rPr>
              <a:t>2 juillet </a:t>
            </a:r>
            <a:r>
              <a:rPr lang="en-US" sz="900" b="1">
                <a:solidFill>
                  <a:srgbClr val="E5187F"/>
                </a:solidFill>
                <a:latin typeface="Calibri"/>
                <a:ea typeface="Calibri"/>
                <a:cs typeface="Calibri"/>
              </a:rPr>
              <a:t>— </a:t>
            </a:r>
            <a:r>
              <a:rPr lang="fr-FR" sz="900" b="1">
                <a:solidFill>
                  <a:srgbClr val="E5187F"/>
                </a:solidFill>
                <a:latin typeface="Calibri"/>
                <a:ea typeface="Calibri"/>
                <a:cs typeface="Calibri"/>
              </a:rPr>
              <a:t>13h30</a:t>
            </a:r>
            <a:endParaRPr lang="en-US" sz="900"/>
          </a:p>
        </p:txBody>
      </p:sp>
      <p:sp>
        <p:nvSpPr>
          <p:cNvPr id="302269246" name="Text 16"/>
          <p:cNvSpPr/>
          <p:nvPr/>
        </p:nvSpPr>
        <p:spPr bwMode="auto">
          <a:xfrm>
            <a:off x="1143000" y="3621024"/>
            <a:ext cx="3566160" cy="256032"/>
          </a:xfrm>
          <a:prstGeom prst="rect">
            <a:avLst/>
          </a:prstGeom>
          <a:noFill/>
          <a:ln/>
        </p:spPr>
        <p:txBody>
          <a:bodyPr wrap="square" lIns="0" tIns="0" rIns="0" bIns="0" rtlCol="0" anchor="ctr"/>
          <a:lstStyle/>
          <a:p>
            <a:pPr marL="0" indent="0">
              <a:buNone/>
              <a:defRPr/>
            </a:pPr>
            <a:r>
              <a:rPr lang="en-US" sz="1300" b="1">
                <a:solidFill>
                  <a:srgbClr val="FFFFFF"/>
                </a:solidFill>
                <a:latin typeface="Cambria"/>
                <a:ea typeface="Cambria"/>
                <a:cs typeface="Cambria"/>
              </a:rPr>
              <a:t>Soutenances &amp; démos live</a:t>
            </a:r>
            <a:endParaRPr lang="en-US" sz="1300"/>
          </a:p>
        </p:txBody>
      </p:sp>
      <p:sp>
        <p:nvSpPr>
          <p:cNvPr id="1285147757" name="Text 17"/>
          <p:cNvSpPr/>
          <p:nvPr/>
        </p:nvSpPr>
        <p:spPr bwMode="auto">
          <a:xfrm>
            <a:off x="4983480" y="3410712"/>
            <a:ext cx="3547872" cy="603504"/>
          </a:xfrm>
          <a:prstGeom prst="rect">
            <a:avLst/>
          </a:prstGeom>
          <a:noFill/>
          <a:ln/>
        </p:spPr>
        <p:txBody>
          <a:bodyPr wrap="square" rtlCol="0" anchor="ctr"/>
          <a:lstStyle/>
          <a:p>
            <a:pPr marL="0" indent="0">
              <a:buNone/>
              <a:defRPr/>
            </a:pPr>
            <a:r>
              <a:rPr lang="en-US" sz="950">
                <a:solidFill>
                  <a:srgbClr val="A7A2B6"/>
                </a:solidFill>
                <a:latin typeface="Calibri"/>
                <a:ea typeface="Calibri"/>
                <a:cs typeface="Calibri"/>
              </a:rPr>
              <a:t>Chaque équipe présente sa solution devant le jury · Démo live des livrables · 10 min de présentation + 5 min de Q&amp;A · Clôture des livrables à 13h00</a:t>
            </a:r>
            <a:endParaRPr lang="en-US" sz="950"/>
          </a:p>
        </p:txBody>
      </p:sp>
      <p:pic>
        <p:nvPicPr>
          <p:cNvPr id="1277543052" name="Image 8" descr="preencoded.png"/>
          <p:cNvPicPr>
            <a:picLocks noChangeAspect="1"/>
          </p:cNvPicPr>
          <p:nvPr/>
        </p:nvPicPr>
        <p:blipFill rotWithShape="1">
          <a:blip r:embed="rId5"/>
          <a:stretch/>
        </p:blipFill>
        <p:spPr bwMode="auto">
          <a:xfrm>
            <a:off x="8394192" y="3474720"/>
            <a:ext cx="475488" cy="475488"/>
          </a:xfrm>
          <a:prstGeom prst="rect">
            <a:avLst/>
          </a:prstGeom>
        </p:spPr>
      </p:pic>
      <p:pic>
        <p:nvPicPr>
          <p:cNvPr id="714410408" name="Image 9" descr="preencoded.png"/>
          <p:cNvPicPr>
            <a:picLocks noChangeAspect="1"/>
          </p:cNvPicPr>
          <p:nvPr/>
        </p:nvPicPr>
        <p:blipFill rotWithShape="1">
          <a:blip r:embed="rId8"/>
          <a:stretch/>
        </p:blipFill>
        <p:spPr bwMode="auto">
          <a:xfrm>
            <a:off x="8498799" y="3579327"/>
            <a:ext cx="266273" cy="266273"/>
          </a:xfrm>
          <a:prstGeom prst="rect">
            <a:avLst/>
          </a:prstGeom>
        </p:spPr>
      </p:pic>
      <p:sp>
        <p:nvSpPr>
          <p:cNvPr id="1257018014" name="Shape 18"/>
          <p:cNvSpPr/>
          <p:nvPr/>
        </p:nvSpPr>
        <p:spPr bwMode="auto">
          <a:xfrm>
            <a:off x="411480" y="4206240"/>
            <a:ext cx="8321039" cy="768096"/>
          </a:xfrm>
          <a:prstGeom prst="roundRect">
            <a:avLst>
              <a:gd name="adj" fmla="val 14286"/>
            </a:avLst>
          </a:prstGeom>
          <a:solidFill>
            <a:srgbClr val="2F2A3E"/>
          </a:solidFill>
          <a:ln w="12700">
            <a:solidFill>
              <a:srgbClr val="3D3750"/>
            </a:solidFill>
            <a:prstDash val="solid"/>
          </a:ln>
        </p:spPr>
      </p:sp>
      <p:pic>
        <p:nvPicPr>
          <p:cNvPr id="1893622334" name="Image 10" descr="preencoded.png"/>
          <p:cNvPicPr>
            <a:picLocks noChangeAspect="1"/>
          </p:cNvPicPr>
          <p:nvPr/>
        </p:nvPicPr>
        <p:blipFill rotWithShape="1">
          <a:blip r:embed="rId4"/>
          <a:stretch/>
        </p:blipFill>
        <p:spPr bwMode="auto">
          <a:xfrm>
            <a:off x="530352" y="4352544"/>
            <a:ext cx="475488" cy="475488"/>
          </a:xfrm>
          <a:prstGeom prst="rect">
            <a:avLst/>
          </a:prstGeom>
        </p:spPr>
      </p:pic>
      <p:sp>
        <p:nvSpPr>
          <p:cNvPr id="1556506778" name="Text 19"/>
          <p:cNvSpPr/>
          <p:nvPr/>
        </p:nvSpPr>
        <p:spPr bwMode="auto">
          <a:xfrm>
            <a:off x="530352" y="4352544"/>
            <a:ext cx="475488" cy="475488"/>
          </a:xfrm>
          <a:prstGeom prst="rect">
            <a:avLst/>
          </a:prstGeom>
          <a:noFill/>
          <a:ln/>
        </p:spPr>
        <p:txBody>
          <a:bodyPr wrap="square" lIns="0" tIns="0" rIns="0" bIns="0" rtlCol="0" anchor="ctr"/>
          <a:lstStyle/>
          <a:p>
            <a:pPr marL="0" indent="0" algn="ctr">
              <a:buNone/>
              <a:defRPr/>
            </a:pPr>
            <a:r>
              <a:rPr lang="en-US" sz="1800" b="1">
                <a:solidFill>
                  <a:srgbClr val="FFFFFF"/>
                </a:solidFill>
                <a:latin typeface="Cambria"/>
                <a:ea typeface="Cambria"/>
                <a:cs typeface="Cambria"/>
              </a:rPr>
              <a:t>4</a:t>
            </a:r>
            <a:endParaRPr lang="en-US" sz="1800"/>
          </a:p>
        </p:txBody>
      </p:sp>
      <p:sp>
        <p:nvSpPr>
          <p:cNvPr id="1460574247" name="Text 20"/>
          <p:cNvSpPr/>
          <p:nvPr/>
        </p:nvSpPr>
        <p:spPr bwMode="auto">
          <a:xfrm>
            <a:off x="1143000" y="4297680"/>
            <a:ext cx="3840480" cy="228600"/>
          </a:xfrm>
          <a:prstGeom prst="rect">
            <a:avLst/>
          </a:prstGeom>
          <a:noFill/>
          <a:ln/>
        </p:spPr>
        <p:txBody>
          <a:bodyPr wrap="square" lIns="0" tIns="0" rIns="0" bIns="0" rtlCol="0" anchor="ctr"/>
          <a:lstStyle/>
          <a:p>
            <a:pPr marL="0" indent="0">
              <a:buNone/>
              <a:defRPr/>
            </a:pPr>
            <a:r>
              <a:rPr lang="en-US" sz="900" b="1" i="0" u="none" strike="noStrike" cap="none" spc="0">
                <a:solidFill>
                  <a:srgbClr val="E5187F"/>
                </a:solidFill>
                <a:latin typeface="Calibri"/>
                <a:ea typeface="Calibri"/>
                <a:cs typeface="Calibri"/>
              </a:rPr>
              <a:t>Jeudi </a:t>
            </a:r>
            <a:r>
              <a:rPr lang="fr-FR" sz="900" b="1" i="0" u="none" strike="noStrike" cap="none" spc="0">
                <a:solidFill>
                  <a:srgbClr val="E5187F"/>
                </a:solidFill>
                <a:latin typeface="Calibri"/>
                <a:ea typeface="Calibri"/>
                <a:cs typeface="Calibri"/>
              </a:rPr>
              <a:t>2 juillet </a:t>
            </a:r>
            <a:r>
              <a:rPr lang="en-US" sz="900" b="1">
                <a:solidFill>
                  <a:srgbClr val="E5187F"/>
                </a:solidFill>
                <a:latin typeface="Calibri"/>
                <a:ea typeface="Calibri"/>
                <a:cs typeface="Calibri"/>
              </a:rPr>
              <a:t>— après les soutenances</a:t>
            </a:r>
            <a:endParaRPr lang="en-US" sz="900"/>
          </a:p>
        </p:txBody>
      </p:sp>
      <p:sp>
        <p:nvSpPr>
          <p:cNvPr id="677871648" name="Text 21"/>
          <p:cNvSpPr/>
          <p:nvPr/>
        </p:nvSpPr>
        <p:spPr bwMode="auto">
          <a:xfrm>
            <a:off x="1143000" y="4498848"/>
            <a:ext cx="3566160" cy="256032"/>
          </a:xfrm>
          <a:prstGeom prst="rect">
            <a:avLst/>
          </a:prstGeom>
          <a:noFill/>
          <a:ln/>
        </p:spPr>
        <p:txBody>
          <a:bodyPr wrap="square" lIns="0" tIns="0" rIns="0" bIns="0" rtlCol="0" anchor="ctr"/>
          <a:lstStyle/>
          <a:p>
            <a:pPr marL="0" indent="0">
              <a:buNone/>
              <a:defRPr/>
            </a:pPr>
            <a:r>
              <a:rPr lang="en-US" sz="1300" b="1">
                <a:solidFill>
                  <a:srgbClr val="FFFFFF"/>
                </a:solidFill>
                <a:latin typeface="Cambria"/>
                <a:ea typeface="Cambria"/>
                <a:cs typeface="Cambria"/>
              </a:rPr>
              <a:t>Délibération &amp; remise des prix</a:t>
            </a:r>
            <a:endParaRPr lang="en-US" sz="1300"/>
          </a:p>
        </p:txBody>
      </p:sp>
      <p:sp>
        <p:nvSpPr>
          <p:cNvPr id="1700372118" name="Text 22"/>
          <p:cNvSpPr/>
          <p:nvPr/>
        </p:nvSpPr>
        <p:spPr bwMode="auto">
          <a:xfrm>
            <a:off x="4983480" y="4288536"/>
            <a:ext cx="3547872" cy="603504"/>
          </a:xfrm>
          <a:prstGeom prst="rect">
            <a:avLst/>
          </a:prstGeom>
          <a:noFill/>
          <a:ln/>
        </p:spPr>
        <p:txBody>
          <a:bodyPr wrap="square" rtlCol="0" anchor="ctr"/>
          <a:lstStyle/>
          <a:p>
            <a:pPr marL="0" indent="0">
              <a:buNone/>
              <a:defRPr/>
            </a:pPr>
            <a:r>
              <a:rPr lang="en-US" sz="950">
                <a:solidFill>
                  <a:srgbClr val="A7A2B6"/>
                </a:solidFill>
                <a:latin typeface="Calibri"/>
                <a:ea typeface="Calibri"/>
                <a:cs typeface="Calibri"/>
              </a:rPr>
              <a:t>Le jury délibère et annonce les équipes gagnantes par catégorie · Retours et feedbacks des encadrants</a:t>
            </a:r>
            <a:endParaRPr lang="en-US" sz="950"/>
          </a:p>
        </p:txBody>
      </p:sp>
      <p:pic>
        <p:nvPicPr>
          <p:cNvPr id="793299260" name="Image 11" descr="preencoded.png"/>
          <p:cNvPicPr>
            <a:picLocks noChangeAspect="1"/>
          </p:cNvPicPr>
          <p:nvPr/>
        </p:nvPicPr>
        <p:blipFill rotWithShape="1">
          <a:blip r:embed="rId5"/>
          <a:stretch/>
        </p:blipFill>
        <p:spPr bwMode="auto">
          <a:xfrm>
            <a:off x="8394192" y="4352544"/>
            <a:ext cx="475488" cy="475488"/>
          </a:xfrm>
          <a:prstGeom prst="rect">
            <a:avLst/>
          </a:prstGeom>
        </p:spPr>
      </p:pic>
      <p:pic>
        <p:nvPicPr>
          <p:cNvPr id="1322855815" name="Image 12" descr="preencoded.png"/>
          <p:cNvPicPr>
            <a:picLocks noChangeAspect="1"/>
          </p:cNvPicPr>
          <p:nvPr/>
        </p:nvPicPr>
        <p:blipFill rotWithShape="1">
          <a:blip r:embed="rId9"/>
          <a:stretch/>
        </p:blipFill>
        <p:spPr bwMode="auto">
          <a:xfrm>
            <a:off x="8498799" y="4457151"/>
            <a:ext cx="266273" cy="266273"/>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name="Slide 12">
    <p:spTree>
      <p:nvGrpSpPr>
        <p:cNvPr id="1" name=""/>
        <p:cNvGrpSpPr/>
        <p:nvPr/>
      </p:nvGrpSpPr>
      <p:grpSpPr bwMode="auto">
        <a:xfrm>
          <a:off x="0" y="0"/>
          <a:ext cx="0" cy="0"/>
          <a:chOff x="0" y="0"/>
          <a:chExt cx="0" cy="0"/>
        </a:xfrm>
      </p:grpSpPr>
      <p:pic>
        <p:nvPicPr>
          <p:cNvPr id="547325704" name="Image 0" descr="preencoded.png"/>
          <p:cNvPicPr>
            <a:picLocks noChangeAspect="1"/>
          </p:cNvPicPr>
          <p:nvPr/>
        </p:nvPicPr>
        <p:blipFill rotWithShape="1">
          <a:blip r:embed="rId3"/>
          <a:stretch/>
        </p:blipFill>
        <p:spPr bwMode="auto">
          <a:xfrm>
            <a:off x="0" y="0"/>
            <a:ext cx="9144000" cy="5143500"/>
          </a:xfrm>
          <a:prstGeom prst="rect">
            <a:avLst/>
          </a:prstGeom>
        </p:spPr>
      </p:pic>
      <p:pic>
        <p:nvPicPr>
          <p:cNvPr id="1641488352" name="Image 1" descr="preencoded.png"/>
          <p:cNvPicPr>
            <a:picLocks noChangeAspect="1"/>
          </p:cNvPicPr>
          <p:nvPr/>
        </p:nvPicPr>
        <p:blipFill rotWithShape="1">
          <a:blip r:embed="rId4"/>
          <a:stretch/>
        </p:blipFill>
        <p:spPr bwMode="auto">
          <a:xfrm>
            <a:off x="4242816" y="1005840"/>
            <a:ext cx="658368" cy="658368"/>
          </a:xfrm>
          <a:prstGeom prst="rect">
            <a:avLst/>
          </a:prstGeom>
        </p:spPr>
      </p:pic>
      <p:pic>
        <p:nvPicPr>
          <p:cNvPr id="2058481745" name="Image 2" descr="preencoded.png"/>
          <p:cNvPicPr>
            <a:picLocks noChangeAspect="1"/>
          </p:cNvPicPr>
          <p:nvPr/>
        </p:nvPicPr>
        <p:blipFill rotWithShape="1">
          <a:blip r:embed="rId5"/>
          <a:stretch/>
        </p:blipFill>
        <p:spPr bwMode="auto">
          <a:xfrm>
            <a:off x="4387657" y="1150681"/>
            <a:ext cx="368686" cy="368686"/>
          </a:xfrm>
          <a:prstGeom prst="rect">
            <a:avLst/>
          </a:prstGeom>
        </p:spPr>
      </p:pic>
      <p:sp>
        <p:nvSpPr>
          <p:cNvPr id="1844478769" name="Text 0"/>
          <p:cNvSpPr/>
          <p:nvPr/>
        </p:nvSpPr>
        <p:spPr bwMode="auto">
          <a:xfrm>
            <a:off x="822960" y="1828800"/>
            <a:ext cx="7498080" cy="594360"/>
          </a:xfrm>
          <a:prstGeom prst="rect">
            <a:avLst/>
          </a:prstGeom>
          <a:noFill/>
          <a:ln/>
        </p:spPr>
        <p:txBody>
          <a:bodyPr wrap="square" lIns="0" tIns="0" rIns="0" bIns="0" rtlCol="0" anchor="ctr"/>
          <a:lstStyle/>
          <a:p>
            <a:pPr marL="0" indent="0" algn="ctr">
              <a:buNone/>
              <a:defRPr/>
            </a:pPr>
            <a:r>
              <a:rPr lang="en-US" sz="4000" b="1">
                <a:solidFill>
                  <a:srgbClr val="FFFFFF"/>
                </a:solidFill>
                <a:latin typeface="Cambria"/>
                <a:ea typeface="Cambria"/>
                <a:cs typeface="Cambria"/>
              </a:rPr>
              <a:t>Une question ?</a:t>
            </a:r>
            <a:endParaRPr lang="en-US" sz="4000"/>
          </a:p>
        </p:txBody>
      </p:sp>
      <p:sp>
        <p:nvSpPr>
          <p:cNvPr id="983122272" name="Text 1"/>
          <p:cNvSpPr/>
          <p:nvPr/>
        </p:nvSpPr>
        <p:spPr bwMode="auto">
          <a:xfrm>
            <a:off x="1097280" y="2542032"/>
            <a:ext cx="6949440" cy="777240"/>
          </a:xfrm>
          <a:prstGeom prst="rect">
            <a:avLst/>
          </a:prstGeom>
          <a:noFill/>
          <a:ln/>
        </p:spPr>
        <p:txBody>
          <a:bodyPr wrap="square" lIns="0" tIns="0" rIns="0" bIns="0" rtlCol="0" anchor="ctr"/>
          <a:lstStyle/>
          <a:p>
            <a:pPr marL="0" indent="0" algn="ctr">
              <a:lnSpc>
                <a:spcPct val="130000"/>
              </a:lnSpc>
              <a:buNone/>
              <a:defRPr/>
            </a:pPr>
            <a:r>
              <a:rPr lang="en-US" sz="1700" i="1">
                <a:solidFill>
                  <a:srgbClr val="A7A2B6"/>
                </a:solidFill>
                <a:latin typeface="Calibri"/>
                <a:ea typeface="Calibri"/>
                <a:cs typeface="Calibri"/>
              </a:rPr>
              <a:t>Vos référents 42c et ESTIAM sont là pour vous accompagner</a:t>
            </a:r>
            <a:endParaRPr lang="en-US" sz="1700"/>
          </a:p>
          <a:p>
            <a:pPr marL="0" indent="0" algn="ctr">
              <a:lnSpc>
                <a:spcPct val="130000"/>
              </a:lnSpc>
              <a:buNone/>
              <a:defRPr/>
            </a:pPr>
            <a:r>
              <a:rPr lang="en-US" sz="1700" i="1">
                <a:solidFill>
                  <a:srgbClr val="A7A2B6"/>
                </a:solidFill>
                <a:latin typeface="Calibri"/>
                <a:ea typeface="Calibri"/>
                <a:cs typeface="Calibri"/>
              </a:rPr>
              <a:t>tout au long du hackathon.</a:t>
            </a:r>
            <a:endParaRPr lang="en-US" sz="170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name="Slide 13">
    <p:spTree>
      <p:nvGrpSpPr>
        <p:cNvPr id="1" name=""/>
        <p:cNvGrpSpPr/>
        <p:nvPr/>
      </p:nvGrpSpPr>
      <p:grpSpPr bwMode="auto">
        <a:xfrm>
          <a:off x="0" y="0"/>
          <a:ext cx="0" cy="0"/>
          <a:chOff x="0" y="0"/>
          <a:chExt cx="0" cy="0"/>
        </a:xfrm>
      </p:grpSpPr>
      <p:pic>
        <p:nvPicPr>
          <p:cNvPr id="61757228" name="Image 0" descr="preencoded.png"/>
          <p:cNvPicPr>
            <a:picLocks noChangeAspect="1"/>
          </p:cNvPicPr>
          <p:nvPr/>
        </p:nvPicPr>
        <p:blipFill rotWithShape="1">
          <a:blip r:embed="rId3"/>
          <a:stretch/>
        </p:blipFill>
        <p:spPr bwMode="auto">
          <a:xfrm>
            <a:off x="0" y="0"/>
            <a:ext cx="9144000" cy="5143500"/>
          </a:xfrm>
          <a:prstGeom prst="rect">
            <a:avLst/>
          </a:prstGeom>
        </p:spPr>
      </p:pic>
      <p:pic>
        <p:nvPicPr>
          <p:cNvPr id="27986348" name="Image 1" descr="preencoded.png"/>
          <p:cNvPicPr>
            <a:picLocks noChangeAspect="1"/>
          </p:cNvPicPr>
          <p:nvPr/>
        </p:nvPicPr>
        <p:blipFill rotWithShape="1">
          <a:blip r:embed="rId4"/>
          <a:stretch/>
        </p:blipFill>
        <p:spPr bwMode="auto">
          <a:xfrm>
            <a:off x="4242816" y="1188720"/>
            <a:ext cx="658368" cy="658368"/>
          </a:xfrm>
          <a:prstGeom prst="rect">
            <a:avLst/>
          </a:prstGeom>
        </p:spPr>
      </p:pic>
      <p:pic>
        <p:nvPicPr>
          <p:cNvPr id="1820894139" name="Image 2" descr="preencoded.png"/>
          <p:cNvPicPr>
            <a:picLocks noChangeAspect="1"/>
          </p:cNvPicPr>
          <p:nvPr/>
        </p:nvPicPr>
        <p:blipFill rotWithShape="1">
          <a:blip r:embed="rId5"/>
          <a:stretch/>
        </p:blipFill>
        <p:spPr bwMode="auto">
          <a:xfrm>
            <a:off x="4387657" y="1333561"/>
            <a:ext cx="368686" cy="368686"/>
          </a:xfrm>
          <a:prstGeom prst="rect">
            <a:avLst/>
          </a:prstGeom>
        </p:spPr>
      </p:pic>
      <p:sp>
        <p:nvSpPr>
          <p:cNvPr id="124182426" name="Text 0"/>
          <p:cNvSpPr/>
          <p:nvPr/>
        </p:nvSpPr>
        <p:spPr bwMode="auto">
          <a:xfrm>
            <a:off x="822960" y="1965960"/>
            <a:ext cx="7498080" cy="2011680"/>
          </a:xfrm>
          <a:prstGeom prst="rect">
            <a:avLst/>
          </a:prstGeom>
          <a:noFill/>
          <a:ln/>
        </p:spPr>
        <p:txBody>
          <a:bodyPr wrap="square" rtlCol="0" anchor="ctr"/>
          <a:lstStyle/>
          <a:p>
            <a:pPr marL="0" indent="0" algn="ctr">
              <a:lnSpc>
                <a:spcPct val="120000"/>
              </a:lnSpc>
              <a:buNone/>
              <a:defRPr/>
            </a:pPr>
            <a:r>
              <a:rPr lang="en-US" sz="4400" b="1">
                <a:solidFill>
                  <a:srgbClr val="FFFFFF"/>
                </a:solidFill>
                <a:latin typeface="Cambria"/>
                <a:ea typeface="Cambria"/>
                <a:cs typeface="Cambria"/>
              </a:rPr>
              <a:t>Bonne chance</a:t>
            </a:r>
            <a:endParaRPr lang="en-US" sz="4400"/>
          </a:p>
          <a:p>
            <a:pPr marL="0" indent="0" algn="ctr">
              <a:lnSpc>
                <a:spcPct val="120000"/>
              </a:lnSpc>
              <a:buNone/>
              <a:defRPr/>
            </a:pPr>
            <a:r>
              <a:rPr lang="en-US" sz="4400" b="1">
                <a:solidFill>
                  <a:srgbClr val="FFFFFF"/>
                </a:solidFill>
                <a:latin typeface="Cambria"/>
                <a:ea typeface="Cambria"/>
                <a:cs typeface="Cambria"/>
              </a:rPr>
              <a:t>à toutes les équipes !</a:t>
            </a:r>
            <a:endParaRPr lang="en-US" sz="4400"/>
          </a:p>
        </p:txBody>
      </p:sp>
      <p:sp>
        <p:nvSpPr>
          <p:cNvPr id="1788352308" name="Text 1"/>
          <p:cNvSpPr/>
          <p:nvPr/>
        </p:nvSpPr>
        <p:spPr bwMode="auto">
          <a:xfrm>
            <a:off x="822960" y="3977640"/>
            <a:ext cx="7498080" cy="411480"/>
          </a:xfrm>
          <a:prstGeom prst="rect">
            <a:avLst/>
          </a:prstGeom>
          <a:noFill/>
          <a:ln/>
        </p:spPr>
        <p:txBody>
          <a:bodyPr wrap="square" lIns="0" tIns="0" rIns="0" bIns="0" rtlCol="0" anchor="ctr"/>
          <a:lstStyle/>
          <a:p>
            <a:pPr marL="0" indent="0" algn="ctr">
              <a:buNone/>
              <a:defRPr/>
            </a:pPr>
            <a:r>
              <a:rPr lang="en-US" sz="1600" i="1">
                <a:solidFill>
                  <a:srgbClr val="A7A2B6"/>
                </a:solidFill>
                <a:latin typeface="Calibri"/>
                <a:ea typeface="Calibri"/>
                <a:cs typeface="Calibri"/>
              </a:rPr>
              <a:t>Montrez ce que vous savez faire.</a:t>
            </a:r>
            <a:endParaRPr lang="en-US" sz="1600"/>
          </a:p>
        </p:txBody>
      </p:sp>
      <p:sp>
        <p:nvSpPr>
          <p:cNvPr id="1944747781" name="Text 2"/>
          <p:cNvSpPr/>
          <p:nvPr/>
        </p:nvSpPr>
        <p:spPr bwMode="auto">
          <a:xfrm>
            <a:off x="822960" y="4663440"/>
            <a:ext cx="7498080" cy="274320"/>
          </a:xfrm>
          <a:prstGeom prst="rect">
            <a:avLst/>
          </a:prstGeom>
          <a:noFill/>
          <a:ln/>
        </p:spPr>
        <p:txBody>
          <a:bodyPr wrap="square" lIns="0" tIns="0" rIns="0" bIns="0" rtlCol="0" anchor="ctr"/>
          <a:lstStyle/>
          <a:p>
            <a:pPr marL="0" indent="0" algn="ctr">
              <a:buNone/>
              <a:defRPr/>
            </a:pPr>
            <a:r>
              <a:rPr lang="en-US" sz="950">
                <a:solidFill>
                  <a:srgbClr val="A7A2B6"/>
                </a:solidFill>
                <a:latin typeface="Calibri"/>
                <a:ea typeface="Calibri"/>
                <a:cs typeface="Calibri"/>
              </a:rPr>
              <a:t>42c × ESTIAM · Hackathon V-Secure &amp; Collaborate · 2026</a:t>
            </a:r>
            <a:endParaRPr lang="en-US" sz="950"/>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F8AD1DF6062174BA01EDE046CA0DA63" ma:contentTypeVersion="7" ma:contentTypeDescription="Crée un document." ma:contentTypeScope="" ma:versionID="b94951f6dd78baad1e725c8ad8cb2e64">
  <xsd:schema xmlns:xsd="http://www.w3.org/2001/XMLSchema" xmlns:xs="http://www.w3.org/2001/XMLSchema" xmlns:p="http://schemas.microsoft.com/office/2006/metadata/properties" xmlns:ns2="10491c51-b7b7-4545-97a8-6e9d5b95dd88" targetNamespace="http://schemas.microsoft.com/office/2006/metadata/properties" ma:root="true" ma:fieldsID="8c7e684a755142b3b511c17176a7d042" ns2:_="">
    <xsd:import namespace="10491c51-b7b7-4545-97a8-6e9d5b95dd8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491c51-b7b7-4545-97a8-6e9d5b95dd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70AB208-A159-4F1D-A8F7-F11AB1E00D6A}">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E047484-5AA7-46C3-838E-6630FC822B41}">
  <ds:schemaRefs>
    <ds:schemaRef ds:uri="10491c51-b7b7-4545-97a8-6e9d5b95dd8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A5C2283-1F86-4EF0-97AB-5CE59A727B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13</Slides>
  <Notes>13</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Hackathon ESTIAM – V-Secure &amp; Collaborate</dc:title>
  <dc:subject>PptxGenJS Presentation</dc:subject>
  <dc:creator>42c</dc:creator>
  <cp:revision>1</cp:revision>
  <dcterms:created xsi:type="dcterms:W3CDTF">2026-06-29T15:23:38Z</dcterms:created>
  <dcterms:modified xsi:type="dcterms:W3CDTF">2026-06-30T08:53:37Z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0x0101008F8AD1DF6062174BA01EDE046CA0DA63</vt:lpwstr>
  </property>
</Properties>
</file>